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投资人，各位评审，大家好。今天我们带来的是“笔灵”，一款专为社媒内容创作者设计的智能生产与流量优化工具。我们深知在当前竞争激烈的社媒环境中，效率和效果是内容创作者最核心的诉求。笔灵正是为了解决这些痛点而生，它将彻底改变内容生产的模式。我们的目标是赋能每一位内容创作者，让他们能够更高效地创作，更精准地触达用户，从而实现更大的商业价值。接下来，我们将深入探讨笔灵如何实现这一愿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首先来看一下市场背景。全球社交媒体用户已达56.6亿，这催生了一个千亿级的AI内容创作市场。中国五大内容平台的月活用户也超过11亿，显示出巨大的内容消费需求。预计到2026年，AI内容创作市场规模将达到42.6亿美元，并在2035年飙升至1430亿美元。这些数据清晰地表明，内容创作市场正经历爆发式增长，而AI技术是推动这一增长的核心动力。短视频已成为用户获取信息的主要入口，但内容创作者面临着多平台、多格式、高频次创作的效率瓶颈。这正是笔灵切入市场的关键机会点。我们将如何解决这些痛点呢？让我们继续看目标用户画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接上文，面对如此庞大的市场需求，笔灵精准定位了三类目标用户：个人创作者、中小企业/品牌方以及MCN机构。这三类用户虽然规模和付费能力不同，但都面临着多平台内容生产效率低下的共同痛点。个人创作者需要低成本高效率的工具来应对日常创作，中小企业则更关注团队协作和数据分析，而MCN机构则需要批量管理和API接入能力。笔灵将提供差异化的解决方案，满足不同用户的需求。我们深知，理解用户痛点是产品成功的基石，而笔灵正是基于这些深刻洞察来构建其产品价值的。那么，笔灵将如何适应不同的平台生态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于对用户痛点的理解，我们深入研究了八大高流量平台的生态。我们发现，不同平台在内容形式、算法规则和API开放程度上存在显著差异。例如，抖音和TikTok侧重短视频分发，而小红书则以图文笔记和真实感内容为主。值得注意的是，目前只有微博、YouTube和Instagram提供了完整的开放API，而抖音和TikTok仅限企业账号，小红书甚至没有开放接口。这意味着，笔灵需要采取灵活的策略来适应这些差异。我们目前采用辅助发布和剪贴板快捷模式，以规避合规风险，并确保内容能够高效分发。接下来，我们将分析笔灵在竞争格局中的独特优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在分析了平台生态后，我们再来看一下竞争格局。目前市场上的竞品主要分布在AI文案、社媒管理、AI视频生成和中国本土全链路工具这四大赛道。我们看到，大多数工具都专注于单一功能，例如Jasper AI擅长长文案生成，Hootsuite专注于多平台调度，而Opus Clip则专注于视频切片。这导致了一个显著的市场空白：缺乏一个能够整合热点洞察、AI文案、AI视频生成和多平台分发的全链路中文工具。笔灵正是填补了这一空白，我们是唯一将这些核心功能整合为闭环的解决方案，并直接覆盖中国五大主流社媒平台。这正是笔灵的核心竞争力所在，也是我们实现市场突破的关键。接下来，我们将深入对标核心竞品，进一步阐述笔灵的独特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从竞品全景图深入到核心竞品对标，发现笔灵的核心优势在于其全链路能力。目前市场上没有单一工具能同时覆盖文案生成、视频生成、多平台分发到数据反馈的完整链路，这正是笔灵的独特价值。而且，我们针对中文市场进行了深度优化，解决了Jasper和Hootsuite等国际产品在抖音、小红书等国内平台适配性差的问题，这构筑了我们天然的护城河。更重要的是，笔灵在功能覆盖度远超竞品的同时，起步定价仅为Hootsuite的十分之一，这大大降低了中小创作者的决策门槛。接下来，我们看看笔灵如何通过商业模式来捕捉这些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了解了笔灵的核心竞争力后，我们来看看如何将这些优势转化为商业价值。我们分析了六种变现路径，并为笔灵规划了清晰的三阶段变现策略。首先，我们以SaaS订阅制作为现金流基础，因为它能提供稳定的收入和高LTV，这是我们推荐的主路径。其次，通过增值服务提升ARPU，满足高端用户的个性化需求，这是我们在第二阶段的重点。最后，在第三阶段，我们将开放API，构建开发者生态，并探索MCN分成模式，形成更广阔的生态护城河。这种策略参考了Jasper和Hootsuite的成功经验，避免了过早依赖广告或分成模式，确保了业务的健康发展。而支撑这一切的，是我们强大的技术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商业模式建立在坚实的技术架构之上，这是一个AI内容全链路的四层技术架构。在数据层，我们整合了多源热点数据和用户行为数据，并通过向量知识库进行RAG增强，为AI引擎提供高质量的输入。AI引擎层是我们的核心，它集成了自研的LLM文案引擎、火山引擎的AI视频引擎以及自研的AI配图引擎，并通过Agent编排引擎实现全自动内容生成。业务逻辑层则负责内容策略、发布调度和数据分析，确保内容的精准分发和效果优化。最后，用户界面层提供了直观的数据看板和工作台，让用户能够高效地创作和管理内容。值得一提的是，我们的AI能力全部通过内置API调用，用户无需配置密钥，并且视频引擎已切换至火山引擎国内版，确保了服务的稳定性和合规性。接下来，我们将深入探讨AI视频生成的技术选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技术架构中，AI视频生成是我们的关键能力之一，我们为此进行了全面的技术选型。我们优先选用火山引擎的doubao-seedance系列模型，因为它在中文内容场景下具有更准确的语义理解能力，并且与国内网络环境的延迟更低。我们集成了多个模型，包括Pro、Pro Fast和Lite版本，以支持不同的应用场景。例如，质量优先模式适用于品牌宣传片，速度优先模式则能帮助用户快速追逐热点，而图生视频模式则能提升内容与创作者风格的一致性。我们还规划了后续接入快手Kling等备选模型，通过多模型路由策略，在成本、速度和质量之间实现动态调度。这种灵活的技术选型，为我们后续的落地模式提供了强大的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了强大的技术和清晰的商业模式，我们来看如何将笔灵推向市场。我们规划了三阶段的Go-To-Market策略：MVP验证期、增长期和规模化期。在MVP验证期，我们将通过内容创作者社群定向邀测，快速获取种子用户并验证核心功能。我们还会向高活跃用户灰度开放AI视频功能，收集真实使用场景数据，并建立数据反馈闭环。进入增长期，我们将落地分层定价，并通过内容营销和KOL合作计划扩大用户规模，同时切入MCN机构市场。最终，在规模化期，我们将实现Agent全自动化，开放API构建生态，并拓展海外市场，甚至通过数据资产变现。我们的种子用户获取策略是多管齐下，通过社群邀测、产品即内容和MCN机构合作，目标是在首月实现100名付费用户，并严格控制获客成本。这些策略将确保笔灵能够稳健地成长并实现其市场潜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产品功能规划，清晰展示了笔灵如何从数据根基出发，逐步构建起一个全面的内容创作生态。我们已经全面上线了核心功能，包括热点数据看板、AI文案生成、多平台分发、内容日历、数据反馈闭环、AI配图生成以及Agent工作流，这些都为用户提供了强大的创作工具。特别值得一提的是，AI视频生成功能，包括文生视频和图生视频，以及Agent全链路工作流，目前都已可用，极大地提升了内容生产效率。展望未来，我们将在第二阶段重点攻克热点数据的合规获取、RAG知识库建设，并集成AI数字人技术，以应对真人IP出镜的结构性短板，这也是我们接下来要深入探讨的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接上页的规划，我们深知AI视频在某些场景下无法完全替代真人IP出镜，因此我们制定了五大应对策略，旨在规避结构性短板，通过差异化内容定位和技术补强，构建完整的解决方案。首先，我们通过差异化内容定位，专注于AI视频擅长的内容类型，避免与真人出镜正面竞争。其次，我们将在第二阶段优先支持真人素材与AI剪辑混合模式，降低真人出镜的门槛。同时，我们也将集成AI数字人技术，让用户能够轻松生成专属AI形象。此外，我们还会引导用户设计AI虚拟IP形象，并明确产品定位边界，确保用户对笔灵的适用场景有清晰的认知。我们的核心判断是，真人IP与AI内容是互补关系，笔灵的价值在于让这两种模式都更高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是基于这样的产品规划和策略，笔灵构建了五大差异化护城河，确保我们在市场中的领先地位。首先，我们提供全链路闭环服务，从热点发现到内容分发，用户无需切换平台。其次，双轨API覆盖国内外的基础设施，规避了单一供应商风险，保障了服务的稳定性。第三，AI视频原生内置，用户无需配置即可享受文生视频和图生视频的强大功能。更重要的是，我们通过数据飞轮效应，每次发布后的数据都会回流，持续优化病毒性预测模型，形成正向循环。最后，全自主Agent实现了全链路自动化，将原本数小时的工作压缩到几分钟内完成。这五大护城河相互强化，共同构筑了笔灵坚不可摧的竞争壁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已经讨论了竞争优势，但任何创新产品都面临挑战。笔灵在实现阶段面临六大关键难点，从数据合规到商业落地，每个环节都有系统性风险。数据合规是首要问题，例如抖音和小红书的反爬机制，以及《反不正当竞争法》修订带来的数据权益趋严。其次，API 接入壁垒也很高，不同平台模型 ID 不通用，视频生成模型开通流程繁琐，高并发场景下成本难以控制。这些风险需要我们审慎应对，才能确保产品的顺利推进。接下来，我们将探讨如何通过具体的行动计划来克服这些挑战。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对这些风险，我们制定了清晰的下一步行动计划，确保笔灵能在90天内跑通核心闭环。首先是平台优先级，我们将聚焦小红书和抖音，验证PMF后逐步扩展到其他平台。其次是定价策略，我们采用免费加订阅模式，提供免费额度，并推出Pro和团队版。在视频模型选型上，我们默认使用Seedance Pro，并按需开通高清版本。内容分发模式将从辅助转向自动化，探索微信公众号官方API直发。最后，种子用户获取将通过内容创作者社群、Product Hunt和KOC合作进行。这些行动将帮助我们实现MVP验证，并获取首批付费用户。所有这些都指向我们最终的核心定位。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核心定位非常明确：笔灵是一个AI原生的跨平台社媒内容操作系统。我们不仅仅是一个AI写作工具，而是将热点发现、内容生成、视频制作、多平台分发和数据回流整合为一体的生产力基础设施。笔灵提供AI原生生产力，通过LLM驱动和Seedance视频引擎，将内容生产时间从数小时缩短到10分钟。我们还支持跨平台分发矩阵，一次创作即可自动适配多个平台。更重要的是，笔灵通过数据驱动形成闭环，发布后的互动数据自动回流，持续优化预测模型，构建数据飞轮壁垒。我们的终极目标是实现全自主Agent，让用户只需审核和确认，真正实现“一人运营百号”。我们正处于6到12个月的先发窗口期，这是建立用户心智的关键时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143125" y="1173361"/>
            <a:ext cx="4857750" cy="2796778"/>
          </a:xfrm>
          <a:prstGeom prst="rect">
            <a:avLst/>
          </a:prstGeom>
          <a:solidFill>
            <a:srgbClr val="161B22">
              <a:alpha val="95000"/>
            </a:srgbClr>
          </a:solidFill>
          <a:ln w="9144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2600325" y="1609130"/>
            <a:ext cx="394335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RESEARCH &amp; BRAINSTORM</a:t>
            </a:r>
            <a:endParaRPr lang="en-US" sz="534" dirty="0"/>
          </a:p>
        </p:txBody>
      </p:sp>
      <p:sp>
        <p:nvSpPr>
          <p:cNvPr id="6" name="Text 2"/>
          <p:cNvSpPr/>
          <p:nvPr/>
        </p:nvSpPr>
        <p:spPr>
          <a:xfrm>
            <a:off x="2600325" y="1934170"/>
            <a:ext cx="394335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笔灵</a:t>
            </a:r>
            <a:endParaRPr lang="en-US" sz="4145" dirty="0"/>
          </a:p>
        </p:txBody>
      </p:sp>
      <p:sp>
        <p:nvSpPr>
          <p:cNvPr id="7" name="Text 3"/>
          <p:cNvSpPr/>
          <p:nvPr/>
        </p:nvSpPr>
        <p:spPr>
          <a:xfrm>
            <a:off x="2600325" y="2677120"/>
            <a:ext cx="39433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spc="1" kern="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智能社媒内容生产与流量优化工具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2600325" y="3398639"/>
            <a:ext cx="39433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FFFFF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年 3 月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028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28600"/>
            <a:ext cx="9144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BACKGROUND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0" y="353616"/>
            <a:ext cx="91440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56.6 亿社媒用户催生千亿级 AI 内容创作市场</a:t>
            </a:r>
            <a:endParaRPr lang="en-US" sz="1499" dirty="0"/>
          </a:p>
        </p:txBody>
      </p:sp>
      <p:sp>
        <p:nvSpPr>
          <p:cNvPr id="6" name="Shape 2"/>
          <p:cNvSpPr/>
          <p:nvPr/>
        </p:nvSpPr>
        <p:spPr>
          <a:xfrm>
            <a:off x="285750" y="773311"/>
            <a:ext cx="2428875" cy="930027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28625" y="859036"/>
            <a:ext cx="21431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56.6 亿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428625" y="1116211"/>
            <a:ext cx="21431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全球社交媒体活跃用户（占全球人口 93.8%）</a:t>
            </a:r>
            <a:endParaRPr lang="en-US" sz="621" dirty="0"/>
          </a:p>
        </p:txBody>
      </p:sp>
      <p:sp>
        <p:nvSpPr>
          <p:cNvPr id="9" name="Shape 5"/>
          <p:cNvSpPr/>
          <p:nvPr/>
        </p:nvSpPr>
        <p:spPr>
          <a:xfrm>
            <a:off x="285750" y="1749772"/>
            <a:ext cx="2428875" cy="933599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8625" y="1839069"/>
            <a:ext cx="21431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11.49 亿</a:t>
            </a:r>
            <a:endParaRPr lang="en-US" sz="1602" dirty="0"/>
          </a:p>
        </p:txBody>
      </p:sp>
      <p:sp>
        <p:nvSpPr>
          <p:cNvPr id="11" name="Text 7"/>
          <p:cNvSpPr/>
          <p:nvPr/>
        </p:nvSpPr>
        <p:spPr>
          <a:xfrm>
            <a:off x="428625" y="2096244"/>
            <a:ext cx="21431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中国五大内容平台去重月活用户（QuestMobile 2025.10）</a:t>
            </a:r>
            <a:endParaRPr lang="en-US" sz="621" dirty="0"/>
          </a:p>
        </p:txBody>
      </p:sp>
      <p:sp>
        <p:nvSpPr>
          <p:cNvPr id="12" name="Shape 8"/>
          <p:cNvSpPr/>
          <p:nvPr/>
        </p:nvSpPr>
        <p:spPr>
          <a:xfrm>
            <a:off x="285750" y="2733377"/>
            <a:ext cx="2428875" cy="937171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28625" y="2826246"/>
            <a:ext cx="21431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$42.6 亿</a:t>
            </a:r>
            <a:endParaRPr lang="en-US" sz="1602" dirty="0"/>
          </a:p>
        </p:txBody>
      </p:sp>
      <p:sp>
        <p:nvSpPr>
          <p:cNvPr id="14" name="Text 10"/>
          <p:cNvSpPr/>
          <p:nvPr/>
        </p:nvSpPr>
        <p:spPr>
          <a:xfrm>
            <a:off x="428625" y="3083421"/>
            <a:ext cx="21431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年 AI 内容创作市场规模（同比增长 21.4%）</a:t>
            </a:r>
            <a:endParaRPr lang="en-US" sz="621" dirty="0"/>
          </a:p>
        </p:txBody>
      </p:sp>
      <p:sp>
        <p:nvSpPr>
          <p:cNvPr id="15" name="Shape 11"/>
          <p:cNvSpPr/>
          <p:nvPr/>
        </p:nvSpPr>
        <p:spPr>
          <a:xfrm>
            <a:off x="285750" y="3724126"/>
            <a:ext cx="2428875" cy="94074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8625" y="3820567"/>
            <a:ext cx="21431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$1,430 亿</a:t>
            </a:r>
            <a:endParaRPr lang="en-US" sz="1602" dirty="0"/>
          </a:p>
        </p:txBody>
      </p:sp>
      <p:sp>
        <p:nvSpPr>
          <p:cNvPr id="17" name="Text 13"/>
          <p:cNvSpPr/>
          <p:nvPr/>
        </p:nvSpPr>
        <p:spPr>
          <a:xfrm>
            <a:off x="428625" y="4077742"/>
            <a:ext cx="21431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2035 年生成式 AI 内容创作市场预测（Precedence Research）</a:t>
            </a:r>
            <a:endParaRPr lang="en-US" sz="621" dirty="0"/>
          </a:p>
        </p:txBody>
      </p:sp>
      <p:sp>
        <p:nvSpPr>
          <p:cNvPr id="18" name="Shape 14"/>
          <p:cNvSpPr/>
          <p:nvPr/>
        </p:nvSpPr>
        <p:spPr>
          <a:xfrm>
            <a:off x="2857500" y="773311"/>
            <a:ext cx="6000750" cy="3891558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000375" y="887611"/>
            <a:ext cx="57150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 AI 内容创作市场规模增长趋势（单位：亿美元）</a:t>
            </a:r>
            <a:endParaRPr lang="en-US" sz="621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5" y="1073348"/>
            <a:ext cx="5700713" cy="346293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85750" y="4715238"/>
            <a:ext cx="8572500" cy="42826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285750" y="4715238"/>
            <a:ext cx="8572500" cy="7144"/>
          </a:xfrm>
          <a:prstGeom prst="rect">
            <a:avLst/>
          </a:prstGeom>
          <a:solidFill>
            <a:srgbClr val="B3F2FF"/>
          </a:solidFill>
          <a:ln/>
        </p:spPr>
      </p:sp>
      <p:sp>
        <p:nvSpPr>
          <p:cNvPr id="23" name="Text 18"/>
          <p:cNvSpPr/>
          <p:nvPr/>
        </p:nvSpPr>
        <p:spPr>
          <a:xfrm>
            <a:off x="285750" y="4793819"/>
            <a:ext cx="857250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核心洞察：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短视频已成为用户注意力第一入口——抖音 DAU 突破 8 亿，TikTok 全球 MAU 达 19 亿，YouTube MAU 达 27 亿。内容创作者面临"多平台 × 多格式 × 高频次"的效率瓶颈。</a:t>
            </a:r>
            <a:endParaRPr lang="en-US" sz="584" dirty="0"/>
          </a:p>
        </p:txBody>
      </p:sp>
      <p:sp>
        <p:nvSpPr>
          <p:cNvPr id="24" name="Text 19"/>
          <p:cNvSpPr/>
          <p:nvPr/>
        </p:nvSpPr>
        <p:spPr>
          <a:xfrm>
            <a:off x="285750" y="4959548"/>
            <a:ext cx="857250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数据来源：Statista, TBRC, Precedence Research, QuestMobile, WordStream 2025–2026</a:t>
            </a:r>
            <a:endParaRPr lang="en-US" sz="51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28600"/>
            <a:ext cx="9144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USERS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0" y="382191"/>
            <a:ext cx="91440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三层市场：个人创作者到 MCN 机构的差异化需求</a:t>
            </a:r>
            <a:endParaRPr lang="en-US" sz="1499" dirty="0"/>
          </a:p>
        </p:txBody>
      </p:sp>
      <p:sp>
        <p:nvSpPr>
          <p:cNvPr id="6" name="Shape 2"/>
          <p:cNvSpPr/>
          <p:nvPr/>
        </p:nvSpPr>
        <p:spPr>
          <a:xfrm>
            <a:off x="285750" y="816173"/>
            <a:ext cx="2762259" cy="3911566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42913" y="1000125"/>
            <a:ext cx="257175" cy="257175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42913" y="100012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785813" y="987623"/>
            <a:ext cx="82675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MARKET</a:t>
            </a:r>
            <a:endParaRPr lang="en-US" sz="568" dirty="0"/>
          </a:p>
        </p:txBody>
      </p:sp>
      <p:sp>
        <p:nvSpPr>
          <p:cNvPr id="10" name="Text 6"/>
          <p:cNvSpPr/>
          <p:nvPr/>
        </p:nvSpPr>
        <p:spPr>
          <a:xfrm>
            <a:off x="785813" y="1098352"/>
            <a:ext cx="826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个人创作者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442913" y="1369814"/>
            <a:ext cx="243839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规模：中国约 1.5 亿内容创作者，其中 KOC 约 8000 万</a:t>
            </a:r>
            <a:endParaRPr lang="en-US" sz="621" dirty="0"/>
          </a:p>
        </p:txBody>
      </p:sp>
      <p:sp>
        <p:nvSpPr>
          <p:cNvPr id="12" name="Text 8"/>
          <p:cNvSpPr/>
          <p:nvPr/>
        </p:nvSpPr>
        <p:spPr>
          <a:xfrm>
            <a:off x="442913" y="1584127"/>
            <a:ext cx="243839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核心痛点</a:t>
            </a:r>
            <a:endParaRPr lang="en-US" sz="516" dirty="0"/>
          </a:p>
        </p:txBody>
      </p:sp>
      <p:sp>
        <p:nvSpPr>
          <p:cNvPr id="13" name="Text 9"/>
          <p:cNvSpPr/>
          <p:nvPr/>
        </p:nvSpPr>
        <p:spPr>
          <a:xfrm>
            <a:off x="442913" y="1725216"/>
            <a:ext cx="24383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每天需为 3–5 个平台分别生产差异化内容</a:t>
            </a:r>
            <a:endParaRPr lang="en-US" sz="674" dirty="0"/>
          </a:p>
        </p:txBody>
      </p:sp>
      <p:sp>
        <p:nvSpPr>
          <p:cNvPr id="14" name="Text 10"/>
          <p:cNvSpPr/>
          <p:nvPr/>
        </p:nvSpPr>
        <p:spPr>
          <a:xfrm>
            <a:off x="442913" y="1907381"/>
            <a:ext cx="24383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热点追踪耗时，错过最佳发布窗口</a:t>
            </a:r>
            <a:endParaRPr lang="en-US" sz="674" dirty="0"/>
          </a:p>
        </p:txBody>
      </p:sp>
      <p:sp>
        <p:nvSpPr>
          <p:cNvPr id="15" name="Text 11"/>
          <p:cNvSpPr/>
          <p:nvPr/>
        </p:nvSpPr>
        <p:spPr>
          <a:xfrm>
            <a:off x="442913" y="2089547"/>
            <a:ext cx="24383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视频剪辑门槛高，AI 生成视频无法替代真人出镜</a:t>
            </a:r>
            <a:endParaRPr lang="en-US" sz="674" dirty="0"/>
          </a:p>
        </p:txBody>
      </p:sp>
      <p:sp>
        <p:nvSpPr>
          <p:cNvPr id="16" name="Text 12"/>
          <p:cNvSpPr/>
          <p:nvPr/>
        </p:nvSpPr>
        <p:spPr>
          <a:xfrm>
            <a:off x="442913" y="2271713"/>
            <a:ext cx="24383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缺乏数据反馈，不知道哪类内容更受欢迎</a:t>
            </a:r>
            <a:endParaRPr lang="en-US" sz="674" dirty="0"/>
          </a:p>
        </p:txBody>
      </p:sp>
      <p:sp>
        <p:nvSpPr>
          <p:cNvPr id="17" name="Shape 13"/>
          <p:cNvSpPr/>
          <p:nvPr/>
        </p:nvSpPr>
        <p:spPr>
          <a:xfrm>
            <a:off x="442913" y="3940141"/>
            <a:ext cx="2438391" cy="616148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2925" y="4025866"/>
            <a:ext cx="223836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付费意愿</a:t>
            </a:r>
            <a:endParaRPr lang="en-US" sz="516" dirty="0"/>
          </a:p>
        </p:txBody>
      </p:sp>
      <p:sp>
        <p:nvSpPr>
          <p:cNvPr id="19" name="Text 15"/>
          <p:cNvSpPr/>
          <p:nvPr/>
        </p:nvSpPr>
        <p:spPr>
          <a:xfrm>
            <a:off x="542925" y="4152667"/>
            <a:ext cx="2238366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¥99–299 / 月</a:t>
            </a:r>
            <a:endParaRPr lang="en-US" sz="1090" dirty="0"/>
          </a:p>
        </p:txBody>
      </p:sp>
      <p:sp>
        <p:nvSpPr>
          <p:cNvPr id="20" name="Text 16"/>
          <p:cNvSpPr/>
          <p:nvPr/>
        </p:nvSpPr>
        <p:spPr>
          <a:xfrm>
            <a:off x="542925" y="4379482"/>
            <a:ext cx="223836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效率工具付费意愿强，对 ROI 敏感</a:t>
            </a:r>
            <a:endParaRPr lang="en-US" sz="568" dirty="0"/>
          </a:p>
        </p:txBody>
      </p:sp>
      <p:sp>
        <p:nvSpPr>
          <p:cNvPr id="21" name="Shape 17"/>
          <p:cNvSpPr/>
          <p:nvPr/>
        </p:nvSpPr>
        <p:spPr>
          <a:xfrm>
            <a:off x="3181341" y="816173"/>
            <a:ext cx="2767003" cy="3911566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43275" y="1000125"/>
            <a:ext cx="257175" cy="257175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43275" y="100012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🏢</a:t>
            </a:r>
            <a:endParaRPr lang="en-US" sz="834" dirty="0"/>
          </a:p>
        </p:txBody>
      </p:sp>
      <p:sp>
        <p:nvSpPr>
          <p:cNvPr id="24" name="Text 20"/>
          <p:cNvSpPr/>
          <p:nvPr/>
        </p:nvSpPr>
        <p:spPr>
          <a:xfrm>
            <a:off x="3686175" y="987623"/>
            <a:ext cx="101441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MARKET</a:t>
            </a:r>
            <a:endParaRPr lang="en-US" sz="568" dirty="0"/>
          </a:p>
        </p:txBody>
      </p:sp>
      <p:sp>
        <p:nvSpPr>
          <p:cNvPr id="25" name="Text 21"/>
          <p:cNvSpPr/>
          <p:nvPr/>
        </p:nvSpPr>
        <p:spPr>
          <a:xfrm>
            <a:off x="3686175" y="1098352"/>
            <a:ext cx="10144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中小企业 / 品牌方</a:t>
            </a:r>
            <a:endParaRPr lang="en-US" sz="885" dirty="0"/>
          </a:p>
        </p:txBody>
      </p:sp>
      <p:sp>
        <p:nvSpPr>
          <p:cNvPr id="26" name="Text 22"/>
          <p:cNvSpPr/>
          <p:nvPr/>
        </p:nvSpPr>
        <p:spPr>
          <a:xfrm>
            <a:off x="3343275" y="1369814"/>
            <a:ext cx="24431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规模：中国中小企业超 5000 万家，有内容营销预算约 300 万家</a:t>
            </a:r>
            <a:endParaRPr lang="en-US" sz="621" dirty="0"/>
          </a:p>
        </p:txBody>
      </p:sp>
      <p:sp>
        <p:nvSpPr>
          <p:cNvPr id="27" name="Text 23"/>
          <p:cNvSpPr/>
          <p:nvPr/>
        </p:nvSpPr>
        <p:spPr>
          <a:xfrm>
            <a:off x="3343275" y="1584127"/>
            <a:ext cx="244316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核心痛点</a:t>
            </a:r>
            <a:endParaRPr lang="en-US" sz="516" dirty="0"/>
          </a:p>
        </p:txBody>
      </p:sp>
      <p:sp>
        <p:nvSpPr>
          <p:cNvPr id="28" name="Text 24"/>
          <p:cNvSpPr/>
          <p:nvPr/>
        </p:nvSpPr>
        <p:spPr>
          <a:xfrm>
            <a:off x="3343275" y="1725216"/>
            <a:ext cx="2443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内容团队人力成本高，1–3 人难以覆盖多平台</a:t>
            </a:r>
            <a:endParaRPr lang="en-US" sz="674" dirty="0"/>
          </a:p>
        </p:txBody>
      </p:sp>
      <p:sp>
        <p:nvSpPr>
          <p:cNvPr id="29" name="Text 25"/>
          <p:cNvSpPr/>
          <p:nvPr/>
        </p:nvSpPr>
        <p:spPr>
          <a:xfrm>
            <a:off x="3343275" y="1907381"/>
            <a:ext cx="2443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品牌调性一致性难以保持</a:t>
            </a:r>
            <a:endParaRPr lang="en-US" sz="674" dirty="0"/>
          </a:p>
        </p:txBody>
      </p:sp>
      <p:sp>
        <p:nvSpPr>
          <p:cNvPr id="30" name="Text 26"/>
          <p:cNvSpPr/>
          <p:nvPr/>
        </p:nvSpPr>
        <p:spPr>
          <a:xfrm>
            <a:off x="3343275" y="2089547"/>
            <a:ext cx="2443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投放 ROI 不透明，内容效果难以量化</a:t>
            </a:r>
            <a:endParaRPr lang="en-US" sz="674" dirty="0"/>
          </a:p>
        </p:txBody>
      </p:sp>
      <p:sp>
        <p:nvSpPr>
          <p:cNvPr id="31" name="Text 27"/>
          <p:cNvSpPr/>
          <p:nvPr/>
        </p:nvSpPr>
        <p:spPr>
          <a:xfrm>
            <a:off x="3343275" y="2271713"/>
            <a:ext cx="2443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竞品动态监控滞后，错失流量机会</a:t>
            </a:r>
            <a:endParaRPr lang="en-US" sz="674" dirty="0"/>
          </a:p>
        </p:txBody>
      </p:sp>
      <p:sp>
        <p:nvSpPr>
          <p:cNvPr id="32" name="Shape 28"/>
          <p:cNvSpPr/>
          <p:nvPr/>
        </p:nvSpPr>
        <p:spPr>
          <a:xfrm>
            <a:off x="3343275" y="3940141"/>
            <a:ext cx="2443163" cy="616148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443288" y="4025866"/>
            <a:ext cx="224313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付费意愿</a:t>
            </a:r>
            <a:endParaRPr lang="en-US" sz="516" dirty="0"/>
          </a:p>
        </p:txBody>
      </p:sp>
      <p:sp>
        <p:nvSpPr>
          <p:cNvPr id="34" name="Text 30"/>
          <p:cNvSpPr/>
          <p:nvPr/>
        </p:nvSpPr>
        <p:spPr>
          <a:xfrm>
            <a:off x="3443288" y="4152667"/>
            <a:ext cx="2243138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¥999–4999 / 月</a:t>
            </a:r>
            <a:endParaRPr lang="en-US" sz="1090" dirty="0"/>
          </a:p>
        </p:txBody>
      </p:sp>
      <p:sp>
        <p:nvSpPr>
          <p:cNvPr id="35" name="Text 31"/>
          <p:cNvSpPr/>
          <p:nvPr/>
        </p:nvSpPr>
        <p:spPr>
          <a:xfrm>
            <a:off x="3443288" y="4379482"/>
            <a:ext cx="224313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预算充足，关注团队协作与数据分析</a:t>
            </a:r>
            <a:endParaRPr lang="en-US" sz="568" dirty="0"/>
          </a:p>
        </p:txBody>
      </p:sp>
      <p:sp>
        <p:nvSpPr>
          <p:cNvPr id="36" name="Shape 32"/>
          <p:cNvSpPr/>
          <p:nvPr/>
        </p:nvSpPr>
        <p:spPr>
          <a:xfrm>
            <a:off x="6086475" y="816173"/>
            <a:ext cx="2771775" cy="3911566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253181" y="1000125"/>
            <a:ext cx="257175" cy="257175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253181" y="100012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🎬</a:t>
            </a:r>
            <a:endParaRPr lang="en-US" sz="834" dirty="0"/>
          </a:p>
        </p:txBody>
      </p:sp>
      <p:sp>
        <p:nvSpPr>
          <p:cNvPr id="39" name="Text 35"/>
          <p:cNvSpPr/>
          <p:nvPr/>
        </p:nvSpPr>
        <p:spPr>
          <a:xfrm>
            <a:off x="6596081" y="987623"/>
            <a:ext cx="97648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MARKET</a:t>
            </a:r>
            <a:endParaRPr lang="en-US" sz="568" dirty="0"/>
          </a:p>
        </p:txBody>
      </p:sp>
      <p:sp>
        <p:nvSpPr>
          <p:cNvPr id="40" name="Text 36"/>
          <p:cNvSpPr/>
          <p:nvPr/>
        </p:nvSpPr>
        <p:spPr>
          <a:xfrm>
            <a:off x="6596081" y="1098352"/>
            <a:ext cx="9764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MCN 机构</a:t>
            </a:r>
            <a:endParaRPr lang="en-US" sz="885" dirty="0"/>
          </a:p>
        </p:txBody>
      </p:sp>
      <p:sp>
        <p:nvSpPr>
          <p:cNvPr id="41" name="Text 37"/>
          <p:cNvSpPr/>
          <p:nvPr/>
        </p:nvSpPr>
        <p:spPr>
          <a:xfrm>
            <a:off x="6253181" y="1369814"/>
            <a:ext cx="244793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规模：中国 MCN 机构超 4 万家，管理达人账号超 500 万个</a:t>
            </a:r>
            <a:endParaRPr lang="en-US" sz="621" dirty="0"/>
          </a:p>
        </p:txBody>
      </p:sp>
      <p:sp>
        <p:nvSpPr>
          <p:cNvPr id="42" name="Text 38"/>
          <p:cNvSpPr/>
          <p:nvPr/>
        </p:nvSpPr>
        <p:spPr>
          <a:xfrm>
            <a:off x="6253181" y="1584127"/>
            <a:ext cx="244793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核心痛点</a:t>
            </a:r>
            <a:endParaRPr lang="en-US" sz="516" dirty="0"/>
          </a:p>
        </p:txBody>
      </p:sp>
      <p:sp>
        <p:nvSpPr>
          <p:cNvPr id="43" name="Text 39"/>
          <p:cNvSpPr/>
          <p:nvPr/>
        </p:nvSpPr>
        <p:spPr>
          <a:xfrm>
            <a:off x="6253181" y="1725216"/>
            <a:ext cx="2447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批量管理数十至数百个账号，人工成本极高</a:t>
            </a:r>
            <a:endParaRPr lang="en-US" sz="674" dirty="0"/>
          </a:p>
        </p:txBody>
      </p:sp>
      <p:sp>
        <p:nvSpPr>
          <p:cNvPr id="44" name="Text 40"/>
          <p:cNvSpPr/>
          <p:nvPr/>
        </p:nvSpPr>
        <p:spPr>
          <a:xfrm>
            <a:off x="6253181" y="1907381"/>
            <a:ext cx="2447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内容矩阵差异化难，容易触发平台限流</a:t>
            </a:r>
            <a:endParaRPr lang="en-US" sz="674" dirty="0"/>
          </a:p>
        </p:txBody>
      </p:sp>
      <p:sp>
        <p:nvSpPr>
          <p:cNvPr id="45" name="Text 41"/>
          <p:cNvSpPr/>
          <p:nvPr/>
        </p:nvSpPr>
        <p:spPr>
          <a:xfrm>
            <a:off x="6253181" y="2089547"/>
            <a:ext cx="2447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数据孤岛：各平台数据无法统一分析</a:t>
            </a:r>
            <a:endParaRPr lang="en-US" sz="674" dirty="0"/>
          </a:p>
        </p:txBody>
      </p:sp>
      <p:sp>
        <p:nvSpPr>
          <p:cNvPr id="46" name="Text 42"/>
          <p:cNvSpPr/>
          <p:nvPr/>
        </p:nvSpPr>
        <p:spPr>
          <a:xfrm>
            <a:off x="6253181" y="2271713"/>
            <a:ext cx="24479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新人达人培育周期长，爆款复制效率低</a:t>
            </a:r>
            <a:endParaRPr lang="en-US" sz="674" dirty="0"/>
          </a:p>
        </p:txBody>
      </p:sp>
      <p:sp>
        <p:nvSpPr>
          <p:cNvPr id="47" name="Shape 43"/>
          <p:cNvSpPr/>
          <p:nvPr/>
        </p:nvSpPr>
        <p:spPr>
          <a:xfrm>
            <a:off x="6253181" y="3940141"/>
            <a:ext cx="2447934" cy="616148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353194" y="4025866"/>
            <a:ext cx="224790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付费意愿</a:t>
            </a:r>
            <a:endParaRPr lang="en-US" sz="516" dirty="0"/>
          </a:p>
        </p:txBody>
      </p:sp>
      <p:sp>
        <p:nvSpPr>
          <p:cNvPr id="49" name="Text 45"/>
          <p:cNvSpPr/>
          <p:nvPr/>
        </p:nvSpPr>
        <p:spPr>
          <a:xfrm>
            <a:off x="6353194" y="4152667"/>
            <a:ext cx="2247909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¥9,999+ / 月</a:t>
            </a:r>
            <a:endParaRPr lang="en-US" sz="1090" dirty="0"/>
          </a:p>
        </p:txBody>
      </p:sp>
      <p:sp>
        <p:nvSpPr>
          <p:cNvPr id="50" name="Text 46"/>
          <p:cNvSpPr/>
          <p:nvPr/>
        </p:nvSpPr>
        <p:spPr>
          <a:xfrm>
            <a:off x="6353194" y="4379482"/>
            <a:ext cx="224790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需要 API 接入与定制化，按账号数计费</a:t>
            </a:r>
            <a:endParaRPr lang="en-US" sz="568" dirty="0"/>
          </a:p>
        </p:txBody>
      </p:sp>
      <p:sp>
        <p:nvSpPr>
          <p:cNvPr id="51" name="Shape 47"/>
          <p:cNvSpPr/>
          <p:nvPr/>
        </p:nvSpPr>
        <p:spPr>
          <a:xfrm>
            <a:off x="285750" y="4827752"/>
            <a:ext cx="8572500" cy="3157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2" name="Shape 48"/>
          <p:cNvSpPr/>
          <p:nvPr/>
        </p:nvSpPr>
        <p:spPr>
          <a:xfrm>
            <a:off x="285750" y="4827752"/>
            <a:ext cx="8572500" cy="7144"/>
          </a:xfrm>
          <a:prstGeom prst="rect">
            <a:avLst/>
          </a:prstGeom>
          <a:solidFill>
            <a:srgbClr val="B3F2FF"/>
          </a:solidFill>
          <a:ln/>
        </p:spPr>
      </p:sp>
      <p:sp>
        <p:nvSpPr>
          <p:cNvPr id="53" name="Text 49"/>
          <p:cNvSpPr/>
          <p:nvPr/>
        </p:nvSpPr>
        <p:spPr>
          <a:xfrm>
            <a:off x="285750" y="4906333"/>
            <a:ext cx="857250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关键洞察：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三类用户共同面临"多平台内容生产效率"瓶颈，但付费路径不同——个人用户需低价高频订阅，企业用户需功能深度与数据价值，MCN 需批量自动化与 API 开放能力。</a:t>
            </a:r>
            <a:endParaRPr lang="en-US" sz="5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00025"/>
            <a:ext cx="9144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ECOSYSTEM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0" y="353616"/>
            <a:ext cx="914400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大高流量平台：差异化规则与 API 发布能力全景</a:t>
            </a:r>
            <a:endParaRPr lang="en-US" sz="1397" dirty="0"/>
          </a:p>
        </p:txBody>
      </p:sp>
      <p:sp>
        <p:nvSpPr>
          <p:cNvPr id="6" name="Shape 2"/>
          <p:cNvSpPr/>
          <p:nvPr/>
        </p:nvSpPr>
        <p:spPr>
          <a:xfrm>
            <a:off x="285750" y="751880"/>
            <a:ext cx="2078831" cy="188165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00050" y="866180"/>
            <a:ext cx="228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抖音</a:t>
            </a:r>
            <a:endParaRPr lang="en-US" sz="784" dirty="0"/>
          </a:p>
        </p:txBody>
      </p:sp>
      <p:sp>
        <p:nvSpPr>
          <p:cNvPr id="8" name="Shape 4"/>
          <p:cNvSpPr/>
          <p:nvPr/>
        </p:nvSpPr>
        <p:spPr>
          <a:xfrm>
            <a:off x="1796290" y="880467"/>
            <a:ext cx="453991" cy="12680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1796290" y="880467"/>
            <a:ext cx="453991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DAU 8亿+</a:t>
            </a:r>
            <a:endParaRPr lang="en-US" sz="516" dirty="0"/>
          </a:p>
        </p:txBody>
      </p:sp>
      <p:sp>
        <p:nvSpPr>
          <p:cNvPr id="10" name="Text 6"/>
          <p:cNvSpPr/>
          <p:nvPr/>
        </p:nvSpPr>
        <p:spPr>
          <a:xfrm>
            <a:off x="400050" y="1078706"/>
            <a:ext cx="185023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 · 短视频</a:t>
            </a:r>
            <a:endParaRPr lang="en-US" sz="516" dirty="0"/>
          </a:p>
        </p:txBody>
      </p:sp>
      <p:sp>
        <p:nvSpPr>
          <p:cNvPr id="11" name="Shape 7"/>
          <p:cNvSpPr/>
          <p:nvPr/>
        </p:nvSpPr>
        <p:spPr>
          <a:xfrm>
            <a:off x="400050" y="1234083"/>
            <a:ext cx="385763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00050" y="1234083"/>
            <a:ext cx="385763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竖版视频</a:t>
            </a:r>
            <a:endParaRPr lang="en-US" sz="516" dirty="0"/>
          </a:p>
        </p:txBody>
      </p:sp>
      <p:sp>
        <p:nvSpPr>
          <p:cNvPr id="13" name="Shape 9"/>
          <p:cNvSpPr/>
          <p:nvPr/>
        </p:nvSpPr>
        <p:spPr>
          <a:xfrm>
            <a:off x="814388" y="1234083"/>
            <a:ext cx="239316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814388" y="1234083"/>
            <a:ext cx="239316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516" dirty="0"/>
          </a:p>
        </p:txBody>
      </p:sp>
      <p:sp>
        <p:nvSpPr>
          <p:cNvPr id="15" name="Shape 11"/>
          <p:cNvSpPr/>
          <p:nvPr/>
        </p:nvSpPr>
        <p:spPr>
          <a:xfrm>
            <a:off x="1082278" y="1234083"/>
            <a:ext cx="441127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082278" y="1234083"/>
            <a:ext cx="441127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15s–10min</a:t>
            </a:r>
            <a:endParaRPr lang="en-US" sz="516" dirty="0"/>
          </a:p>
        </p:txBody>
      </p:sp>
      <p:sp>
        <p:nvSpPr>
          <p:cNvPr id="17" name="Text 13"/>
          <p:cNvSpPr/>
          <p:nvPr/>
        </p:nvSpPr>
        <p:spPr>
          <a:xfrm>
            <a:off x="400050" y="1432322"/>
            <a:ext cx="1850231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算法强推流，前3秒完播率决定分发量级；话题标签影响权重</a:t>
            </a:r>
            <a:endParaRPr lang="en-US" sz="568" dirty="0"/>
          </a:p>
        </p:txBody>
      </p:sp>
      <p:sp>
        <p:nvSpPr>
          <p:cNvPr id="18" name="Text 14"/>
          <p:cNvSpPr/>
          <p:nvPr/>
        </p:nvSpPr>
        <p:spPr>
          <a:xfrm>
            <a:off x="400050" y="2399574"/>
            <a:ext cx="33039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API发布：</a:t>
            </a:r>
            <a:endParaRPr lang="en-US" sz="516" dirty="0"/>
          </a:p>
        </p:txBody>
      </p:sp>
      <p:sp>
        <p:nvSpPr>
          <p:cNvPr id="19" name="Shape 15"/>
          <p:cNvSpPr/>
          <p:nvPr/>
        </p:nvSpPr>
        <p:spPr>
          <a:xfrm>
            <a:off x="773311" y="2378143"/>
            <a:ext cx="431499" cy="141089"/>
          </a:xfrm>
          <a:prstGeom prst="rect">
            <a:avLst/>
          </a:prstGeom>
          <a:solidFill>
            <a:srgbClr val="FFA500">
              <a:alpha val="10000"/>
            </a:srgbClr>
          </a:solidFill>
          <a:ln w="9144">
            <a:solidFill>
              <a:srgbClr val="FFA500">
                <a:alpha val="2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3311" y="2378143"/>
            <a:ext cx="431499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企业限定</a:t>
            </a:r>
            <a:endParaRPr lang="en-US" sz="485" dirty="0"/>
          </a:p>
        </p:txBody>
      </p:sp>
      <p:sp>
        <p:nvSpPr>
          <p:cNvPr id="21" name="Shape 17"/>
          <p:cNvSpPr/>
          <p:nvPr/>
        </p:nvSpPr>
        <p:spPr>
          <a:xfrm>
            <a:off x="2450306" y="751880"/>
            <a:ext cx="2078831" cy="188165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64606" y="866180"/>
            <a:ext cx="342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小红书</a:t>
            </a:r>
            <a:endParaRPr lang="en-US" sz="784" dirty="0"/>
          </a:p>
        </p:txBody>
      </p:sp>
      <p:sp>
        <p:nvSpPr>
          <p:cNvPr id="23" name="Shape 19"/>
          <p:cNvSpPr/>
          <p:nvPr/>
        </p:nvSpPr>
        <p:spPr>
          <a:xfrm>
            <a:off x="3946559" y="880467"/>
            <a:ext cx="468278" cy="12680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3946559" y="880467"/>
            <a:ext cx="468278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 3亿+</a:t>
            </a:r>
            <a:endParaRPr lang="en-US" sz="516" dirty="0"/>
          </a:p>
        </p:txBody>
      </p:sp>
      <p:sp>
        <p:nvSpPr>
          <p:cNvPr id="25" name="Text 21"/>
          <p:cNvSpPr/>
          <p:nvPr/>
        </p:nvSpPr>
        <p:spPr>
          <a:xfrm>
            <a:off x="2564606" y="1078706"/>
            <a:ext cx="185023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 · 图文/短视频</a:t>
            </a:r>
            <a:endParaRPr lang="en-US" sz="516" dirty="0"/>
          </a:p>
        </p:txBody>
      </p:sp>
      <p:sp>
        <p:nvSpPr>
          <p:cNvPr id="26" name="Shape 22"/>
          <p:cNvSpPr/>
          <p:nvPr/>
        </p:nvSpPr>
        <p:spPr>
          <a:xfrm>
            <a:off x="2564606" y="1234083"/>
            <a:ext cx="385763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2564606" y="1234083"/>
            <a:ext cx="385763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图文笔记</a:t>
            </a:r>
            <a:endParaRPr lang="en-US" sz="516" dirty="0"/>
          </a:p>
        </p:txBody>
      </p:sp>
      <p:sp>
        <p:nvSpPr>
          <p:cNvPr id="28" name="Shape 24"/>
          <p:cNvSpPr/>
          <p:nvPr/>
        </p:nvSpPr>
        <p:spPr>
          <a:xfrm>
            <a:off x="2978944" y="1234083"/>
            <a:ext cx="314325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2978944" y="1234083"/>
            <a:ext cx="314325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短视频</a:t>
            </a:r>
            <a:endParaRPr lang="en-US" sz="516" dirty="0"/>
          </a:p>
        </p:txBody>
      </p:sp>
      <p:sp>
        <p:nvSpPr>
          <p:cNvPr id="30" name="Shape 26"/>
          <p:cNvSpPr/>
          <p:nvPr/>
        </p:nvSpPr>
        <p:spPr>
          <a:xfrm>
            <a:off x="3321844" y="1234083"/>
            <a:ext cx="212527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3321844" y="1234083"/>
            <a:ext cx="212527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3:4</a:t>
            </a:r>
            <a:endParaRPr lang="en-US" sz="516" dirty="0"/>
          </a:p>
        </p:txBody>
      </p:sp>
      <p:sp>
        <p:nvSpPr>
          <p:cNvPr id="32" name="Text 28"/>
          <p:cNvSpPr/>
          <p:nvPr/>
        </p:nvSpPr>
        <p:spPr>
          <a:xfrm>
            <a:off x="2564606" y="1432322"/>
            <a:ext cx="1850231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搜索型平台，关键词 SEO 权重高；种草内容真实感优先</a:t>
            </a:r>
            <a:endParaRPr lang="en-US" sz="568" dirty="0"/>
          </a:p>
        </p:txBody>
      </p:sp>
      <p:sp>
        <p:nvSpPr>
          <p:cNvPr id="33" name="Text 29"/>
          <p:cNvSpPr/>
          <p:nvPr/>
        </p:nvSpPr>
        <p:spPr>
          <a:xfrm>
            <a:off x="2564606" y="2399574"/>
            <a:ext cx="33039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API发布：</a:t>
            </a:r>
            <a:endParaRPr lang="en-US" sz="516" dirty="0"/>
          </a:p>
        </p:txBody>
      </p:sp>
      <p:sp>
        <p:nvSpPr>
          <p:cNvPr id="34" name="Shape 30"/>
          <p:cNvSpPr/>
          <p:nvPr/>
        </p:nvSpPr>
        <p:spPr>
          <a:xfrm>
            <a:off x="2937867" y="2378143"/>
            <a:ext cx="484715" cy="141089"/>
          </a:xfrm>
          <a:prstGeom prst="rect">
            <a:avLst/>
          </a:prstGeom>
          <a:solidFill>
            <a:srgbClr val="FF5050">
              <a:alpha val="10000"/>
            </a:srgbClr>
          </a:solidFill>
          <a:ln w="9144">
            <a:solidFill>
              <a:srgbClr val="FF5050">
                <a:alpha val="2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937867" y="2378143"/>
            <a:ext cx="484715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6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无开放API</a:t>
            </a:r>
            <a:endParaRPr lang="en-US" sz="485" dirty="0"/>
          </a:p>
        </p:txBody>
      </p:sp>
      <p:sp>
        <p:nvSpPr>
          <p:cNvPr id="36" name="Shape 32"/>
          <p:cNvSpPr/>
          <p:nvPr/>
        </p:nvSpPr>
        <p:spPr>
          <a:xfrm>
            <a:off x="4614863" y="751880"/>
            <a:ext cx="2078831" cy="188165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29163" y="866180"/>
            <a:ext cx="228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微博</a:t>
            </a:r>
            <a:endParaRPr lang="en-US" sz="784" dirty="0"/>
          </a:p>
        </p:txBody>
      </p:sp>
      <p:sp>
        <p:nvSpPr>
          <p:cNvPr id="38" name="Shape 34"/>
          <p:cNvSpPr/>
          <p:nvPr/>
        </p:nvSpPr>
        <p:spPr>
          <a:xfrm>
            <a:off x="6092168" y="880467"/>
            <a:ext cx="487226" cy="12680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9" name="Text 35"/>
          <p:cNvSpPr/>
          <p:nvPr/>
        </p:nvSpPr>
        <p:spPr>
          <a:xfrm>
            <a:off x="6092168" y="880467"/>
            <a:ext cx="487226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 2.6亿</a:t>
            </a:r>
            <a:endParaRPr lang="en-US" sz="516" dirty="0"/>
          </a:p>
        </p:txBody>
      </p:sp>
      <p:sp>
        <p:nvSpPr>
          <p:cNvPr id="40" name="Text 36"/>
          <p:cNvSpPr/>
          <p:nvPr/>
        </p:nvSpPr>
        <p:spPr>
          <a:xfrm>
            <a:off x="4729163" y="1078706"/>
            <a:ext cx="185023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 · 图文/话题</a:t>
            </a:r>
            <a:endParaRPr lang="en-US" sz="516" dirty="0"/>
          </a:p>
        </p:txBody>
      </p:sp>
      <p:sp>
        <p:nvSpPr>
          <p:cNvPr id="41" name="Shape 37"/>
          <p:cNvSpPr/>
          <p:nvPr/>
        </p:nvSpPr>
        <p:spPr>
          <a:xfrm>
            <a:off x="4729163" y="1234083"/>
            <a:ext cx="242888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2" name="Text 38"/>
          <p:cNvSpPr/>
          <p:nvPr/>
        </p:nvSpPr>
        <p:spPr>
          <a:xfrm>
            <a:off x="4729163" y="1234083"/>
            <a:ext cx="242888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图文</a:t>
            </a:r>
            <a:endParaRPr lang="en-US" sz="516" dirty="0"/>
          </a:p>
        </p:txBody>
      </p:sp>
      <p:sp>
        <p:nvSpPr>
          <p:cNvPr id="43" name="Shape 39"/>
          <p:cNvSpPr/>
          <p:nvPr/>
        </p:nvSpPr>
        <p:spPr>
          <a:xfrm>
            <a:off x="5000625" y="1234083"/>
            <a:ext cx="314325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4" name="Text 40"/>
          <p:cNvSpPr/>
          <p:nvPr/>
        </p:nvSpPr>
        <p:spPr>
          <a:xfrm>
            <a:off x="5000625" y="1234083"/>
            <a:ext cx="314325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短视频</a:t>
            </a:r>
            <a:endParaRPr lang="en-US" sz="516" dirty="0"/>
          </a:p>
        </p:txBody>
      </p:sp>
      <p:sp>
        <p:nvSpPr>
          <p:cNvPr id="45" name="Shape 41"/>
          <p:cNvSpPr/>
          <p:nvPr/>
        </p:nvSpPr>
        <p:spPr>
          <a:xfrm>
            <a:off x="5343525" y="1234083"/>
            <a:ext cx="385763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6" name="Text 42"/>
          <p:cNvSpPr/>
          <p:nvPr/>
        </p:nvSpPr>
        <p:spPr>
          <a:xfrm>
            <a:off x="5343525" y="1234083"/>
            <a:ext cx="385763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热搜话题</a:t>
            </a:r>
            <a:endParaRPr lang="en-US" sz="516" dirty="0"/>
          </a:p>
        </p:txBody>
      </p:sp>
      <p:sp>
        <p:nvSpPr>
          <p:cNvPr id="47" name="Text 43"/>
          <p:cNvSpPr/>
          <p:nvPr/>
        </p:nvSpPr>
        <p:spPr>
          <a:xfrm>
            <a:off x="4729163" y="1432322"/>
            <a:ext cx="1850231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热搜话题驱动流量，转发链是核心传播路径</a:t>
            </a:r>
            <a:endParaRPr lang="en-US" sz="568" dirty="0"/>
          </a:p>
        </p:txBody>
      </p:sp>
      <p:sp>
        <p:nvSpPr>
          <p:cNvPr id="48" name="Text 44"/>
          <p:cNvSpPr/>
          <p:nvPr/>
        </p:nvSpPr>
        <p:spPr>
          <a:xfrm>
            <a:off x="4729163" y="2399574"/>
            <a:ext cx="33039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API发布：</a:t>
            </a:r>
            <a:endParaRPr lang="en-US" sz="516" dirty="0"/>
          </a:p>
        </p:txBody>
      </p:sp>
      <p:sp>
        <p:nvSpPr>
          <p:cNvPr id="49" name="Shape 45"/>
          <p:cNvSpPr/>
          <p:nvPr/>
        </p:nvSpPr>
        <p:spPr>
          <a:xfrm>
            <a:off x="5102423" y="2378143"/>
            <a:ext cx="431499" cy="141089"/>
          </a:xfrm>
          <a:prstGeom prst="rect">
            <a:avLst/>
          </a:prstGeom>
          <a:solidFill>
            <a:srgbClr val="00D464">
              <a:alpha val="12000"/>
            </a:srgbClr>
          </a:solidFill>
          <a:ln w="9144">
            <a:solidFill>
              <a:srgbClr val="00D464">
                <a:alpha val="2500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102423" y="2378143"/>
            <a:ext cx="431499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D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开放接口</a:t>
            </a:r>
            <a:endParaRPr lang="en-US" sz="485" dirty="0"/>
          </a:p>
        </p:txBody>
      </p:sp>
      <p:sp>
        <p:nvSpPr>
          <p:cNvPr id="51" name="Shape 47"/>
          <p:cNvSpPr/>
          <p:nvPr/>
        </p:nvSpPr>
        <p:spPr>
          <a:xfrm>
            <a:off x="6779419" y="751880"/>
            <a:ext cx="2078831" cy="188165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893719" y="866180"/>
            <a:ext cx="1910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B站</a:t>
            </a:r>
            <a:endParaRPr lang="en-US" sz="784" dirty="0"/>
          </a:p>
        </p:txBody>
      </p:sp>
      <p:sp>
        <p:nvSpPr>
          <p:cNvPr id="53" name="Shape 49"/>
          <p:cNvSpPr/>
          <p:nvPr/>
        </p:nvSpPr>
        <p:spPr>
          <a:xfrm>
            <a:off x="8253152" y="880467"/>
            <a:ext cx="490798" cy="12680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4" name="Text 50"/>
          <p:cNvSpPr/>
          <p:nvPr/>
        </p:nvSpPr>
        <p:spPr>
          <a:xfrm>
            <a:off x="8253152" y="880467"/>
            <a:ext cx="490798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 3.4亿</a:t>
            </a:r>
            <a:endParaRPr lang="en-US" sz="516" dirty="0"/>
          </a:p>
        </p:txBody>
      </p:sp>
      <p:sp>
        <p:nvSpPr>
          <p:cNvPr id="55" name="Text 51"/>
          <p:cNvSpPr/>
          <p:nvPr/>
        </p:nvSpPr>
        <p:spPr>
          <a:xfrm>
            <a:off x="6893719" y="1078706"/>
            <a:ext cx="185023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 · 中长视频</a:t>
            </a:r>
            <a:endParaRPr lang="en-US" sz="516" dirty="0"/>
          </a:p>
        </p:txBody>
      </p:sp>
      <p:sp>
        <p:nvSpPr>
          <p:cNvPr id="56" name="Shape 52"/>
          <p:cNvSpPr/>
          <p:nvPr/>
        </p:nvSpPr>
        <p:spPr>
          <a:xfrm>
            <a:off x="6893719" y="1234083"/>
            <a:ext cx="385763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7" name="Text 53"/>
          <p:cNvSpPr/>
          <p:nvPr/>
        </p:nvSpPr>
        <p:spPr>
          <a:xfrm>
            <a:off x="6893719" y="1234083"/>
            <a:ext cx="385763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横版视频</a:t>
            </a:r>
            <a:endParaRPr lang="en-US" sz="516" dirty="0"/>
          </a:p>
        </p:txBody>
      </p:sp>
      <p:sp>
        <p:nvSpPr>
          <p:cNvPr id="58" name="Shape 54"/>
          <p:cNvSpPr/>
          <p:nvPr/>
        </p:nvSpPr>
        <p:spPr>
          <a:xfrm>
            <a:off x="7308056" y="1234083"/>
            <a:ext cx="239316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9" name="Text 55"/>
          <p:cNvSpPr/>
          <p:nvPr/>
        </p:nvSpPr>
        <p:spPr>
          <a:xfrm>
            <a:off x="7308056" y="1234083"/>
            <a:ext cx="239316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516" dirty="0"/>
          </a:p>
        </p:txBody>
      </p:sp>
      <p:sp>
        <p:nvSpPr>
          <p:cNvPr id="60" name="Shape 56"/>
          <p:cNvSpPr/>
          <p:nvPr/>
        </p:nvSpPr>
        <p:spPr>
          <a:xfrm>
            <a:off x="7575947" y="1234083"/>
            <a:ext cx="314325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61" name="Text 57"/>
          <p:cNvSpPr/>
          <p:nvPr/>
        </p:nvSpPr>
        <p:spPr>
          <a:xfrm>
            <a:off x="7575947" y="1234083"/>
            <a:ext cx="314325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3min+</a:t>
            </a:r>
            <a:endParaRPr lang="en-US" sz="516" dirty="0"/>
          </a:p>
        </p:txBody>
      </p:sp>
      <p:sp>
        <p:nvSpPr>
          <p:cNvPr id="62" name="Text 58"/>
          <p:cNvSpPr/>
          <p:nvPr/>
        </p:nvSpPr>
        <p:spPr>
          <a:xfrm>
            <a:off x="6893719" y="1432322"/>
            <a:ext cx="1850231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弹幕互动文化，完播率+互动率双权重；知识类内容高溢价</a:t>
            </a:r>
            <a:endParaRPr lang="en-US" sz="568" dirty="0"/>
          </a:p>
        </p:txBody>
      </p:sp>
      <p:sp>
        <p:nvSpPr>
          <p:cNvPr id="63" name="Text 59"/>
          <p:cNvSpPr/>
          <p:nvPr/>
        </p:nvSpPr>
        <p:spPr>
          <a:xfrm>
            <a:off x="6893719" y="2392431"/>
            <a:ext cx="33039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API发布：</a:t>
            </a:r>
            <a:endParaRPr lang="en-US" sz="516" dirty="0"/>
          </a:p>
        </p:txBody>
      </p:sp>
      <p:sp>
        <p:nvSpPr>
          <p:cNvPr id="64" name="Shape 60"/>
          <p:cNvSpPr/>
          <p:nvPr/>
        </p:nvSpPr>
        <p:spPr>
          <a:xfrm>
            <a:off x="7266980" y="2370999"/>
            <a:ext cx="484715" cy="141089"/>
          </a:xfrm>
          <a:prstGeom prst="rect">
            <a:avLst/>
          </a:prstGeom>
          <a:solidFill>
            <a:srgbClr val="FFA500">
              <a:alpha val="10000"/>
            </a:srgbClr>
          </a:solidFill>
          <a:ln w="9144">
            <a:solidFill>
              <a:srgbClr val="FFA500">
                <a:alpha val="25000"/>
              </a:srgbClr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7266980" y="2370999"/>
            <a:ext cx="484715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非官方API</a:t>
            </a:r>
            <a:endParaRPr lang="en-US" sz="485" dirty="0"/>
          </a:p>
        </p:txBody>
      </p:sp>
      <p:sp>
        <p:nvSpPr>
          <p:cNvPr id="66" name="Shape 62"/>
          <p:cNvSpPr/>
          <p:nvPr/>
        </p:nvSpPr>
        <p:spPr>
          <a:xfrm>
            <a:off x="285750" y="2704970"/>
            <a:ext cx="2078831" cy="1895968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400050" y="2823735"/>
            <a:ext cx="571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微信视频号</a:t>
            </a:r>
            <a:endParaRPr lang="en-US" sz="784" dirty="0"/>
          </a:p>
        </p:txBody>
      </p:sp>
      <p:sp>
        <p:nvSpPr>
          <p:cNvPr id="68" name="Shape 64"/>
          <p:cNvSpPr/>
          <p:nvPr/>
        </p:nvSpPr>
        <p:spPr>
          <a:xfrm>
            <a:off x="1782003" y="2838022"/>
            <a:ext cx="468278" cy="12680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9" name="Text 65"/>
          <p:cNvSpPr/>
          <p:nvPr/>
        </p:nvSpPr>
        <p:spPr>
          <a:xfrm>
            <a:off x="1782003" y="2838022"/>
            <a:ext cx="468278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 8亿+</a:t>
            </a:r>
            <a:endParaRPr lang="en-US" sz="516" dirty="0"/>
          </a:p>
        </p:txBody>
      </p:sp>
      <p:sp>
        <p:nvSpPr>
          <p:cNvPr id="70" name="Text 66"/>
          <p:cNvSpPr/>
          <p:nvPr/>
        </p:nvSpPr>
        <p:spPr>
          <a:xfrm>
            <a:off x="400050" y="3036261"/>
            <a:ext cx="185023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 · 短视频/直播</a:t>
            </a:r>
            <a:endParaRPr lang="en-US" sz="516" dirty="0"/>
          </a:p>
        </p:txBody>
      </p:sp>
      <p:sp>
        <p:nvSpPr>
          <p:cNvPr id="71" name="Shape 67"/>
          <p:cNvSpPr/>
          <p:nvPr/>
        </p:nvSpPr>
        <p:spPr>
          <a:xfrm>
            <a:off x="400050" y="3191638"/>
            <a:ext cx="385763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72" name="Text 68"/>
          <p:cNvSpPr/>
          <p:nvPr/>
        </p:nvSpPr>
        <p:spPr>
          <a:xfrm>
            <a:off x="400050" y="3191638"/>
            <a:ext cx="385763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竖版视频</a:t>
            </a:r>
            <a:endParaRPr lang="en-US" sz="516" dirty="0"/>
          </a:p>
        </p:txBody>
      </p:sp>
      <p:sp>
        <p:nvSpPr>
          <p:cNvPr id="73" name="Shape 69"/>
          <p:cNvSpPr/>
          <p:nvPr/>
        </p:nvSpPr>
        <p:spPr>
          <a:xfrm>
            <a:off x="814388" y="3191638"/>
            <a:ext cx="457200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74" name="Text 70"/>
          <p:cNvSpPr/>
          <p:nvPr/>
        </p:nvSpPr>
        <p:spPr>
          <a:xfrm>
            <a:off x="814388" y="3191638"/>
            <a:ext cx="457200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朋友圈联动</a:t>
            </a:r>
            <a:endParaRPr lang="en-US" sz="516" dirty="0"/>
          </a:p>
        </p:txBody>
      </p:sp>
      <p:sp>
        <p:nvSpPr>
          <p:cNvPr id="75" name="Text 71"/>
          <p:cNvSpPr/>
          <p:nvPr/>
        </p:nvSpPr>
        <p:spPr>
          <a:xfrm>
            <a:off x="400050" y="3389877"/>
            <a:ext cx="1850231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社交裂变为核心，朋友点赞可撬动公域流量；私域转化率高</a:t>
            </a:r>
            <a:endParaRPr lang="en-US" sz="568" dirty="0"/>
          </a:p>
        </p:txBody>
      </p:sp>
      <p:sp>
        <p:nvSpPr>
          <p:cNvPr id="76" name="Text 72"/>
          <p:cNvSpPr/>
          <p:nvPr/>
        </p:nvSpPr>
        <p:spPr>
          <a:xfrm>
            <a:off x="400050" y="4366980"/>
            <a:ext cx="33039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API发布：</a:t>
            </a:r>
            <a:endParaRPr lang="en-US" sz="516" dirty="0"/>
          </a:p>
        </p:txBody>
      </p:sp>
      <p:sp>
        <p:nvSpPr>
          <p:cNvPr id="77" name="Shape 73"/>
          <p:cNvSpPr/>
          <p:nvPr/>
        </p:nvSpPr>
        <p:spPr>
          <a:xfrm>
            <a:off x="773311" y="4345549"/>
            <a:ext cx="507206" cy="141089"/>
          </a:xfrm>
          <a:prstGeom prst="rect">
            <a:avLst/>
          </a:prstGeom>
          <a:solidFill>
            <a:srgbClr val="FFA500">
              <a:alpha val="10000"/>
            </a:srgbClr>
          </a:solidFill>
          <a:ln w="9144">
            <a:solidFill>
              <a:srgbClr val="FFA500">
                <a:alpha val="2500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773311" y="4345549"/>
            <a:ext cx="507206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公众号关联</a:t>
            </a:r>
            <a:endParaRPr lang="en-US" sz="485" dirty="0"/>
          </a:p>
        </p:txBody>
      </p:sp>
      <p:sp>
        <p:nvSpPr>
          <p:cNvPr id="79" name="Shape 75"/>
          <p:cNvSpPr/>
          <p:nvPr/>
        </p:nvSpPr>
        <p:spPr>
          <a:xfrm>
            <a:off x="2450306" y="2709435"/>
            <a:ext cx="2078831" cy="189150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2564606" y="2823735"/>
            <a:ext cx="46791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YouTube</a:t>
            </a:r>
            <a:endParaRPr lang="en-US" sz="784" dirty="0"/>
          </a:p>
        </p:txBody>
      </p:sp>
      <p:sp>
        <p:nvSpPr>
          <p:cNvPr id="81" name="Shape 77"/>
          <p:cNvSpPr/>
          <p:nvPr/>
        </p:nvSpPr>
        <p:spPr>
          <a:xfrm>
            <a:off x="3953703" y="2833557"/>
            <a:ext cx="461135" cy="12680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2" name="Text 78"/>
          <p:cNvSpPr/>
          <p:nvPr/>
        </p:nvSpPr>
        <p:spPr>
          <a:xfrm>
            <a:off x="3953703" y="2833557"/>
            <a:ext cx="461135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 27亿</a:t>
            </a:r>
            <a:endParaRPr lang="en-US" sz="516" dirty="0"/>
          </a:p>
        </p:txBody>
      </p:sp>
      <p:sp>
        <p:nvSpPr>
          <p:cNvPr id="83" name="Text 79"/>
          <p:cNvSpPr/>
          <p:nvPr/>
        </p:nvSpPr>
        <p:spPr>
          <a:xfrm>
            <a:off x="2564606" y="3027331"/>
            <a:ext cx="185023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 · 中长视频</a:t>
            </a:r>
            <a:endParaRPr lang="en-US" sz="516" dirty="0"/>
          </a:p>
        </p:txBody>
      </p:sp>
      <p:sp>
        <p:nvSpPr>
          <p:cNvPr id="84" name="Shape 80"/>
          <p:cNvSpPr/>
          <p:nvPr/>
        </p:nvSpPr>
        <p:spPr>
          <a:xfrm>
            <a:off x="2564606" y="3182708"/>
            <a:ext cx="410766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85" name="Text 81"/>
          <p:cNvSpPr/>
          <p:nvPr/>
        </p:nvSpPr>
        <p:spPr>
          <a:xfrm>
            <a:off x="2564606" y="3182708"/>
            <a:ext cx="410766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横版/竖版</a:t>
            </a:r>
            <a:endParaRPr lang="en-US" sz="516" dirty="0"/>
          </a:p>
        </p:txBody>
      </p:sp>
      <p:sp>
        <p:nvSpPr>
          <p:cNvPr id="86" name="Shape 82"/>
          <p:cNvSpPr/>
          <p:nvPr/>
        </p:nvSpPr>
        <p:spPr>
          <a:xfrm>
            <a:off x="3003947" y="3182708"/>
            <a:ext cx="321469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87" name="Text 83"/>
          <p:cNvSpPr/>
          <p:nvPr/>
        </p:nvSpPr>
        <p:spPr>
          <a:xfrm>
            <a:off x="3003947" y="3182708"/>
            <a:ext cx="321469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Shorts</a:t>
            </a:r>
            <a:endParaRPr lang="en-US" sz="516" dirty="0"/>
          </a:p>
        </p:txBody>
      </p:sp>
      <p:sp>
        <p:nvSpPr>
          <p:cNvPr id="88" name="Shape 84"/>
          <p:cNvSpPr/>
          <p:nvPr/>
        </p:nvSpPr>
        <p:spPr>
          <a:xfrm>
            <a:off x="3353991" y="3182708"/>
            <a:ext cx="316111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89" name="Text 85"/>
          <p:cNvSpPr/>
          <p:nvPr/>
        </p:nvSpPr>
        <p:spPr>
          <a:xfrm>
            <a:off x="3353991" y="3182708"/>
            <a:ext cx="316111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SEO强</a:t>
            </a:r>
            <a:endParaRPr lang="en-US" sz="516" dirty="0"/>
          </a:p>
        </p:txBody>
      </p:sp>
      <p:sp>
        <p:nvSpPr>
          <p:cNvPr id="90" name="Text 86"/>
          <p:cNvSpPr/>
          <p:nvPr/>
        </p:nvSpPr>
        <p:spPr>
          <a:xfrm>
            <a:off x="2564606" y="3380947"/>
            <a:ext cx="1850231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搜索引擎属性强，长尾关键词 SEO 带来持续流量；广告分成成熟</a:t>
            </a:r>
            <a:endParaRPr lang="en-US" sz="568" dirty="0"/>
          </a:p>
        </p:txBody>
      </p:sp>
      <p:sp>
        <p:nvSpPr>
          <p:cNvPr id="91" name="Text 87"/>
          <p:cNvSpPr/>
          <p:nvPr/>
        </p:nvSpPr>
        <p:spPr>
          <a:xfrm>
            <a:off x="2564606" y="4366980"/>
            <a:ext cx="33039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API发布：</a:t>
            </a:r>
            <a:endParaRPr lang="en-US" sz="516" dirty="0"/>
          </a:p>
        </p:txBody>
      </p:sp>
      <p:sp>
        <p:nvSpPr>
          <p:cNvPr id="92" name="Shape 88"/>
          <p:cNvSpPr/>
          <p:nvPr/>
        </p:nvSpPr>
        <p:spPr>
          <a:xfrm>
            <a:off x="2937867" y="4345549"/>
            <a:ext cx="609005" cy="141089"/>
          </a:xfrm>
          <a:prstGeom prst="rect">
            <a:avLst/>
          </a:prstGeom>
          <a:solidFill>
            <a:srgbClr val="00D464">
              <a:alpha val="12000"/>
            </a:srgbClr>
          </a:solidFill>
          <a:ln w="9144">
            <a:solidFill>
              <a:srgbClr val="00D464">
                <a:alpha val="25000"/>
              </a:srgbClr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2937867" y="4345549"/>
            <a:ext cx="609005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D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官方Data API</a:t>
            </a:r>
            <a:endParaRPr lang="en-US" sz="485" dirty="0"/>
          </a:p>
        </p:txBody>
      </p:sp>
      <p:sp>
        <p:nvSpPr>
          <p:cNvPr id="94" name="Shape 90"/>
          <p:cNvSpPr/>
          <p:nvPr/>
        </p:nvSpPr>
        <p:spPr>
          <a:xfrm>
            <a:off x="4614863" y="2709435"/>
            <a:ext cx="2078831" cy="189150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4729163" y="2829092"/>
            <a:ext cx="35183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TikTok</a:t>
            </a:r>
            <a:endParaRPr lang="en-US" sz="784" dirty="0"/>
          </a:p>
        </p:txBody>
      </p:sp>
      <p:sp>
        <p:nvSpPr>
          <p:cNvPr id="96" name="Shape 92"/>
          <p:cNvSpPr/>
          <p:nvPr/>
        </p:nvSpPr>
        <p:spPr>
          <a:xfrm>
            <a:off x="6128975" y="2838915"/>
            <a:ext cx="450419" cy="12680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7" name="Text 93"/>
          <p:cNvSpPr/>
          <p:nvPr/>
        </p:nvSpPr>
        <p:spPr>
          <a:xfrm>
            <a:off x="6128975" y="2838915"/>
            <a:ext cx="450419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 19亿</a:t>
            </a:r>
            <a:endParaRPr lang="en-US" sz="516" dirty="0"/>
          </a:p>
        </p:txBody>
      </p:sp>
      <p:sp>
        <p:nvSpPr>
          <p:cNvPr id="98" name="Text 94"/>
          <p:cNvSpPr/>
          <p:nvPr/>
        </p:nvSpPr>
        <p:spPr>
          <a:xfrm>
            <a:off x="4729163" y="3032689"/>
            <a:ext cx="185023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 · 短视频</a:t>
            </a:r>
            <a:endParaRPr lang="en-US" sz="516" dirty="0"/>
          </a:p>
        </p:txBody>
      </p:sp>
      <p:sp>
        <p:nvSpPr>
          <p:cNvPr id="99" name="Shape 95"/>
          <p:cNvSpPr/>
          <p:nvPr/>
        </p:nvSpPr>
        <p:spPr>
          <a:xfrm>
            <a:off x="4729163" y="3188066"/>
            <a:ext cx="385763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00" name="Text 96"/>
          <p:cNvSpPr/>
          <p:nvPr/>
        </p:nvSpPr>
        <p:spPr>
          <a:xfrm>
            <a:off x="4729163" y="3188066"/>
            <a:ext cx="385763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竖版视频</a:t>
            </a:r>
            <a:endParaRPr lang="en-US" sz="516" dirty="0"/>
          </a:p>
        </p:txBody>
      </p:sp>
      <p:sp>
        <p:nvSpPr>
          <p:cNvPr id="101" name="Shape 97"/>
          <p:cNvSpPr/>
          <p:nvPr/>
        </p:nvSpPr>
        <p:spPr>
          <a:xfrm>
            <a:off x="5143500" y="3188066"/>
            <a:ext cx="239316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02" name="Text 98"/>
          <p:cNvSpPr/>
          <p:nvPr/>
        </p:nvSpPr>
        <p:spPr>
          <a:xfrm>
            <a:off x="5143500" y="3188066"/>
            <a:ext cx="239316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516" dirty="0"/>
          </a:p>
        </p:txBody>
      </p:sp>
      <p:sp>
        <p:nvSpPr>
          <p:cNvPr id="103" name="Shape 99"/>
          <p:cNvSpPr/>
          <p:nvPr/>
        </p:nvSpPr>
        <p:spPr>
          <a:xfrm>
            <a:off x="5411391" y="3188066"/>
            <a:ext cx="303609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04" name="Text 100"/>
          <p:cNvSpPr/>
          <p:nvPr/>
        </p:nvSpPr>
        <p:spPr>
          <a:xfrm>
            <a:off x="5411391" y="3188066"/>
            <a:ext cx="303609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7–60s</a:t>
            </a:r>
            <a:endParaRPr lang="en-US" sz="516" dirty="0"/>
          </a:p>
        </p:txBody>
      </p:sp>
      <p:sp>
        <p:nvSpPr>
          <p:cNvPr id="105" name="Text 101"/>
          <p:cNvSpPr/>
          <p:nvPr/>
        </p:nvSpPr>
        <p:spPr>
          <a:xfrm>
            <a:off x="4729163" y="3386305"/>
            <a:ext cx="1850231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算法去中心化分发，新账号冷启动快；音乐+挑战赛驱动传播</a:t>
            </a:r>
            <a:endParaRPr lang="en-US" sz="568" dirty="0"/>
          </a:p>
        </p:txBody>
      </p:sp>
      <p:sp>
        <p:nvSpPr>
          <p:cNvPr id="106" name="Text 102"/>
          <p:cNvSpPr/>
          <p:nvPr/>
        </p:nvSpPr>
        <p:spPr>
          <a:xfrm>
            <a:off x="4729163" y="4366980"/>
            <a:ext cx="33039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API发布：</a:t>
            </a:r>
            <a:endParaRPr lang="en-US" sz="516" dirty="0"/>
          </a:p>
        </p:txBody>
      </p:sp>
      <p:sp>
        <p:nvSpPr>
          <p:cNvPr id="107" name="Shape 103"/>
          <p:cNvSpPr/>
          <p:nvPr/>
        </p:nvSpPr>
        <p:spPr>
          <a:xfrm>
            <a:off x="5102423" y="4345549"/>
            <a:ext cx="582941" cy="141089"/>
          </a:xfrm>
          <a:prstGeom prst="rect">
            <a:avLst/>
          </a:prstGeom>
          <a:solidFill>
            <a:srgbClr val="FFA500">
              <a:alpha val="10000"/>
            </a:srgbClr>
          </a:solidFill>
          <a:ln w="9144">
            <a:solidFill>
              <a:srgbClr val="FFA500">
                <a:alpha val="25000"/>
              </a:srgbClr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5102423" y="4345549"/>
            <a:ext cx="582941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企业账号限定</a:t>
            </a:r>
            <a:endParaRPr lang="en-US" sz="485" dirty="0"/>
          </a:p>
        </p:txBody>
      </p:sp>
      <p:sp>
        <p:nvSpPr>
          <p:cNvPr id="109" name="Shape 105"/>
          <p:cNvSpPr/>
          <p:nvPr/>
        </p:nvSpPr>
        <p:spPr>
          <a:xfrm>
            <a:off x="6779419" y="2714792"/>
            <a:ext cx="2078831" cy="1886145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6893719" y="2833557"/>
            <a:ext cx="55542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Instagram</a:t>
            </a:r>
            <a:endParaRPr lang="en-US" sz="784" dirty="0"/>
          </a:p>
        </p:txBody>
      </p:sp>
      <p:sp>
        <p:nvSpPr>
          <p:cNvPr id="111" name="Shape 107"/>
          <p:cNvSpPr/>
          <p:nvPr/>
        </p:nvSpPr>
        <p:spPr>
          <a:xfrm>
            <a:off x="8279243" y="2843380"/>
            <a:ext cx="464707" cy="12680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2" name="Text 108"/>
          <p:cNvSpPr/>
          <p:nvPr/>
        </p:nvSpPr>
        <p:spPr>
          <a:xfrm>
            <a:off x="8279243" y="2843380"/>
            <a:ext cx="464707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 20亿</a:t>
            </a:r>
            <a:endParaRPr lang="en-US" sz="516" dirty="0"/>
          </a:p>
        </p:txBody>
      </p:sp>
      <p:sp>
        <p:nvSpPr>
          <p:cNvPr id="113" name="Text 109"/>
          <p:cNvSpPr/>
          <p:nvPr/>
        </p:nvSpPr>
        <p:spPr>
          <a:xfrm>
            <a:off x="6893719" y="3037154"/>
            <a:ext cx="185023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 · 图文/REELS</a:t>
            </a:r>
            <a:endParaRPr lang="en-US" sz="516" dirty="0"/>
          </a:p>
        </p:txBody>
      </p:sp>
      <p:sp>
        <p:nvSpPr>
          <p:cNvPr id="114" name="Shape 110"/>
          <p:cNvSpPr/>
          <p:nvPr/>
        </p:nvSpPr>
        <p:spPr>
          <a:xfrm>
            <a:off x="6893719" y="3192531"/>
            <a:ext cx="410766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5" name="Text 111"/>
          <p:cNvSpPr/>
          <p:nvPr/>
        </p:nvSpPr>
        <p:spPr>
          <a:xfrm>
            <a:off x="6893719" y="3192531"/>
            <a:ext cx="410766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方图/竖图</a:t>
            </a:r>
            <a:endParaRPr lang="en-US" sz="516" dirty="0"/>
          </a:p>
        </p:txBody>
      </p:sp>
      <p:sp>
        <p:nvSpPr>
          <p:cNvPr id="116" name="Shape 112"/>
          <p:cNvSpPr/>
          <p:nvPr/>
        </p:nvSpPr>
        <p:spPr>
          <a:xfrm>
            <a:off x="7333059" y="3192531"/>
            <a:ext cx="282178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7" name="Text 113"/>
          <p:cNvSpPr/>
          <p:nvPr/>
        </p:nvSpPr>
        <p:spPr>
          <a:xfrm>
            <a:off x="7333059" y="3192531"/>
            <a:ext cx="282178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</a:t>
            </a:r>
            <a:endParaRPr lang="en-US" sz="516" dirty="0"/>
          </a:p>
        </p:txBody>
      </p:sp>
      <p:sp>
        <p:nvSpPr>
          <p:cNvPr id="118" name="Shape 114"/>
          <p:cNvSpPr/>
          <p:nvPr/>
        </p:nvSpPr>
        <p:spPr>
          <a:xfrm>
            <a:off x="7643813" y="3192531"/>
            <a:ext cx="335756" cy="1268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9" name="Text 115"/>
          <p:cNvSpPr/>
          <p:nvPr/>
        </p:nvSpPr>
        <p:spPr>
          <a:xfrm>
            <a:off x="7643813" y="3192531"/>
            <a:ext cx="335756" cy="126802"/>
          </a:xfrm>
          <a:prstGeom prst="rect">
            <a:avLst/>
          </a:prstGeom>
          <a:noFill/>
          <a:ln/>
        </p:spPr>
        <p:txBody>
          <a:bodyPr wrap="non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Stories</a:t>
            </a:r>
            <a:endParaRPr lang="en-US" sz="516" dirty="0"/>
          </a:p>
        </p:txBody>
      </p:sp>
      <p:sp>
        <p:nvSpPr>
          <p:cNvPr id="120" name="Text 116"/>
          <p:cNvSpPr/>
          <p:nvPr/>
        </p:nvSpPr>
        <p:spPr>
          <a:xfrm>
            <a:off x="6893719" y="3390770"/>
            <a:ext cx="1850231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视觉美学驱动，Reels 算法与 TikTok 趋同；品牌合作变现成熟</a:t>
            </a:r>
            <a:endParaRPr lang="en-US" sz="568" dirty="0"/>
          </a:p>
        </p:txBody>
      </p:sp>
      <p:sp>
        <p:nvSpPr>
          <p:cNvPr id="121" name="Text 117"/>
          <p:cNvSpPr/>
          <p:nvPr/>
        </p:nvSpPr>
        <p:spPr>
          <a:xfrm>
            <a:off x="6893719" y="4372338"/>
            <a:ext cx="33039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API发布：</a:t>
            </a:r>
            <a:endParaRPr lang="en-US" sz="516" dirty="0"/>
          </a:p>
        </p:txBody>
      </p:sp>
      <p:sp>
        <p:nvSpPr>
          <p:cNvPr id="122" name="Shape 118"/>
          <p:cNvSpPr/>
          <p:nvPr/>
        </p:nvSpPr>
        <p:spPr>
          <a:xfrm>
            <a:off x="7266980" y="4356264"/>
            <a:ext cx="511866" cy="130373"/>
          </a:xfrm>
          <a:prstGeom prst="rect">
            <a:avLst/>
          </a:prstGeom>
          <a:solidFill>
            <a:srgbClr val="00D464">
              <a:alpha val="12000"/>
            </a:srgbClr>
          </a:solidFill>
          <a:ln w="9144">
            <a:solidFill>
              <a:srgbClr val="00D464">
                <a:alpha val="25000"/>
              </a:srgbClr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7266980" y="4356264"/>
            <a:ext cx="511866" cy="130373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D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API</a:t>
            </a:r>
            <a:endParaRPr lang="en-US" sz="485" dirty="0"/>
          </a:p>
        </p:txBody>
      </p:sp>
      <p:sp>
        <p:nvSpPr>
          <p:cNvPr id="124" name="Shape 120"/>
          <p:cNvSpPr/>
          <p:nvPr/>
        </p:nvSpPr>
        <p:spPr>
          <a:xfrm>
            <a:off x="285750" y="4686663"/>
            <a:ext cx="8572500" cy="45683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5" name="Shape 121"/>
          <p:cNvSpPr/>
          <p:nvPr/>
        </p:nvSpPr>
        <p:spPr>
          <a:xfrm>
            <a:off x="285750" y="4686663"/>
            <a:ext cx="8572500" cy="7144"/>
          </a:xfrm>
          <a:prstGeom prst="rect">
            <a:avLst/>
          </a:prstGeom>
          <a:solidFill>
            <a:srgbClr val="B3F2FF"/>
          </a:solidFill>
          <a:ln/>
        </p:spPr>
      </p:sp>
      <p:sp>
        <p:nvSpPr>
          <p:cNvPr id="126" name="Text 122"/>
          <p:cNvSpPr/>
          <p:nvPr/>
        </p:nvSpPr>
        <p:spPr>
          <a:xfrm>
            <a:off x="285750" y="4765244"/>
            <a:ext cx="857250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关键洞察：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大平台中仅微博、YouTube、Instagram 有完整开放发布 API；抖音、TikTok 仅限企业账号；小红书完全无开放接口。笔灵当前采用"辅助发布 + 剪贴板快捷"模式，规避合规风险。</a:t>
            </a:r>
            <a:endParaRPr lang="en-US" sz="584" dirty="0"/>
          </a:p>
        </p:txBody>
      </p:sp>
      <p:sp>
        <p:nvSpPr>
          <p:cNvPr id="127" name="Text 123"/>
          <p:cNvSpPr/>
          <p:nvPr/>
        </p:nvSpPr>
        <p:spPr>
          <a:xfrm>
            <a:off x="378619" y="4945261"/>
            <a:ext cx="27860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 API</a:t>
            </a:r>
            <a:endParaRPr lang="en-US" sz="516" dirty="0"/>
          </a:p>
        </p:txBody>
      </p:sp>
      <p:sp>
        <p:nvSpPr>
          <p:cNvPr id="128" name="Text 124"/>
          <p:cNvSpPr/>
          <p:nvPr/>
        </p:nvSpPr>
        <p:spPr>
          <a:xfrm>
            <a:off x="864394" y="4945261"/>
            <a:ext cx="49291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受限 / 企业专属</a:t>
            </a:r>
            <a:endParaRPr lang="en-US" sz="516" dirty="0"/>
          </a:p>
        </p:txBody>
      </p:sp>
      <p:sp>
        <p:nvSpPr>
          <p:cNvPr id="129" name="Text 125"/>
          <p:cNvSpPr/>
          <p:nvPr/>
        </p:nvSpPr>
        <p:spPr>
          <a:xfrm>
            <a:off x="1564481" y="4945261"/>
            <a:ext cx="35718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无开放接口</a:t>
            </a:r>
            <a:endParaRPr lang="en-US" sz="5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00025"/>
            <a:ext cx="9144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LANDSCAPE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0" y="353616"/>
            <a:ext cx="914400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四大赛道 14 个玩家的市场格局，笔灵的差异化机会区间</a:t>
            </a:r>
            <a:endParaRPr lang="en-US" sz="1397" dirty="0"/>
          </a:p>
        </p:txBody>
      </p:sp>
      <p:sp>
        <p:nvSpPr>
          <p:cNvPr id="6" name="Shape 2"/>
          <p:cNvSpPr/>
          <p:nvPr/>
        </p:nvSpPr>
        <p:spPr>
          <a:xfrm>
            <a:off x="285750" y="751880"/>
            <a:ext cx="2057400" cy="410766"/>
          </a:xfrm>
          <a:prstGeom prst="rect">
            <a:avLst/>
          </a:prstGeom>
          <a:solidFill>
            <a:srgbClr val="00D4FF">
              <a:alpha val="8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85763" y="823317"/>
            <a:ext cx="1857375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01</a:t>
            </a:r>
            <a:endParaRPr lang="en-US" sz="516" dirty="0"/>
          </a:p>
        </p:txBody>
      </p:sp>
      <p:sp>
        <p:nvSpPr>
          <p:cNvPr id="8" name="Text 4"/>
          <p:cNvSpPr/>
          <p:nvPr/>
        </p:nvSpPr>
        <p:spPr>
          <a:xfrm>
            <a:off x="385763" y="932259"/>
            <a:ext cx="18573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文案 / 内容创作</a:t>
            </a:r>
            <a:endParaRPr lang="en-US" sz="734" dirty="0"/>
          </a:p>
        </p:txBody>
      </p:sp>
      <p:sp>
        <p:nvSpPr>
          <p:cNvPr id="9" name="Shape 5"/>
          <p:cNvSpPr/>
          <p:nvPr/>
        </p:nvSpPr>
        <p:spPr>
          <a:xfrm>
            <a:off x="285750" y="1205508"/>
            <a:ext cx="2057400" cy="101321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85763" y="1276945"/>
            <a:ext cx="18573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Jasper AI</a:t>
            </a:r>
            <a:endParaRPr lang="en-US" sz="683" dirty="0"/>
          </a:p>
        </p:txBody>
      </p:sp>
      <p:sp>
        <p:nvSpPr>
          <p:cNvPr id="11" name="Shape 7"/>
          <p:cNvSpPr/>
          <p:nvPr/>
        </p:nvSpPr>
        <p:spPr>
          <a:xfrm>
            <a:off x="385763" y="1451967"/>
            <a:ext cx="364694" cy="13037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85763" y="1451967"/>
            <a:ext cx="364694" cy="130373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</a:t>
            </a:r>
            <a:endParaRPr lang="en-US" sz="516" dirty="0"/>
          </a:p>
        </p:txBody>
      </p:sp>
      <p:sp>
        <p:nvSpPr>
          <p:cNvPr id="13" name="Text 9"/>
          <p:cNvSpPr/>
          <p:nvPr/>
        </p:nvSpPr>
        <p:spPr>
          <a:xfrm>
            <a:off x="385763" y="1610916"/>
            <a:ext cx="1857375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长文案生成，企业级定价，缺乏社媒分发与视频能力</a:t>
            </a:r>
            <a:endParaRPr lang="en-US" sz="568" dirty="0"/>
          </a:p>
        </p:txBody>
      </p:sp>
      <p:sp>
        <p:nvSpPr>
          <p:cNvPr id="14" name="Shape 10"/>
          <p:cNvSpPr/>
          <p:nvPr/>
        </p:nvSpPr>
        <p:spPr>
          <a:xfrm>
            <a:off x="285750" y="2266355"/>
            <a:ext cx="2057400" cy="1017984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85763" y="2342564"/>
            <a:ext cx="18573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Copy.ai</a:t>
            </a:r>
            <a:endParaRPr lang="en-US" sz="683" dirty="0"/>
          </a:p>
        </p:txBody>
      </p:sp>
      <p:sp>
        <p:nvSpPr>
          <p:cNvPr id="16" name="Shape 12"/>
          <p:cNvSpPr/>
          <p:nvPr/>
        </p:nvSpPr>
        <p:spPr>
          <a:xfrm>
            <a:off x="385763" y="2517586"/>
            <a:ext cx="364694" cy="13037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5763" y="2517586"/>
            <a:ext cx="364694" cy="130373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</a:t>
            </a:r>
            <a:endParaRPr lang="en-US" sz="516" dirty="0"/>
          </a:p>
        </p:txBody>
      </p:sp>
      <p:sp>
        <p:nvSpPr>
          <p:cNvPr id="18" name="Text 14"/>
          <p:cNvSpPr/>
          <p:nvPr/>
        </p:nvSpPr>
        <p:spPr>
          <a:xfrm>
            <a:off x="385763" y="2676534"/>
            <a:ext cx="1857375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营销文案自动化，工作流强，无热点数据与视频模块</a:t>
            </a:r>
            <a:endParaRPr lang="en-US" sz="568" dirty="0"/>
          </a:p>
        </p:txBody>
      </p:sp>
      <p:sp>
        <p:nvSpPr>
          <p:cNvPr id="19" name="Shape 15"/>
          <p:cNvSpPr/>
          <p:nvPr/>
        </p:nvSpPr>
        <p:spPr>
          <a:xfrm>
            <a:off x="285750" y="3336745"/>
            <a:ext cx="2057400" cy="1022756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85763" y="3417670"/>
            <a:ext cx="1857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秘塔写作猫</a:t>
            </a:r>
            <a:endParaRPr lang="en-US" sz="683" dirty="0"/>
          </a:p>
        </p:txBody>
      </p:sp>
      <p:sp>
        <p:nvSpPr>
          <p:cNvPr id="21" name="Shape 17"/>
          <p:cNvSpPr/>
          <p:nvPr/>
        </p:nvSpPr>
        <p:spPr>
          <a:xfrm>
            <a:off x="385763" y="3598050"/>
            <a:ext cx="268616" cy="141089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5763" y="3598050"/>
            <a:ext cx="268616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</a:t>
            </a:r>
            <a:endParaRPr lang="en-US" sz="516" dirty="0"/>
          </a:p>
        </p:txBody>
      </p:sp>
      <p:sp>
        <p:nvSpPr>
          <p:cNvPr id="23" name="Text 19"/>
          <p:cNvSpPr/>
          <p:nvPr/>
        </p:nvSpPr>
        <p:spPr>
          <a:xfrm>
            <a:off x="385763" y="3767714"/>
            <a:ext cx="1857375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中文写作辅助，缺乏跨平台分发与 AI 视频能力</a:t>
            </a:r>
            <a:endParaRPr lang="en-US" sz="568" dirty="0"/>
          </a:p>
        </p:txBody>
      </p:sp>
      <p:sp>
        <p:nvSpPr>
          <p:cNvPr id="24" name="Shape 20"/>
          <p:cNvSpPr/>
          <p:nvPr/>
        </p:nvSpPr>
        <p:spPr>
          <a:xfrm>
            <a:off x="2457450" y="751880"/>
            <a:ext cx="2057400" cy="410766"/>
          </a:xfrm>
          <a:prstGeom prst="rect">
            <a:avLst/>
          </a:prstGeom>
          <a:solidFill>
            <a:srgbClr val="00D4FF">
              <a:alpha val="8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57463" y="823317"/>
            <a:ext cx="1857375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02</a:t>
            </a:r>
            <a:endParaRPr lang="en-US" sz="516" dirty="0"/>
          </a:p>
        </p:txBody>
      </p:sp>
      <p:sp>
        <p:nvSpPr>
          <p:cNvPr id="26" name="Text 22"/>
          <p:cNvSpPr/>
          <p:nvPr/>
        </p:nvSpPr>
        <p:spPr>
          <a:xfrm>
            <a:off x="2557463" y="932259"/>
            <a:ext cx="18573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社媒管理 / 调度</a:t>
            </a:r>
            <a:endParaRPr lang="en-US" sz="734" dirty="0"/>
          </a:p>
        </p:txBody>
      </p:sp>
      <p:sp>
        <p:nvSpPr>
          <p:cNvPr id="27" name="Shape 23"/>
          <p:cNvSpPr/>
          <p:nvPr/>
        </p:nvSpPr>
        <p:spPr>
          <a:xfrm>
            <a:off x="2457450" y="1205508"/>
            <a:ext cx="2057400" cy="101321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557463" y="1276945"/>
            <a:ext cx="18573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Hootsuite</a:t>
            </a:r>
            <a:endParaRPr lang="en-US" sz="683" dirty="0"/>
          </a:p>
        </p:txBody>
      </p:sp>
      <p:sp>
        <p:nvSpPr>
          <p:cNvPr id="29" name="Shape 25"/>
          <p:cNvSpPr/>
          <p:nvPr/>
        </p:nvSpPr>
        <p:spPr>
          <a:xfrm>
            <a:off x="2557463" y="1451967"/>
            <a:ext cx="364694" cy="13037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557463" y="1451967"/>
            <a:ext cx="364694" cy="130373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</a:t>
            </a:r>
            <a:endParaRPr lang="en-US" sz="516" dirty="0"/>
          </a:p>
        </p:txBody>
      </p:sp>
      <p:sp>
        <p:nvSpPr>
          <p:cNvPr id="31" name="Text 27"/>
          <p:cNvSpPr/>
          <p:nvPr/>
        </p:nvSpPr>
        <p:spPr>
          <a:xfrm>
            <a:off x="2557463" y="1610916"/>
            <a:ext cx="1857375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多平台调度老牌工具，AI 内容生成能力弱，不支持中国平台</a:t>
            </a:r>
            <a:endParaRPr lang="en-US" sz="568" dirty="0"/>
          </a:p>
        </p:txBody>
      </p:sp>
      <p:sp>
        <p:nvSpPr>
          <p:cNvPr id="32" name="Shape 28"/>
          <p:cNvSpPr/>
          <p:nvPr/>
        </p:nvSpPr>
        <p:spPr>
          <a:xfrm>
            <a:off x="2457450" y="2266355"/>
            <a:ext cx="2057400" cy="1017984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557463" y="2342564"/>
            <a:ext cx="18573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Buffer</a:t>
            </a:r>
            <a:endParaRPr lang="en-US" sz="683" dirty="0"/>
          </a:p>
        </p:txBody>
      </p:sp>
      <p:sp>
        <p:nvSpPr>
          <p:cNvPr id="34" name="Shape 30"/>
          <p:cNvSpPr/>
          <p:nvPr/>
        </p:nvSpPr>
        <p:spPr>
          <a:xfrm>
            <a:off x="2557463" y="2517586"/>
            <a:ext cx="364694" cy="13037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557463" y="2517586"/>
            <a:ext cx="364694" cy="130373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</a:t>
            </a:r>
            <a:endParaRPr lang="en-US" sz="516" dirty="0"/>
          </a:p>
        </p:txBody>
      </p:sp>
      <p:sp>
        <p:nvSpPr>
          <p:cNvPr id="36" name="Text 32"/>
          <p:cNvSpPr/>
          <p:nvPr/>
        </p:nvSpPr>
        <p:spPr>
          <a:xfrm>
            <a:off x="2557463" y="2676534"/>
            <a:ext cx="1857375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轻量级调度工具，无 AI 视频、无热点分析、无中国平台</a:t>
            </a:r>
            <a:endParaRPr lang="en-US" sz="568" dirty="0"/>
          </a:p>
        </p:txBody>
      </p:sp>
      <p:sp>
        <p:nvSpPr>
          <p:cNvPr id="37" name="Shape 33"/>
          <p:cNvSpPr/>
          <p:nvPr/>
        </p:nvSpPr>
        <p:spPr>
          <a:xfrm>
            <a:off x="2457450" y="3336745"/>
            <a:ext cx="2057400" cy="1022756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557463" y="3417670"/>
            <a:ext cx="1857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科普拉</a:t>
            </a:r>
            <a:endParaRPr lang="en-US" sz="683" dirty="0"/>
          </a:p>
        </p:txBody>
      </p:sp>
      <p:sp>
        <p:nvSpPr>
          <p:cNvPr id="39" name="Shape 35"/>
          <p:cNvSpPr/>
          <p:nvPr/>
        </p:nvSpPr>
        <p:spPr>
          <a:xfrm>
            <a:off x="2557463" y="3598050"/>
            <a:ext cx="268616" cy="141089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557463" y="3598050"/>
            <a:ext cx="268616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</a:t>
            </a:r>
            <a:endParaRPr lang="en-US" sz="516" dirty="0"/>
          </a:p>
        </p:txBody>
      </p:sp>
      <p:sp>
        <p:nvSpPr>
          <p:cNvPr id="41" name="Text 37"/>
          <p:cNvSpPr/>
          <p:nvPr/>
        </p:nvSpPr>
        <p:spPr>
          <a:xfrm>
            <a:off x="2557463" y="3767714"/>
            <a:ext cx="1857375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国内社媒管理，内容生成能力有限，视频功能缺失</a:t>
            </a:r>
            <a:endParaRPr lang="en-US" sz="568" dirty="0"/>
          </a:p>
        </p:txBody>
      </p:sp>
      <p:sp>
        <p:nvSpPr>
          <p:cNvPr id="42" name="Shape 38"/>
          <p:cNvSpPr/>
          <p:nvPr/>
        </p:nvSpPr>
        <p:spPr>
          <a:xfrm>
            <a:off x="4629150" y="751880"/>
            <a:ext cx="2057400" cy="410766"/>
          </a:xfrm>
          <a:prstGeom prst="rect">
            <a:avLst/>
          </a:prstGeom>
          <a:solidFill>
            <a:srgbClr val="00D4FF">
              <a:alpha val="8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729163" y="823317"/>
            <a:ext cx="1857375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03</a:t>
            </a:r>
            <a:endParaRPr lang="en-US" sz="516" dirty="0"/>
          </a:p>
        </p:txBody>
      </p:sp>
      <p:sp>
        <p:nvSpPr>
          <p:cNvPr id="44" name="Text 40"/>
          <p:cNvSpPr/>
          <p:nvPr/>
        </p:nvSpPr>
        <p:spPr>
          <a:xfrm>
            <a:off x="4729163" y="932259"/>
            <a:ext cx="18573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视频生成 / 剪辑</a:t>
            </a:r>
            <a:endParaRPr lang="en-US" sz="734" dirty="0"/>
          </a:p>
        </p:txBody>
      </p:sp>
      <p:sp>
        <p:nvSpPr>
          <p:cNvPr id="45" name="Shape 41"/>
          <p:cNvSpPr/>
          <p:nvPr/>
        </p:nvSpPr>
        <p:spPr>
          <a:xfrm>
            <a:off x="4629150" y="1205508"/>
            <a:ext cx="2057400" cy="101321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729163" y="1276945"/>
            <a:ext cx="18573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Opus Clip</a:t>
            </a:r>
            <a:endParaRPr lang="en-US" sz="683" dirty="0"/>
          </a:p>
        </p:txBody>
      </p:sp>
      <p:sp>
        <p:nvSpPr>
          <p:cNvPr id="47" name="Shape 43"/>
          <p:cNvSpPr/>
          <p:nvPr/>
        </p:nvSpPr>
        <p:spPr>
          <a:xfrm>
            <a:off x="4729163" y="1451967"/>
            <a:ext cx="339328" cy="130373"/>
          </a:xfrm>
          <a:prstGeom prst="rect">
            <a:avLst/>
          </a:prstGeom>
          <a:solidFill>
            <a:srgbClr val="06B6D4">
              <a:alpha val="10000"/>
            </a:srgbClr>
          </a:solidFill>
          <a:ln w="9144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729163" y="1451967"/>
            <a:ext cx="339328" cy="130373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</a:t>
            </a:r>
            <a:endParaRPr lang="en-US" sz="516" dirty="0"/>
          </a:p>
        </p:txBody>
      </p:sp>
      <p:sp>
        <p:nvSpPr>
          <p:cNvPr id="49" name="Text 45"/>
          <p:cNvSpPr/>
          <p:nvPr/>
        </p:nvSpPr>
        <p:spPr>
          <a:xfrm>
            <a:off x="4729163" y="1610916"/>
            <a:ext cx="1857375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长视频切片工具，无文案生成、无热点数据、无分发功能</a:t>
            </a:r>
            <a:endParaRPr lang="en-US" sz="568" dirty="0"/>
          </a:p>
        </p:txBody>
      </p:sp>
      <p:sp>
        <p:nvSpPr>
          <p:cNvPr id="50" name="Shape 46"/>
          <p:cNvSpPr/>
          <p:nvPr/>
        </p:nvSpPr>
        <p:spPr>
          <a:xfrm>
            <a:off x="4629150" y="2266355"/>
            <a:ext cx="2057400" cy="1017984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729163" y="2342564"/>
            <a:ext cx="18573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HeyGen</a:t>
            </a:r>
            <a:endParaRPr lang="en-US" sz="683" dirty="0"/>
          </a:p>
        </p:txBody>
      </p:sp>
      <p:sp>
        <p:nvSpPr>
          <p:cNvPr id="52" name="Shape 48"/>
          <p:cNvSpPr/>
          <p:nvPr/>
        </p:nvSpPr>
        <p:spPr>
          <a:xfrm>
            <a:off x="4729163" y="2517586"/>
            <a:ext cx="339328" cy="130373"/>
          </a:xfrm>
          <a:prstGeom prst="rect">
            <a:avLst/>
          </a:prstGeom>
          <a:solidFill>
            <a:srgbClr val="06B6D4">
              <a:alpha val="10000"/>
            </a:srgbClr>
          </a:solidFill>
          <a:ln w="9144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729163" y="2517586"/>
            <a:ext cx="339328" cy="130373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</a:t>
            </a:r>
            <a:endParaRPr lang="en-US" sz="516" dirty="0"/>
          </a:p>
        </p:txBody>
      </p:sp>
      <p:sp>
        <p:nvSpPr>
          <p:cNvPr id="54" name="Text 50"/>
          <p:cNvSpPr/>
          <p:nvPr/>
        </p:nvSpPr>
        <p:spPr>
          <a:xfrm>
            <a:off x="4729163" y="2676534"/>
            <a:ext cx="1857375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数字人视频，高质量但价格昂贵，无内容策略与分发</a:t>
            </a:r>
            <a:endParaRPr lang="en-US" sz="568" dirty="0"/>
          </a:p>
        </p:txBody>
      </p:sp>
      <p:sp>
        <p:nvSpPr>
          <p:cNvPr id="55" name="Shape 51"/>
          <p:cNvSpPr/>
          <p:nvPr/>
        </p:nvSpPr>
        <p:spPr>
          <a:xfrm>
            <a:off x="4629150" y="3336745"/>
            <a:ext cx="2057400" cy="1022756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729163" y="3417670"/>
            <a:ext cx="1857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剪映 AI</a:t>
            </a:r>
            <a:endParaRPr lang="en-US" sz="683" dirty="0"/>
          </a:p>
        </p:txBody>
      </p:sp>
      <p:sp>
        <p:nvSpPr>
          <p:cNvPr id="57" name="Shape 53"/>
          <p:cNvSpPr/>
          <p:nvPr/>
        </p:nvSpPr>
        <p:spPr>
          <a:xfrm>
            <a:off x="4729163" y="3598050"/>
            <a:ext cx="268616" cy="141089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729163" y="3598050"/>
            <a:ext cx="268616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</a:t>
            </a:r>
            <a:endParaRPr lang="en-US" sz="516" dirty="0"/>
          </a:p>
        </p:txBody>
      </p:sp>
      <p:sp>
        <p:nvSpPr>
          <p:cNvPr id="59" name="Text 55"/>
          <p:cNvSpPr/>
          <p:nvPr/>
        </p:nvSpPr>
        <p:spPr>
          <a:xfrm>
            <a:off x="4729163" y="3767714"/>
            <a:ext cx="1857375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字节系视频剪辑，无文案策略与热点洞察，数据封闭</a:t>
            </a:r>
            <a:endParaRPr lang="en-US" sz="568" dirty="0"/>
          </a:p>
        </p:txBody>
      </p:sp>
      <p:sp>
        <p:nvSpPr>
          <p:cNvPr id="60" name="Shape 56"/>
          <p:cNvSpPr/>
          <p:nvPr/>
        </p:nvSpPr>
        <p:spPr>
          <a:xfrm>
            <a:off x="6800850" y="751880"/>
            <a:ext cx="2057400" cy="410766"/>
          </a:xfrm>
          <a:prstGeom prst="rect">
            <a:avLst/>
          </a:prstGeom>
          <a:solidFill>
            <a:srgbClr val="00D4FF">
              <a:alpha val="8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900863" y="823317"/>
            <a:ext cx="1857375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04</a:t>
            </a:r>
            <a:endParaRPr lang="en-US" sz="516" dirty="0"/>
          </a:p>
        </p:txBody>
      </p:sp>
      <p:sp>
        <p:nvSpPr>
          <p:cNvPr id="62" name="Text 58"/>
          <p:cNvSpPr/>
          <p:nvPr/>
        </p:nvSpPr>
        <p:spPr>
          <a:xfrm>
            <a:off x="6900863" y="932259"/>
            <a:ext cx="18573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中国本土全链路工具</a:t>
            </a:r>
            <a:endParaRPr lang="en-US" sz="734" dirty="0"/>
          </a:p>
        </p:txBody>
      </p:sp>
      <p:sp>
        <p:nvSpPr>
          <p:cNvPr id="63" name="Shape 59"/>
          <p:cNvSpPr/>
          <p:nvPr/>
        </p:nvSpPr>
        <p:spPr>
          <a:xfrm>
            <a:off x="6800850" y="1205508"/>
            <a:ext cx="2057400" cy="101321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6900863" y="1276945"/>
            <a:ext cx="1857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新榜 / 飞瓜数据</a:t>
            </a:r>
            <a:endParaRPr lang="en-US" sz="683" dirty="0"/>
          </a:p>
        </p:txBody>
      </p:sp>
      <p:sp>
        <p:nvSpPr>
          <p:cNvPr id="65" name="Shape 61"/>
          <p:cNvSpPr/>
          <p:nvPr/>
        </p:nvSpPr>
        <p:spPr>
          <a:xfrm>
            <a:off x="6900863" y="1457325"/>
            <a:ext cx="268616" cy="141089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900863" y="1457325"/>
            <a:ext cx="268616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</a:t>
            </a:r>
            <a:endParaRPr lang="en-US" sz="516" dirty="0"/>
          </a:p>
        </p:txBody>
      </p:sp>
      <p:sp>
        <p:nvSpPr>
          <p:cNvPr id="67" name="Text 63"/>
          <p:cNvSpPr/>
          <p:nvPr/>
        </p:nvSpPr>
        <p:spPr>
          <a:xfrm>
            <a:off x="6900863" y="1626989"/>
            <a:ext cx="1857375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数据分析强，内容生成与 AI 视频能力弱，无分发功能</a:t>
            </a:r>
            <a:endParaRPr lang="en-US" sz="568" dirty="0"/>
          </a:p>
        </p:txBody>
      </p:sp>
      <p:sp>
        <p:nvSpPr>
          <p:cNvPr id="68" name="Shape 64"/>
          <p:cNvSpPr/>
          <p:nvPr/>
        </p:nvSpPr>
        <p:spPr>
          <a:xfrm>
            <a:off x="6800850" y="2266355"/>
            <a:ext cx="2057400" cy="1017984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6900863" y="2342564"/>
            <a:ext cx="1857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蚁小二</a:t>
            </a:r>
            <a:endParaRPr lang="en-US" sz="683" dirty="0"/>
          </a:p>
        </p:txBody>
      </p:sp>
      <p:sp>
        <p:nvSpPr>
          <p:cNvPr id="70" name="Shape 66"/>
          <p:cNvSpPr/>
          <p:nvPr/>
        </p:nvSpPr>
        <p:spPr>
          <a:xfrm>
            <a:off x="6900863" y="2522944"/>
            <a:ext cx="268616" cy="141089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900863" y="2522944"/>
            <a:ext cx="268616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</a:t>
            </a:r>
            <a:endParaRPr lang="en-US" sz="516" dirty="0"/>
          </a:p>
        </p:txBody>
      </p:sp>
      <p:sp>
        <p:nvSpPr>
          <p:cNvPr id="72" name="Text 68"/>
          <p:cNvSpPr/>
          <p:nvPr/>
        </p:nvSpPr>
        <p:spPr>
          <a:xfrm>
            <a:off x="6900863" y="2692608"/>
            <a:ext cx="1857375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多账号管理，AI 生成能力有限，视频功能缺失</a:t>
            </a:r>
            <a:endParaRPr lang="en-US" sz="568" dirty="0"/>
          </a:p>
        </p:txBody>
      </p:sp>
      <p:sp>
        <p:nvSpPr>
          <p:cNvPr id="73" name="Shape 69"/>
          <p:cNvSpPr/>
          <p:nvPr/>
        </p:nvSpPr>
        <p:spPr>
          <a:xfrm>
            <a:off x="6800850" y="3336745"/>
            <a:ext cx="2057400" cy="1022756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6900863" y="3417670"/>
            <a:ext cx="1857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万兴喵影</a:t>
            </a:r>
            <a:endParaRPr lang="en-US" sz="683" dirty="0"/>
          </a:p>
        </p:txBody>
      </p:sp>
      <p:sp>
        <p:nvSpPr>
          <p:cNvPr id="75" name="Shape 71"/>
          <p:cNvSpPr/>
          <p:nvPr/>
        </p:nvSpPr>
        <p:spPr>
          <a:xfrm>
            <a:off x="6900863" y="3598050"/>
            <a:ext cx="268616" cy="141089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6900863" y="3598050"/>
            <a:ext cx="268616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</a:t>
            </a:r>
            <a:endParaRPr lang="en-US" sz="516" dirty="0"/>
          </a:p>
        </p:txBody>
      </p:sp>
      <p:sp>
        <p:nvSpPr>
          <p:cNvPr id="77" name="Text 73"/>
          <p:cNvSpPr/>
          <p:nvPr/>
        </p:nvSpPr>
        <p:spPr>
          <a:xfrm>
            <a:off x="6900863" y="3767714"/>
            <a:ext cx="1857375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视频剪辑工具，缺乏热点数据与内容策略整合</a:t>
            </a:r>
            <a:endParaRPr lang="en-US" sz="568" dirty="0"/>
          </a:p>
        </p:txBody>
      </p:sp>
      <p:sp>
        <p:nvSpPr>
          <p:cNvPr id="78" name="Shape 74"/>
          <p:cNvSpPr/>
          <p:nvPr/>
        </p:nvSpPr>
        <p:spPr>
          <a:xfrm>
            <a:off x="285750" y="4459486"/>
            <a:ext cx="8572500" cy="442913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428625" y="4638973"/>
            <a:ext cx="48864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笔灵机会区间</a:t>
            </a:r>
            <a:endParaRPr lang="en-US" sz="516" dirty="0"/>
          </a:p>
        </p:txBody>
      </p:sp>
      <p:sp>
        <p:nvSpPr>
          <p:cNvPr id="80" name="Text 76"/>
          <p:cNvSpPr/>
          <p:nvPr/>
        </p:nvSpPr>
        <p:spPr>
          <a:xfrm>
            <a:off x="1152823" y="4559498"/>
            <a:ext cx="756255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空白地带：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现有工具均在单一维度发力——文案、调度、视频或数据各自为战。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笔灵是唯一将热点洞察 + AI文案 + AI视频生成 + 多平台分发整合为全链路闭环的中文工具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，直接覆盖中国五大主流社媒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平台。</a:t>
            </a:r>
            <a:endParaRPr lang="en-US" sz="584" dirty="0"/>
          </a:p>
        </p:txBody>
      </p:sp>
      <p:sp>
        <p:nvSpPr>
          <p:cNvPr id="81" name="Text 77"/>
          <p:cNvSpPr/>
          <p:nvPr/>
        </p:nvSpPr>
        <p:spPr>
          <a:xfrm>
            <a:off x="285750" y="4959548"/>
            <a:ext cx="8572500" cy="183952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数据来源：公开产品信息、App Store 评分、G2 Crowd、各平台官网 2025–2026</a:t>
            </a:r>
            <a:endParaRPr lang="en-US" sz="51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00025"/>
            <a:ext cx="9144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BENCHMARK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0" y="353616"/>
            <a:ext cx="914400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笔灵 vs 全球主流竞品：全链路能力是核心差异化</a:t>
            </a:r>
            <a:endParaRPr lang="en-US" sz="1397" dirty="0"/>
          </a:p>
        </p:txBody>
      </p:sp>
      <p:sp>
        <p:nvSpPr>
          <p:cNvPr id="6" name="Shape 2"/>
          <p:cNvSpPr/>
          <p:nvPr/>
        </p:nvSpPr>
        <p:spPr>
          <a:xfrm>
            <a:off x="285750" y="751880"/>
            <a:ext cx="8568928" cy="369689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3"/>
          <p:cNvSpPr/>
          <p:nvPr/>
        </p:nvSpPr>
        <p:spPr>
          <a:xfrm>
            <a:off x="285750" y="751880"/>
            <a:ext cx="1428750" cy="369689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能力维度</a:t>
            </a:r>
            <a:endParaRPr lang="en-US" sz="584" dirty="0"/>
          </a:p>
        </p:txBody>
      </p:sp>
      <p:sp>
        <p:nvSpPr>
          <p:cNvPr id="8" name="Text 4"/>
          <p:cNvSpPr/>
          <p:nvPr/>
        </p:nvSpPr>
        <p:spPr>
          <a:xfrm>
            <a:off x="2187634" y="827782"/>
            <a:ext cx="35769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JASPER</a:t>
            </a:r>
            <a:endParaRPr lang="en-US" sz="584" dirty="0"/>
          </a:p>
        </p:txBody>
      </p:sp>
      <p:sp>
        <p:nvSpPr>
          <p:cNvPr id="9" name="Text 5"/>
          <p:cNvSpPr/>
          <p:nvPr/>
        </p:nvSpPr>
        <p:spPr>
          <a:xfrm>
            <a:off x="2173346" y="947440"/>
            <a:ext cx="386265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AI文案工具</a:t>
            </a:r>
            <a:endParaRPr lang="en-US" sz="516" dirty="0"/>
          </a:p>
        </p:txBody>
      </p:sp>
      <p:sp>
        <p:nvSpPr>
          <p:cNvPr id="10" name="Text 6"/>
          <p:cNvSpPr/>
          <p:nvPr/>
        </p:nvSpPr>
        <p:spPr>
          <a:xfrm>
            <a:off x="3575335" y="827782"/>
            <a:ext cx="546357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HOOTSUITE</a:t>
            </a:r>
            <a:endParaRPr lang="en-US" sz="584" dirty="0"/>
          </a:p>
        </p:txBody>
      </p:sp>
      <p:sp>
        <p:nvSpPr>
          <p:cNvPr id="11" name="Text 7"/>
          <p:cNvSpPr/>
          <p:nvPr/>
        </p:nvSpPr>
        <p:spPr>
          <a:xfrm>
            <a:off x="3695328" y="947440"/>
            <a:ext cx="306344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社媒管理</a:t>
            </a:r>
            <a:endParaRPr lang="en-US" sz="516" dirty="0"/>
          </a:p>
        </p:txBody>
      </p:sp>
      <p:sp>
        <p:nvSpPr>
          <p:cNvPr id="12" name="Text 8"/>
          <p:cNvSpPr/>
          <p:nvPr/>
        </p:nvSpPr>
        <p:spPr>
          <a:xfrm>
            <a:off x="5206957" y="827782"/>
            <a:ext cx="49992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OPUS CLIP</a:t>
            </a:r>
            <a:endParaRPr lang="en-US" sz="584" dirty="0"/>
          </a:p>
        </p:txBody>
      </p:sp>
      <p:sp>
        <p:nvSpPr>
          <p:cNvPr id="13" name="Text 9"/>
          <p:cNvSpPr/>
          <p:nvPr/>
        </p:nvSpPr>
        <p:spPr>
          <a:xfrm>
            <a:off x="5303760" y="947440"/>
            <a:ext cx="306344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视频剪辑</a:t>
            </a:r>
            <a:endParaRPr lang="en-US" sz="516" dirty="0"/>
          </a:p>
        </p:txBody>
      </p:sp>
      <p:sp>
        <p:nvSpPr>
          <p:cNvPr id="14" name="Text 10"/>
          <p:cNvSpPr/>
          <p:nvPr/>
        </p:nvSpPr>
        <p:spPr>
          <a:xfrm>
            <a:off x="6796078" y="825103"/>
            <a:ext cx="181747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科握</a:t>
            </a: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6733766" y="951905"/>
            <a:ext cx="306344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国内竞品</a:t>
            </a:r>
            <a:endParaRPr lang="en-US" sz="516" dirty="0"/>
          </a:p>
        </p:txBody>
      </p:sp>
      <p:sp>
        <p:nvSpPr>
          <p:cNvPr id="16" name="Shape 12"/>
          <p:cNvSpPr/>
          <p:nvPr/>
        </p:nvSpPr>
        <p:spPr>
          <a:xfrm>
            <a:off x="7542154" y="751880"/>
            <a:ext cx="1312525" cy="369689"/>
          </a:xfrm>
          <a:prstGeom prst="rect">
            <a:avLst/>
          </a:prstGeom>
          <a:solidFill>
            <a:srgbClr val="00D4FF">
              <a:alpha val="6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8847534" y="751880"/>
            <a:ext cx="7144" cy="369689"/>
          </a:xfrm>
          <a:prstGeom prst="rect">
            <a:avLst/>
          </a:prstGeom>
          <a:solidFill>
            <a:srgbClr val="CCF6FF"/>
          </a:solidFill>
          <a:ln/>
        </p:spPr>
      </p:sp>
      <p:sp>
        <p:nvSpPr>
          <p:cNvPr id="18" name="Shape 14"/>
          <p:cNvSpPr/>
          <p:nvPr/>
        </p:nvSpPr>
        <p:spPr>
          <a:xfrm>
            <a:off x="7542154" y="1114425"/>
            <a:ext cx="1312525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7542154" y="751880"/>
            <a:ext cx="7144" cy="369689"/>
          </a:xfrm>
          <a:prstGeom prst="rect">
            <a:avLst/>
          </a:prstGeom>
          <a:solidFill>
            <a:srgbClr val="CCF6FF"/>
          </a:solidFill>
          <a:ln/>
        </p:spPr>
      </p:sp>
      <p:sp>
        <p:nvSpPr>
          <p:cNvPr id="20" name="Text 16"/>
          <p:cNvSpPr/>
          <p:nvPr/>
        </p:nvSpPr>
        <p:spPr>
          <a:xfrm>
            <a:off x="8114044" y="826889"/>
            <a:ext cx="181747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笔灵</a:t>
            </a:r>
            <a:endParaRPr lang="en-US" sz="584" dirty="0"/>
          </a:p>
        </p:txBody>
      </p:sp>
      <p:sp>
        <p:nvSpPr>
          <p:cNvPr id="21" name="Text 17"/>
          <p:cNvSpPr/>
          <p:nvPr/>
        </p:nvSpPr>
        <p:spPr>
          <a:xfrm>
            <a:off x="8013474" y="953691"/>
            <a:ext cx="38291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全链路平台</a:t>
            </a:r>
            <a:endParaRPr lang="en-US" sz="516" dirty="0"/>
          </a:p>
        </p:txBody>
      </p:sp>
      <p:sp>
        <p:nvSpPr>
          <p:cNvPr id="22" name="Text 18"/>
          <p:cNvSpPr/>
          <p:nvPr/>
        </p:nvSpPr>
        <p:spPr>
          <a:xfrm>
            <a:off x="385763" y="1194792"/>
            <a:ext cx="51256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文案生成</a:t>
            </a:r>
            <a:endParaRPr lang="en-US" sz="634" dirty="0"/>
          </a:p>
        </p:txBody>
      </p:sp>
      <p:sp>
        <p:nvSpPr>
          <p:cNvPr id="23" name="Shape 19"/>
          <p:cNvSpPr/>
          <p:nvPr/>
        </p:nvSpPr>
        <p:spPr>
          <a:xfrm>
            <a:off x="941189" y="1202494"/>
            <a:ext cx="240041" cy="112514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941189" y="1202494"/>
            <a:ext cx="240041" cy="112514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</a:t>
            </a:r>
            <a:endParaRPr lang="en-US" sz="485" dirty="0"/>
          </a:p>
        </p:txBody>
      </p:sp>
      <p:sp>
        <p:nvSpPr>
          <p:cNvPr id="25" name="Text 21"/>
          <p:cNvSpPr/>
          <p:nvPr/>
        </p:nvSpPr>
        <p:spPr>
          <a:xfrm>
            <a:off x="2323281" y="1189434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80" dirty="0"/>
          </a:p>
        </p:txBody>
      </p:sp>
      <p:sp>
        <p:nvSpPr>
          <p:cNvPr id="26" name="Text 22"/>
          <p:cNvSpPr/>
          <p:nvPr/>
        </p:nvSpPr>
        <p:spPr>
          <a:xfrm>
            <a:off x="3767547" y="1200150"/>
            <a:ext cx="17145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部分</a:t>
            </a:r>
            <a:endParaRPr lang="en-US" sz="621" dirty="0"/>
          </a:p>
        </p:txBody>
      </p:sp>
      <p:sp>
        <p:nvSpPr>
          <p:cNvPr id="27" name="Text 23"/>
          <p:cNvSpPr/>
          <p:nvPr/>
        </p:nvSpPr>
        <p:spPr>
          <a:xfrm>
            <a:off x="5420627" y="1189434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28" name="Text 24"/>
          <p:cNvSpPr/>
          <p:nvPr/>
        </p:nvSpPr>
        <p:spPr>
          <a:xfrm>
            <a:off x="6853870" y="1189434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80" dirty="0"/>
          </a:p>
        </p:txBody>
      </p:sp>
      <p:sp>
        <p:nvSpPr>
          <p:cNvPr id="29" name="Shape 25"/>
          <p:cNvSpPr/>
          <p:nvPr/>
        </p:nvSpPr>
        <p:spPr>
          <a:xfrm>
            <a:off x="7555185" y="1121569"/>
            <a:ext cx="1299493" cy="264319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8847534" y="1121569"/>
            <a:ext cx="7144" cy="264319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1" name="Shape 27"/>
          <p:cNvSpPr/>
          <p:nvPr/>
        </p:nvSpPr>
        <p:spPr>
          <a:xfrm>
            <a:off x="7555185" y="1121569"/>
            <a:ext cx="7144" cy="264319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2" name="Text 28"/>
          <p:cNvSpPr/>
          <p:nvPr/>
        </p:nvSpPr>
        <p:spPr>
          <a:xfrm>
            <a:off x="8160283" y="1187648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34" dirty="0"/>
          </a:p>
        </p:txBody>
      </p:sp>
      <p:sp>
        <p:nvSpPr>
          <p:cNvPr id="33" name="Shape 29"/>
          <p:cNvSpPr/>
          <p:nvPr/>
        </p:nvSpPr>
        <p:spPr>
          <a:xfrm>
            <a:off x="285750" y="1385888"/>
            <a:ext cx="8568928" cy="2643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285750" y="1643063"/>
            <a:ext cx="8568928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1"/>
          <p:cNvSpPr/>
          <p:nvPr/>
        </p:nvSpPr>
        <p:spPr>
          <a:xfrm>
            <a:off x="285750" y="1385888"/>
            <a:ext cx="1428750" cy="260747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多平台格式适配</a:t>
            </a:r>
            <a:endParaRPr lang="en-US" sz="634" dirty="0"/>
          </a:p>
        </p:txBody>
      </p:sp>
      <p:sp>
        <p:nvSpPr>
          <p:cNvPr id="36" name="Text 32"/>
          <p:cNvSpPr/>
          <p:nvPr/>
        </p:nvSpPr>
        <p:spPr>
          <a:xfrm>
            <a:off x="2282205" y="1464469"/>
            <a:ext cx="17145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部分</a:t>
            </a:r>
            <a:endParaRPr lang="en-US" sz="621" dirty="0"/>
          </a:p>
        </p:txBody>
      </p:sp>
      <p:sp>
        <p:nvSpPr>
          <p:cNvPr id="37" name="Text 33"/>
          <p:cNvSpPr/>
          <p:nvPr/>
        </p:nvSpPr>
        <p:spPr>
          <a:xfrm>
            <a:off x="3808623" y="1453753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80" dirty="0"/>
          </a:p>
        </p:txBody>
      </p:sp>
      <p:sp>
        <p:nvSpPr>
          <p:cNvPr id="38" name="Text 34"/>
          <p:cNvSpPr/>
          <p:nvPr/>
        </p:nvSpPr>
        <p:spPr>
          <a:xfrm>
            <a:off x="5420627" y="1453753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39" name="Text 35"/>
          <p:cNvSpPr/>
          <p:nvPr/>
        </p:nvSpPr>
        <p:spPr>
          <a:xfrm>
            <a:off x="6812793" y="1464469"/>
            <a:ext cx="17145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部分</a:t>
            </a:r>
            <a:endParaRPr lang="en-US" sz="621" dirty="0"/>
          </a:p>
        </p:txBody>
      </p:sp>
      <p:sp>
        <p:nvSpPr>
          <p:cNvPr id="40" name="Shape 36"/>
          <p:cNvSpPr/>
          <p:nvPr/>
        </p:nvSpPr>
        <p:spPr>
          <a:xfrm>
            <a:off x="7555185" y="1385888"/>
            <a:ext cx="1299493" cy="260747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8847534" y="1385888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2" name="Shape 38"/>
          <p:cNvSpPr/>
          <p:nvPr/>
        </p:nvSpPr>
        <p:spPr>
          <a:xfrm>
            <a:off x="7555185" y="1385888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3" name="Text 39"/>
          <p:cNvSpPr/>
          <p:nvPr/>
        </p:nvSpPr>
        <p:spPr>
          <a:xfrm>
            <a:off x="8160283" y="1453753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34" dirty="0"/>
          </a:p>
        </p:txBody>
      </p:sp>
      <p:sp>
        <p:nvSpPr>
          <p:cNvPr id="44" name="Text 40"/>
          <p:cNvSpPr/>
          <p:nvPr/>
        </p:nvSpPr>
        <p:spPr>
          <a:xfrm>
            <a:off x="385763" y="1716286"/>
            <a:ext cx="51256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视频生成</a:t>
            </a:r>
            <a:endParaRPr lang="en-US" sz="634" dirty="0"/>
          </a:p>
        </p:txBody>
      </p:sp>
      <p:sp>
        <p:nvSpPr>
          <p:cNvPr id="45" name="Shape 41"/>
          <p:cNvSpPr/>
          <p:nvPr/>
        </p:nvSpPr>
        <p:spPr>
          <a:xfrm>
            <a:off x="941189" y="1723988"/>
            <a:ext cx="240041" cy="112514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46" name="Text 42"/>
          <p:cNvSpPr/>
          <p:nvPr/>
        </p:nvSpPr>
        <p:spPr>
          <a:xfrm>
            <a:off x="941189" y="1723988"/>
            <a:ext cx="240041" cy="112514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</a:t>
            </a:r>
            <a:endParaRPr lang="en-US" sz="485" dirty="0"/>
          </a:p>
        </p:txBody>
      </p:sp>
      <p:sp>
        <p:nvSpPr>
          <p:cNvPr id="47" name="Text 43"/>
          <p:cNvSpPr/>
          <p:nvPr/>
        </p:nvSpPr>
        <p:spPr>
          <a:xfrm>
            <a:off x="2323281" y="1710928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48" name="Text 44"/>
          <p:cNvSpPr/>
          <p:nvPr/>
        </p:nvSpPr>
        <p:spPr>
          <a:xfrm>
            <a:off x="3808623" y="1710928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49" name="Text 45"/>
          <p:cNvSpPr/>
          <p:nvPr/>
        </p:nvSpPr>
        <p:spPr>
          <a:xfrm>
            <a:off x="5293826" y="1721644"/>
            <a:ext cx="34290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剪辑为主</a:t>
            </a:r>
            <a:endParaRPr lang="en-US" sz="621" dirty="0"/>
          </a:p>
        </p:txBody>
      </p:sp>
      <p:sp>
        <p:nvSpPr>
          <p:cNvPr id="50" name="Text 46"/>
          <p:cNvSpPr/>
          <p:nvPr/>
        </p:nvSpPr>
        <p:spPr>
          <a:xfrm>
            <a:off x="6812793" y="1721644"/>
            <a:ext cx="17145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部分</a:t>
            </a:r>
            <a:endParaRPr lang="en-US" sz="621" dirty="0"/>
          </a:p>
        </p:txBody>
      </p:sp>
      <p:sp>
        <p:nvSpPr>
          <p:cNvPr id="51" name="Shape 47"/>
          <p:cNvSpPr/>
          <p:nvPr/>
        </p:nvSpPr>
        <p:spPr>
          <a:xfrm>
            <a:off x="7555185" y="1646634"/>
            <a:ext cx="1299493" cy="260747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52" name="Shape 48"/>
          <p:cNvSpPr/>
          <p:nvPr/>
        </p:nvSpPr>
        <p:spPr>
          <a:xfrm>
            <a:off x="8847534" y="1646634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53" name="Shape 49"/>
          <p:cNvSpPr/>
          <p:nvPr/>
        </p:nvSpPr>
        <p:spPr>
          <a:xfrm>
            <a:off x="7555185" y="1646634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54" name="Text 50"/>
          <p:cNvSpPr/>
          <p:nvPr/>
        </p:nvSpPr>
        <p:spPr>
          <a:xfrm>
            <a:off x="8160283" y="1710928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34" dirty="0"/>
          </a:p>
        </p:txBody>
      </p:sp>
      <p:sp>
        <p:nvSpPr>
          <p:cNvPr id="55" name="Shape 51"/>
          <p:cNvSpPr/>
          <p:nvPr/>
        </p:nvSpPr>
        <p:spPr>
          <a:xfrm>
            <a:off x="285750" y="1907381"/>
            <a:ext cx="8568928" cy="2643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6" name="Shape 52"/>
          <p:cNvSpPr/>
          <p:nvPr/>
        </p:nvSpPr>
        <p:spPr>
          <a:xfrm>
            <a:off x="285750" y="2164556"/>
            <a:ext cx="8568928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3"/>
          <p:cNvSpPr/>
          <p:nvPr/>
        </p:nvSpPr>
        <p:spPr>
          <a:xfrm>
            <a:off x="285750" y="1907381"/>
            <a:ext cx="1428750" cy="260747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图生视频（i2v）</a:t>
            </a:r>
            <a:endParaRPr lang="en-US" sz="634" dirty="0"/>
          </a:p>
        </p:txBody>
      </p:sp>
      <p:sp>
        <p:nvSpPr>
          <p:cNvPr id="58" name="Text 54"/>
          <p:cNvSpPr/>
          <p:nvPr/>
        </p:nvSpPr>
        <p:spPr>
          <a:xfrm>
            <a:off x="2323281" y="1975247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59" name="Text 55"/>
          <p:cNvSpPr/>
          <p:nvPr/>
        </p:nvSpPr>
        <p:spPr>
          <a:xfrm>
            <a:off x="3808623" y="1975247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60" name="Text 56"/>
          <p:cNvSpPr/>
          <p:nvPr/>
        </p:nvSpPr>
        <p:spPr>
          <a:xfrm>
            <a:off x="5420627" y="1975247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61" name="Text 57"/>
          <p:cNvSpPr/>
          <p:nvPr/>
        </p:nvSpPr>
        <p:spPr>
          <a:xfrm>
            <a:off x="6853870" y="1975247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62" name="Shape 58"/>
          <p:cNvSpPr/>
          <p:nvPr/>
        </p:nvSpPr>
        <p:spPr>
          <a:xfrm>
            <a:off x="7555185" y="1907381"/>
            <a:ext cx="1299493" cy="260747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63" name="Shape 59"/>
          <p:cNvSpPr/>
          <p:nvPr/>
        </p:nvSpPr>
        <p:spPr>
          <a:xfrm>
            <a:off x="8847534" y="1907381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64" name="Shape 60"/>
          <p:cNvSpPr/>
          <p:nvPr/>
        </p:nvSpPr>
        <p:spPr>
          <a:xfrm>
            <a:off x="7555185" y="1907381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65" name="Text 61"/>
          <p:cNvSpPr/>
          <p:nvPr/>
        </p:nvSpPr>
        <p:spPr>
          <a:xfrm>
            <a:off x="8160283" y="1975247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34" dirty="0"/>
          </a:p>
        </p:txBody>
      </p:sp>
      <p:sp>
        <p:nvSpPr>
          <p:cNvPr id="66" name="Text 62"/>
          <p:cNvSpPr/>
          <p:nvPr/>
        </p:nvSpPr>
        <p:spPr>
          <a:xfrm>
            <a:off x="285750" y="2168128"/>
            <a:ext cx="1428750" cy="260747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热点洞察数据看板</a:t>
            </a:r>
            <a:endParaRPr lang="en-US" sz="634" dirty="0"/>
          </a:p>
        </p:txBody>
      </p:sp>
      <p:sp>
        <p:nvSpPr>
          <p:cNvPr id="67" name="Text 63"/>
          <p:cNvSpPr/>
          <p:nvPr/>
        </p:nvSpPr>
        <p:spPr>
          <a:xfrm>
            <a:off x="2323281" y="2232422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68" name="Text 64"/>
          <p:cNvSpPr/>
          <p:nvPr/>
        </p:nvSpPr>
        <p:spPr>
          <a:xfrm>
            <a:off x="3767547" y="2243138"/>
            <a:ext cx="17145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有限</a:t>
            </a:r>
            <a:endParaRPr lang="en-US" sz="621" dirty="0"/>
          </a:p>
        </p:txBody>
      </p:sp>
      <p:sp>
        <p:nvSpPr>
          <p:cNvPr id="69" name="Text 65"/>
          <p:cNvSpPr/>
          <p:nvPr/>
        </p:nvSpPr>
        <p:spPr>
          <a:xfrm>
            <a:off x="5420627" y="2232422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70" name="Text 66"/>
          <p:cNvSpPr/>
          <p:nvPr/>
        </p:nvSpPr>
        <p:spPr>
          <a:xfrm>
            <a:off x="6812793" y="2243138"/>
            <a:ext cx="17145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部分</a:t>
            </a:r>
            <a:endParaRPr lang="en-US" sz="621" dirty="0"/>
          </a:p>
        </p:txBody>
      </p:sp>
      <p:sp>
        <p:nvSpPr>
          <p:cNvPr id="71" name="Shape 67"/>
          <p:cNvSpPr/>
          <p:nvPr/>
        </p:nvSpPr>
        <p:spPr>
          <a:xfrm>
            <a:off x="7555185" y="2168128"/>
            <a:ext cx="1299493" cy="260747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72" name="Shape 68"/>
          <p:cNvSpPr/>
          <p:nvPr/>
        </p:nvSpPr>
        <p:spPr>
          <a:xfrm>
            <a:off x="8847534" y="2168128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73" name="Shape 69"/>
          <p:cNvSpPr/>
          <p:nvPr/>
        </p:nvSpPr>
        <p:spPr>
          <a:xfrm>
            <a:off x="7555185" y="2168128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74" name="Text 70"/>
          <p:cNvSpPr/>
          <p:nvPr/>
        </p:nvSpPr>
        <p:spPr>
          <a:xfrm>
            <a:off x="8160283" y="2232422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34" dirty="0"/>
          </a:p>
        </p:txBody>
      </p:sp>
      <p:sp>
        <p:nvSpPr>
          <p:cNvPr id="75" name="Shape 71"/>
          <p:cNvSpPr/>
          <p:nvPr/>
        </p:nvSpPr>
        <p:spPr>
          <a:xfrm>
            <a:off x="285750" y="2428875"/>
            <a:ext cx="8568928" cy="2643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6" name="Shape 72"/>
          <p:cNvSpPr/>
          <p:nvPr/>
        </p:nvSpPr>
        <p:spPr>
          <a:xfrm>
            <a:off x="285750" y="2686050"/>
            <a:ext cx="8568928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3"/>
          <p:cNvSpPr/>
          <p:nvPr/>
        </p:nvSpPr>
        <p:spPr>
          <a:xfrm>
            <a:off x="285750" y="2428875"/>
            <a:ext cx="1428750" cy="260747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内容日历 / 排期</a:t>
            </a:r>
            <a:endParaRPr lang="en-US" sz="634" dirty="0"/>
          </a:p>
        </p:txBody>
      </p:sp>
      <p:sp>
        <p:nvSpPr>
          <p:cNvPr id="78" name="Text 74"/>
          <p:cNvSpPr/>
          <p:nvPr/>
        </p:nvSpPr>
        <p:spPr>
          <a:xfrm>
            <a:off x="2323281" y="2496741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79" name="Text 75"/>
          <p:cNvSpPr/>
          <p:nvPr/>
        </p:nvSpPr>
        <p:spPr>
          <a:xfrm>
            <a:off x="3808623" y="2496741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80" dirty="0"/>
          </a:p>
        </p:txBody>
      </p:sp>
      <p:sp>
        <p:nvSpPr>
          <p:cNvPr id="80" name="Text 76"/>
          <p:cNvSpPr/>
          <p:nvPr/>
        </p:nvSpPr>
        <p:spPr>
          <a:xfrm>
            <a:off x="5420627" y="2496741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81" name="Text 77"/>
          <p:cNvSpPr/>
          <p:nvPr/>
        </p:nvSpPr>
        <p:spPr>
          <a:xfrm>
            <a:off x="6812793" y="2507456"/>
            <a:ext cx="17145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部分</a:t>
            </a:r>
            <a:endParaRPr lang="en-US" sz="621" dirty="0"/>
          </a:p>
        </p:txBody>
      </p:sp>
      <p:sp>
        <p:nvSpPr>
          <p:cNvPr id="82" name="Shape 78"/>
          <p:cNvSpPr/>
          <p:nvPr/>
        </p:nvSpPr>
        <p:spPr>
          <a:xfrm>
            <a:off x="7555185" y="2428875"/>
            <a:ext cx="1299493" cy="260747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83" name="Shape 79"/>
          <p:cNvSpPr/>
          <p:nvPr/>
        </p:nvSpPr>
        <p:spPr>
          <a:xfrm>
            <a:off x="8847534" y="2428875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84" name="Shape 80"/>
          <p:cNvSpPr/>
          <p:nvPr/>
        </p:nvSpPr>
        <p:spPr>
          <a:xfrm>
            <a:off x="7555185" y="2428875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85" name="Text 81"/>
          <p:cNvSpPr/>
          <p:nvPr/>
        </p:nvSpPr>
        <p:spPr>
          <a:xfrm>
            <a:off x="8160283" y="2496741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34" dirty="0"/>
          </a:p>
        </p:txBody>
      </p:sp>
      <p:sp>
        <p:nvSpPr>
          <p:cNvPr id="86" name="Text 82"/>
          <p:cNvSpPr/>
          <p:nvPr/>
        </p:nvSpPr>
        <p:spPr>
          <a:xfrm>
            <a:off x="285750" y="2689622"/>
            <a:ext cx="1428750" cy="260747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中文内容深度优化</a:t>
            </a:r>
            <a:endParaRPr lang="en-US" sz="634" dirty="0"/>
          </a:p>
        </p:txBody>
      </p:sp>
      <p:sp>
        <p:nvSpPr>
          <p:cNvPr id="87" name="Text 83"/>
          <p:cNvSpPr/>
          <p:nvPr/>
        </p:nvSpPr>
        <p:spPr>
          <a:xfrm>
            <a:off x="2323281" y="2753916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88" name="Text 84"/>
          <p:cNvSpPr/>
          <p:nvPr/>
        </p:nvSpPr>
        <p:spPr>
          <a:xfrm>
            <a:off x="3808623" y="2753916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89" name="Text 85"/>
          <p:cNvSpPr/>
          <p:nvPr/>
        </p:nvSpPr>
        <p:spPr>
          <a:xfrm>
            <a:off x="5420627" y="2753916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90" name="Text 86"/>
          <p:cNvSpPr/>
          <p:nvPr/>
        </p:nvSpPr>
        <p:spPr>
          <a:xfrm>
            <a:off x="6853870" y="2753916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80" dirty="0"/>
          </a:p>
        </p:txBody>
      </p:sp>
      <p:sp>
        <p:nvSpPr>
          <p:cNvPr id="91" name="Shape 87"/>
          <p:cNvSpPr/>
          <p:nvPr/>
        </p:nvSpPr>
        <p:spPr>
          <a:xfrm>
            <a:off x="7555185" y="2689622"/>
            <a:ext cx="1299493" cy="260747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92" name="Shape 88"/>
          <p:cNvSpPr/>
          <p:nvPr/>
        </p:nvSpPr>
        <p:spPr>
          <a:xfrm>
            <a:off x="8847534" y="2689622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93" name="Shape 89"/>
          <p:cNvSpPr/>
          <p:nvPr/>
        </p:nvSpPr>
        <p:spPr>
          <a:xfrm>
            <a:off x="7555185" y="2689622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94" name="Text 90"/>
          <p:cNvSpPr/>
          <p:nvPr/>
        </p:nvSpPr>
        <p:spPr>
          <a:xfrm>
            <a:off x="8160283" y="2753916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34" dirty="0"/>
          </a:p>
        </p:txBody>
      </p:sp>
      <p:sp>
        <p:nvSpPr>
          <p:cNvPr id="95" name="Shape 91"/>
          <p:cNvSpPr/>
          <p:nvPr/>
        </p:nvSpPr>
        <p:spPr>
          <a:xfrm>
            <a:off x="285750" y="2950369"/>
            <a:ext cx="8568928" cy="2643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96" name="Shape 92"/>
          <p:cNvSpPr/>
          <p:nvPr/>
        </p:nvSpPr>
        <p:spPr>
          <a:xfrm>
            <a:off x="285750" y="3207544"/>
            <a:ext cx="8568928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3"/>
          <p:cNvSpPr/>
          <p:nvPr/>
        </p:nvSpPr>
        <p:spPr>
          <a:xfrm>
            <a:off x="285750" y="2950369"/>
            <a:ext cx="1428750" cy="260747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数据反馈闭环</a:t>
            </a:r>
            <a:endParaRPr lang="en-US" sz="634" dirty="0"/>
          </a:p>
        </p:txBody>
      </p:sp>
      <p:sp>
        <p:nvSpPr>
          <p:cNvPr id="98" name="Text 94"/>
          <p:cNvSpPr/>
          <p:nvPr/>
        </p:nvSpPr>
        <p:spPr>
          <a:xfrm>
            <a:off x="2323281" y="3018234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99" name="Text 95"/>
          <p:cNvSpPr/>
          <p:nvPr/>
        </p:nvSpPr>
        <p:spPr>
          <a:xfrm>
            <a:off x="3767547" y="3028950"/>
            <a:ext cx="17145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部分</a:t>
            </a:r>
            <a:endParaRPr lang="en-US" sz="621" dirty="0"/>
          </a:p>
        </p:txBody>
      </p:sp>
      <p:sp>
        <p:nvSpPr>
          <p:cNvPr id="100" name="Text 96"/>
          <p:cNvSpPr/>
          <p:nvPr/>
        </p:nvSpPr>
        <p:spPr>
          <a:xfrm>
            <a:off x="5420627" y="3018234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80" dirty="0"/>
          </a:p>
        </p:txBody>
      </p:sp>
      <p:sp>
        <p:nvSpPr>
          <p:cNvPr id="101" name="Text 97"/>
          <p:cNvSpPr/>
          <p:nvPr/>
        </p:nvSpPr>
        <p:spPr>
          <a:xfrm>
            <a:off x="6812793" y="3028950"/>
            <a:ext cx="17145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部分</a:t>
            </a:r>
            <a:endParaRPr lang="en-US" sz="621" dirty="0"/>
          </a:p>
        </p:txBody>
      </p:sp>
      <p:sp>
        <p:nvSpPr>
          <p:cNvPr id="102" name="Shape 98"/>
          <p:cNvSpPr/>
          <p:nvPr/>
        </p:nvSpPr>
        <p:spPr>
          <a:xfrm>
            <a:off x="7555185" y="2950369"/>
            <a:ext cx="1299493" cy="260747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03" name="Shape 99"/>
          <p:cNvSpPr/>
          <p:nvPr/>
        </p:nvSpPr>
        <p:spPr>
          <a:xfrm>
            <a:off x="8847534" y="2950369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04" name="Shape 100"/>
          <p:cNvSpPr/>
          <p:nvPr/>
        </p:nvSpPr>
        <p:spPr>
          <a:xfrm>
            <a:off x="7555185" y="2950369"/>
            <a:ext cx="7144" cy="2607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05" name="Text 101"/>
          <p:cNvSpPr/>
          <p:nvPr/>
        </p:nvSpPr>
        <p:spPr>
          <a:xfrm>
            <a:off x="8160283" y="3018234"/>
            <a:ext cx="892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34" dirty="0"/>
          </a:p>
        </p:txBody>
      </p:sp>
      <p:sp>
        <p:nvSpPr>
          <p:cNvPr id="106" name="Text 102"/>
          <p:cNvSpPr/>
          <p:nvPr/>
        </p:nvSpPr>
        <p:spPr>
          <a:xfrm>
            <a:off x="285750" y="3211116"/>
            <a:ext cx="1428750" cy="257175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起步定价</a:t>
            </a:r>
            <a:endParaRPr lang="en-US" sz="634" dirty="0"/>
          </a:p>
        </p:txBody>
      </p:sp>
      <p:sp>
        <p:nvSpPr>
          <p:cNvPr id="107" name="Text 103"/>
          <p:cNvSpPr/>
          <p:nvPr/>
        </p:nvSpPr>
        <p:spPr>
          <a:xfrm>
            <a:off x="1714500" y="3211116"/>
            <a:ext cx="1306888" cy="257175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$39 / 月</a:t>
            </a:r>
            <a:endParaRPr lang="en-US" sz="674" dirty="0"/>
          </a:p>
        </p:txBody>
      </p:sp>
      <p:sp>
        <p:nvSpPr>
          <p:cNvPr id="108" name="Text 104"/>
          <p:cNvSpPr/>
          <p:nvPr/>
        </p:nvSpPr>
        <p:spPr>
          <a:xfrm>
            <a:off x="3021388" y="3211116"/>
            <a:ext cx="1663768" cy="257175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$99 / 月</a:t>
            </a:r>
            <a:endParaRPr lang="en-US" sz="674" dirty="0"/>
          </a:p>
        </p:txBody>
      </p:sp>
      <p:sp>
        <p:nvSpPr>
          <p:cNvPr id="109" name="Text 105"/>
          <p:cNvSpPr/>
          <p:nvPr/>
        </p:nvSpPr>
        <p:spPr>
          <a:xfrm>
            <a:off x="4685156" y="3211116"/>
            <a:ext cx="1560268" cy="257175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 / 月</a:t>
            </a:r>
            <a:endParaRPr lang="en-US" sz="674" dirty="0"/>
          </a:p>
        </p:txBody>
      </p:sp>
      <p:sp>
        <p:nvSpPr>
          <p:cNvPr id="110" name="Text 106"/>
          <p:cNvSpPr/>
          <p:nvPr/>
        </p:nvSpPr>
        <p:spPr>
          <a:xfrm>
            <a:off x="6245423" y="3211116"/>
            <a:ext cx="1309762" cy="257175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¥199 / 月</a:t>
            </a:r>
            <a:endParaRPr lang="en-US" sz="674" dirty="0"/>
          </a:p>
        </p:txBody>
      </p:sp>
      <p:sp>
        <p:nvSpPr>
          <p:cNvPr id="111" name="Shape 107"/>
          <p:cNvSpPr/>
          <p:nvPr/>
        </p:nvSpPr>
        <p:spPr>
          <a:xfrm>
            <a:off x="7555185" y="3211116"/>
            <a:ext cx="1299493" cy="257175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</p:sp>
      <p:sp>
        <p:nvSpPr>
          <p:cNvPr id="112" name="Shape 108"/>
          <p:cNvSpPr/>
          <p:nvPr/>
        </p:nvSpPr>
        <p:spPr>
          <a:xfrm>
            <a:off x="8847534" y="3211116"/>
            <a:ext cx="7144" cy="257175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13" name="Shape 109"/>
          <p:cNvSpPr/>
          <p:nvPr/>
        </p:nvSpPr>
        <p:spPr>
          <a:xfrm>
            <a:off x="7555185" y="3211116"/>
            <a:ext cx="7144" cy="257175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14" name="Text 110"/>
          <p:cNvSpPr/>
          <p:nvPr/>
        </p:nvSpPr>
        <p:spPr>
          <a:xfrm>
            <a:off x="7555185" y="3211116"/>
            <a:ext cx="1299493" cy="257175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¥99 / 月</a:t>
            </a:r>
            <a:endParaRPr lang="en-US" sz="634" dirty="0"/>
          </a:p>
        </p:txBody>
      </p:sp>
      <p:sp>
        <p:nvSpPr>
          <p:cNvPr id="115" name="Shape 111"/>
          <p:cNvSpPr/>
          <p:nvPr/>
        </p:nvSpPr>
        <p:spPr>
          <a:xfrm>
            <a:off x="285750" y="4707731"/>
            <a:ext cx="8572500" cy="4357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6" name="Shape 112"/>
          <p:cNvSpPr/>
          <p:nvPr/>
        </p:nvSpPr>
        <p:spPr>
          <a:xfrm>
            <a:off x="285750" y="4707731"/>
            <a:ext cx="8572500" cy="7144"/>
          </a:xfrm>
          <a:prstGeom prst="rect">
            <a:avLst/>
          </a:prstGeom>
          <a:solidFill>
            <a:srgbClr val="B3F2FF"/>
          </a:solidFill>
          <a:ln/>
        </p:spPr>
      </p:sp>
      <p:sp>
        <p:nvSpPr>
          <p:cNvPr id="117" name="Text 113"/>
          <p:cNvSpPr/>
          <p:nvPr/>
        </p:nvSpPr>
        <p:spPr>
          <a:xfrm>
            <a:off x="385763" y="4786313"/>
            <a:ext cx="26431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全链路唯一性：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市面上无任何单一工具同时覆盖文案生成→视频生成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→多平台分发→数据反馈的完整链路</a:t>
            </a:r>
            <a:endParaRPr lang="en-US" sz="584" dirty="0"/>
          </a:p>
        </p:txBody>
      </p:sp>
      <p:sp>
        <p:nvSpPr>
          <p:cNvPr id="118" name="Text 114"/>
          <p:cNvSpPr/>
          <p:nvPr/>
        </p:nvSpPr>
        <p:spPr>
          <a:xfrm>
            <a:off x="3300413" y="4786313"/>
            <a:ext cx="26431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中文市场壁垒：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Jasper/Hootsuite 对国内平台（抖音/小红书/微博）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适配极弱，本土化是天然护城河</a:t>
            </a:r>
            <a:endParaRPr lang="en-US" sz="584" dirty="0"/>
          </a:p>
        </p:txBody>
      </p:sp>
      <p:sp>
        <p:nvSpPr>
          <p:cNvPr id="119" name="Text 115"/>
          <p:cNvSpPr/>
          <p:nvPr/>
        </p:nvSpPr>
        <p:spPr>
          <a:xfrm>
            <a:off x="6215063" y="4786313"/>
            <a:ext cx="26431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价格优势：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功能覆盖度远超竞品，起步定价仅为 Hootsuite 的 1/10，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降低中小创作者决策门槛</a:t>
            </a:r>
            <a:endParaRPr lang="en-US" sz="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00025"/>
            <a:ext cx="9144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0" y="353616"/>
            <a:ext cx="914400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六种变现路径优劣分析与笔灵推荐三阶段路径</a:t>
            </a:r>
            <a:endParaRPr lang="en-US" sz="1397" dirty="0"/>
          </a:p>
        </p:txBody>
      </p:sp>
      <p:sp>
        <p:nvSpPr>
          <p:cNvPr id="6" name="Shape 2"/>
          <p:cNvSpPr/>
          <p:nvPr/>
        </p:nvSpPr>
        <p:spPr>
          <a:xfrm>
            <a:off x="285750" y="737592"/>
            <a:ext cx="1369200" cy="112084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71475" y="837605"/>
            <a:ext cx="1197750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SaaS 订阅制</a:t>
            </a:r>
            <a:endParaRPr lang="en-US" sz="634" dirty="0"/>
          </a:p>
        </p:txBody>
      </p:sp>
      <p:sp>
        <p:nvSpPr>
          <p:cNvPr id="8" name="Text 4"/>
          <p:cNvSpPr/>
          <p:nvPr/>
        </p:nvSpPr>
        <p:spPr>
          <a:xfrm>
            <a:off x="371475" y="1015473"/>
            <a:ext cx="11977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现金流稳定，LTV 高，易预测营收</a:t>
            </a:r>
            <a:endParaRPr lang="en-US" sz="568" dirty="0"/>
          </a:p>
        </p:txBody>
      </p:sp>
      <p:sp>
        <p:nvSpPr>
          <p:cNvPr id="9" name="Text 5"/>
          <p:cNvSpPr/>
          <p:nvPr/>
        </p:nvSpPr>
        <p:spPr>
          <a:xfrm>
            <a:off x="371475" y="1294079"/>
            <a:ext cx="11977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获客成本高，需持续证明价值</a:t>
            </a:r>
            <a:endParaRPr lang="en-US" sz="568" dirty="0"/>
          </a:p>
        </p:txBody>
      </p:sp>
      <p:sp>
        <p:nvSpPr>
          <p:cNvPr id="10" name="Shape 6"/>
          <p:cNvSpPr/>
          <p:nvPr/>
        </p:nvSpPr>
        <p:spPr>
          <a:xfrm>
            <a:off x="371475" y="1485174"/>
            <a:ext cx="592234" cy="141089"/>
          </a:xfrm>
          <a:prstGeom prst="rect">
            <a:avLst/>
          </a:prstGeom>
          <a:solidFill>
            <a:srgbClr val="00D4FF">
              <a:alpha val="12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71475" y="1485174"/>
            <a:ext cx="592234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推荐 · 主路径</a:t>
            </a:r>
            <a:endParaRPr lang="en-US" sz="485" dirty="0"/>
          </a:p>
        </p:txBody>
      </p:sp>
      <p:sp>
        <p:nvSpPr>
          <p:cNvPr id="12" name="Shape 8"/>
          <p:cNvSpPr/>
          <p:nvPr/>
        </p:nvSpPr>
        <p:spPr>
          <a:xfrm>
            <a:off x="1726388" y="737592"/>
            <a:ext cx="1369228" cy="112084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12113" y="837605"/>
            <a:ext cx="1197778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调用计费</a:t>
            </a:r>
            <a:endParaRPr lang="en-US" sz="634" dirty="0"/>
          </a:p>
        </p:txBody>
      </p:sp>
      <p:sp>
        <p:nvSpPr>
          <p:cNvPr id="14" name="Text 10"/>
          <p:cNvSpPr/>
          <p:nvPr/>
        </p:nvSpPr>
        <p:spPr>
          <a:xfrm>
            <a:off x="1812113" y="1015473"/>
            <a:ext cx="119777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按量付费门槛低，适合开发者生态</a:t>
            </a:r>
            <a:endParaRPr lang="en-US" sz="568" dirty="0"/>
          </a:p>
        </p:txBody>
      </p:sp>
      <p:sp>
        <p:nvSpPr>
          <p:cNvPr id="15" name="Text 11"/>
          <p:cNvSpPr/>
          <p:nvPr/>
        </p:nvSpPr>
        <p:spPr>
          <a:xfrm>
            <a:off x="1812113" y="1294079"/>
            <a:ext cx="119777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收入波动大，需大量调用量支撑</a:t>
            </a:r>
            <a:endParaRPr lang="en-US" sz="568" dirty="0"/>
          </a:p>
        </p:txBody>
      </p:sp>
      <p:sp>
        <p:nvSpPr>
          <p:cNvPr id="16" name="Shape 12"/>
          <p:cNvSpPr/>
          <p:nvPr/>
        </p:nvSpPr>
        <p:spPr>
          <a:xfrm>
            <a:off x="1812113" y="1485174"/>
            <a:ext cx="704385" cy="141089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812113" y="1485174"/>
            <a:ext cx="704385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可选 · PHASE 3</a:t>
            </a:r>
            <a:endParaRPr lang="en-US" sz="485" dirty="0"/>
          </a:p>
        </p:txBody>
      </p:sp>
      <p:sp>
        <p:nvSpPr>
          <p:cNvPr id="18" name="Shape 14"/>
          <p:cNvSpPr/>
          <p:nvPr/>
        </p:nvSpPr>
        <p:spPr>
          <a:xfrm>
            <a:off x="3167053" y="737592"/>
            <a:ext cx="1369228" cy="1002971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52778" y="837605"/>
            <a:ext cx="1197778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增值服务</a:t>
            </a:r>
            <a:endParaRPr lang="en-US" sz="634" dirty="0"/>
          </a:p>
        </p:txBody>
      </p:sp>
      <p:sp>
        <p:nvSpPr>
          <p:cNvPr id="20" name="Text 16"/>
          <p:cNvSpPr/>
          <p:nvPr/>
        </p:nvSpPr>
        <p:spPr>
          <a:xfrm>
            <a:off x="3252778" y="1015473"/>
            <a:ext cx="119777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提升 ARPU，满足高端用户需求</a:t>
            </a:r>
            <a:endParaRPr lang="en-US" sz="568" dirty="0"/>
          </a:p>
        </p:txBody>
      </p:sp>
      <p:sp>
        <p:nvSpPr>
          <p:cNvPr id="21" name="Text 17"/>
          <p:cNvSpPr/>
          <p:nvPr/>
        </p:nvSpPr>
        <p:spPr>
          <a:xfrm>
            <a:off x="3252778" y="1176207"/>
            <a:ext cx="119777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需积累用户基数，转化率有限</a:t>
            </a:r>
            <a:endParaRPr lang="en-US" sz="568" dirty="0"/>
          </a:p>
        </p:txBody>
      </p:sp>
      <p:sp>
        <p:nvSpPr>
          <p:cNvPr id="22" name="Shape 18"/>
          <p:cNvSpPr/>
          <p:nvPr/>
        </p:nvSpPr>
        <p:spPr>
          <a:xfrm>
            <a:off x="3252778" y="1367303"/>
            <a:ext cx="704385" cy="141089"/>
          </a:xfrm>
          <a:prstGeom prst="rect">
            <a:avLst/>
          </a:prstGeom>
          <a:solidFill>
            <a:srgbClr val="00D4FF">
              <a:alpha val="12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52778" y="1367303"/>
            <a:ext cx="704385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推荐 · PHASE 2</a:t>
            </a:r>
            <a:endParaRPr lang="en-US" sz="485" dirty="0"/>
          </a:p>
        </p:txBody>
      </p:sp>
      <p:sp>
        <p:nvSpPr>
          <p:cNvPr id="24" name="Shape 20"/>
          <p:cNvSpPr/>
          <p:nvPr/>
        </p:nvSpPr>
        <p:spPr>
          <a:xfrm>
            <a:off x="4607719" y="737592"/>
            <a:ext cx="1369200" cy="1002971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93444" y="837605"/>
            <a:ext cx="1197750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企业定制</a:t>
            </a:r>
            <a:endParaRPr lang="en-US" sz="634" dirty="0"/>
          </a:p>
        </p:txBody>
      </p:sp>
      <p:sp>
        <p:nvSpPr>
          <p:cNvPr id="26" name="Text 22"/>
          <p:cNvSpPr/>
          <p:nvPr/>
        </p:nvSpPr>
        <p:spPr>
          <a:xfrm>
            <a:off x="4693444" y="1015473"/>
            <a:ext cx="11977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单客价值高，品牌背书效果强</a:t>
            </a:r>
            <a:endParaRPr lang="en-US" sz="568" dirty="0"/>
          </a:p>
        </p:txBody>
      </p:sp>
      <p:sp>
        <p:nvSpPr>
          <p:cNvPr id="27" name="Text 23"/>
          <p:cNvSpPr/>
          <p:nvPr/>
        </p:nvSpPr>
        <p:spPr>
          <a:xfrm>
            <a:off x="4693444" y="1176207"/>
            <a:ext cx="11977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交付周期长，难以规模化复制</a:t>
            </a:r>
            <a:endParaRPr lang="en-US" sz="568" dirty="0"/>
          </a:p>
        </p:txBody>
      </p:sp>
      <p:sp>
        <p:nvSpPr>
          <p:cNvPr id="28" name="Shape 24"/>
          <p:cNvSpPr/>
          <p:nvPr/>
        </p:nvSpPr>
        <p:spPr>
          <a:xfrm>
            <a:off x="4693444" y="1367303"/>
            <a:ext cx="592234" cy="141089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693444" y="1367303"/>
            <a:ext cx="592234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可选 · 机会型</a:t>
            </a:r>
            <a:endParaRPr lang="en-US" sz="485" dirty="0"/>
          </a:p>
        </p:txBody>
      </p:sp>
      <p:sp>
        <p:nvSpPr>
          <p:cNvPr id="30" name="Shape 26"/>
          <p:cNvSpPr/>
          <p:nvPr/>
        </p:nvSpPr>
        <p:spPr>
          <a:xfrm>
            <a:off x="6048356" y="737592"/>
            <a:ext cx="1369228" cy="1002971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134081" y="837605"/>
            <a:ext cx="1197778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MCN 分成</a:t>
            </a:r>
            <a:endParaRPr lang="en-US" sz="634" dirty="0"/>
          </a:p>
        </p:txBody>
      </p:sp>
      <p:sp>
        <p:nvSpPr>
          <p:cNvPr id="32" name="Text 28"/>
          <p:cNvSpPr/>
          <p:nvPr/>
        </p:nvSpPr>
        <p:spPr>
          <a:xfrm>
            <a:off x="6134081" y="1015473"/>
            <a:ext cx="119777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与客户利益深度绑定，黏性极高</a:t>
            </a:r>
            <a:endParaRPr lang="en-US" sz="568" dirty="0"/>
          </a:p>
        </p:txBody>
      </p:sp>
      <p:sp>
        <p:nvSpPr>
          <p:cNvPr id="33" name="Text 29"/>
          <p:cNvSpPr/>
          <p:nvPr/>
        </p:nvSpPr>
        <p:spPr>
          <a:xfrm>
            <a:off x="6134081" y="1176207"/>
            <a:ext cx="119777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收入滞后，需强运营能力支撑</a:t>
            </a:r>
            <a:endParaRPr lang="en-US" sz="568" dirty="0"/>
          </a:p>
        </p:txBody>
      </p:sp>
      <p:sp>
        <p:nvSpPr>
          <p:cNvPr id="34" name="Shape 30"/>
          <p:cNvSpPr/>
          <p:nvPr/>
        </p:nvSpPr>
        <p:spPr>
          <a:xfrm>
            <a:off x="6134081" y="1367303"/>
            <a:ext cx="592234" cy="141089"/>
          </a:xfrm>
          <a:prstGeom prst="rect">
            <a:avLst/>
          </a:prstGeom>
          <a:solidFill>
            <a:srgbClr val="8B949E">
              <a:alpha val="10000"/>
            </a:srgbClr>
          </a:solidFill>
          <a:ln w="9144">
            <a:solidFill>
              <a:srgbClr val="8B949E">
                <a:alpha val="2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134081" y="1367303"/>
            <a:ext cx="592234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暂缓 · 待验证</a:t>
            </a:r>
            <a:endParaRPr lang="en-US" sz="485" dirty="0"/>
          </a:p>
        </p:txBody>
      </p:sp>
      <p:sp>
        <p:nvSpPr>
          <p:cNvPr id="36" name="Shape 32"/>
          <p:cNvSpPr/>
          <p:nvPr/>
        </p:nvSpPr>
        <p:spPr>
          <a:xfrm>
            <a:off x="7489022" y="737592"/>
            <a:ext cx="1369228" cy="1002971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574747" y="837605"/>
            <a:ext cx="1197778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广告 / 联盟</a:t>
            </a:r>
            <a:endParaRPr lang="en-US" sz="634" dirty="0"/>
          </a:p>
        </p:txBody>
      </p:sp>
      <p:sp>
        <p:nvSpPr>
          <p:cNvPr id="38" name="Text 34"/>
          <p:cNvSpPr/>
          <p:nvPr/>
        </p:nvSpPr>
        <p:spPr>
          <a:xfrm>
            <a:off x="7574747" y="1015473"/>
            <a:ext cx="119777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 零边际成本，流量变现直接</a:t>
            </a:r>
            <a:endParaRPr lang="en-US" sz="568" dirty="0"/>
          </a:p>
        </p:txBody>
      </p:sp>
      <p:sp>
        <p:nvSpPr>
          <p:cNvPr id="39" name="Text 35"/>
          <p:cNvSpPr/>
          <p:nvPr/>
        </p:nvSpPr>
        <p:spPr>
          <a:xfrm>
            <a:off x="7574747" y="1176207"/>
            <a:ext cx="119777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影响用户体验，与工具定位冲突</a:t>
            </a:r>
            <a:endParaRPr lang="en-US" sz="568" dirty="0"/>
          </a:p>
        </p:txBody>
      </p:sp>
      <p:sp>
        <p:nvSpPr>
          <p:cNvPr id="40" name="Shape 36"/>
          <p:cNvSpPr/>
          <p:nvPr/>
        </p:nvSpPr>
        <p:spPr>
          <a:xfrm>
            <a:off x="7574747" y="1367303"/>
            <a:ext cx="592234" cy="141089"/>
          </a:xfrm>
          <a:prstGeom prst="rect">
            <a:avLst/>
          </a:prstGeom>
          <a:solidFill>
            <a:srgbClr val="8B949E">
              <a:alpha val="10000"/>
            </a:srgbClr>
          </a:solidFill>
          <a:ln w="9144">
            <a:solidFill>
              <a:srgbClr val="8B949E">
                <a:alpha val="20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574747" y="1367303"/>
            <a:ext cx="592234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暂缓 · 不推荐</a:t>
            </a:r>
            <a:endParaRPr lang="en-US" sz="485" dirty="0"/>
          </a:p>
        </p:txBody>
      </p:sp>
      <p:sp>
        <p:nvSpPr>
          <p:cNvPr id="42" name="Text 38"/>
          <p:cNvSpPr/>
          <p:nvPr/>
        </p:nvSpPr>
        <p:spPr>
          <a:xfrm>
            <a:off x="285750" y="1819145"/>
            <a:ext cx="857250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笔灵推荐变现路径</a:t>
            </a:r>
            <a:endParaRPr lang="en-US" sz="568" dirty="0"/>
          </a:p>
        </p:txBody>
      </p:sp>
      <p:sp>
        <p:nvSpPr>
          <p:cNvPr id="43" name="Shape 39"/>
          <p:cNvSpPr/>
          <p:nvPr/>
        </p:nvSpPr>
        <p:spPr>
          <a:xfrm>
            <a:off x="428625" y="2124540"/>
            <a:ext cx="8286750" cy="7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Shape 40"/>
          <p:cNvSpPr/>
          <p:nvPr/>
        </p:nvSpPr>
        <p:spPr>
          <a:xfrm>
            <a:off x="1585913" y="1995953"/>
            <a:ext cx="257175" cy="257175"/>
          </a:xfrm>
          <a:prstGeom prst="ellipse">
            <a:avLst/>
          </a:prstGeom>
          <a:solidFill>
            <a:srgbClr val="00D4FF">
              <a:alpha val="15000"/>
            </a:srgbClr>
          </a:solidFill>
          <a:ln w="18288">
            <a:solidFill>
              <a:srgbClr val="00D4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585913" y="1995953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683" dirty="0"/>
          </a:p>
        </p:txBody>
      </p:sp>
      <p:sp>
        <p:nvSpPr>
          <p:cNvPr id="46" name="Text 42"/>
          <p:cNvSpPr/>
          <p:nvPr/>
        </p:nvSpPr>
        <p:spPr>
          <a:xfrm>
            <a:off x="1193006" y="2310278"/>
            <a:ext cx="104298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· 0–6 月</a:t>
            </a:r>
            <a:endParaRPr lang="en-US" sz="516" dirty="0"/>
          </a:p>
        </p:txBody>
      </p:sp>
      <p:sp>
        <p:nvSpPr>
          <p:cNvPr id="47" name="Text 43"/>
          <p:cNvSpPr/>
          <p:nvPr/>
        </p:nvSpPr>
        <p:spPr>
          <a:xfrm>
            <a:off x="1193006" y="2429935"/>
            <a:ext cx="104298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免费 + 订阅验证</a:t>
            </a:r>
            <a:endParaRPr lang="en-US" sz="634" dirty="0"/>
          </a:p>
        </p:txBody>
      </p:sp>
      <p:sp>
        <p:nvSpPr>
          <p:cNvPr id="48" name="Text 44"/>
          <p:cNvSpPr/>
          <p:nvPr/>
        </p:nvSpPr>
        <p:spPr>
          <a:xfrm>
            <a:off x="1193006" y="2576382"/>
            <a:ext cx="1042988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免费版获取种子用户</a:t>
            </a:r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订阅 ¥99/月验证付费意愿</a:t>
            </a:r>
            <a:endParaRPr lang="en-US" sz="568" dirty="0"/>
          </a:p>
        </p:txBody>
      </p:sp>
      <p:sp>
        <p:nvSpPr>
          <p:cNvPr id="49" name="Shape 45"/>
          <p:cNvSpPr/>
          <p:nvPr/>
        </p:nvSpPr>
        <p:spPr>
          <a:xfrm>
            <a:off x="4443413" y="1995953"/>
            <a:ext cx="257175" cy="257175"/>
          </a:xfrm>
          <a:prstGeom prst="ellipse">
            <a:avLst/>
          </a:prstGeom>
          <a:solidFill>
            <a:srgbClr val="7C3AED">
              <a:alpha val="15000"/>
            </a:srgbClr>
          </a:solidFill>
          <a:ln w="18288">
            <a:solidFill>
              <a:srgbClr val="7C3AE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443413" y="1995953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683" dirty="0"/>
          </a:p>
        </p:txBody>
      </p:sp>
      <p:sp>
        <p:nvSpPr>
          <p:cNvPr id="51" name="Text 47"/>
          <p:cNvSpPr/>
          <p:nvPr/>
        </p:nvSpPr>
        <p:spPr>
          <a:xfrm>
            <a:off x="4061222" y="2310278"/>
            <a:ext cx="102155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· 6–18 月</a:t>
            </a:r>
            <a:endParaRPr lang="en-US" sz="516" dirty="0"/>
          </a:p>
        </p:txBody>
      </p:sp>
      <p:sp>
        <p:nvSpPr>
          <p:cNvPr id="52" name="Text 48"/>
          <p:cNvSpPr/>
          <p:nvPr/>
        </p:nvSpPr>
        <p:spPr>
          <a:xfrm>
            <a:off x="4061222" y="2429935"/>
            <a:ext cx="1021556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分层订阅 + 增值</a:t>
            </a:r>
            <a:endParaRPr lang="en-US" sz="634" dirty="0"/>
          </a:p>
        </p:txBody>
      </p:sp>
      <p:sp>
        <p:nvSpPr>
          <p:cNvPr id="53" name="Text 49"/>
          <p:cNvSpPr/>
          <p:nvPr/>
        </p:nvSpPr>
        <p:spPr>
          <a:xfrm>
            <a:off x="4061222" y="2576382"/>
            <a:ext cx="1021556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个人/团队/企业三档</a:t>
            </a:r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视频生成、高级分析按量计费</a:t>
            </a:r>
            <a:endParaRPr lang="en-US" sz="568" dirty="0"/>
          </a:p>
        </p:txBody>
      </p:sp>
      <p:sp>
        <p:nvSpPr>
          <p:cNvPr id="54" name="Shape 50"/>
          <p:cNvSpPr/>
          <p:nvPr/>
        </p:nvSpPr>
        <p:spPr>
          <a:xfrm>
            <a:off x="7300913" y="1995953"/>
            <a:ext cx="257175" cy="257175"/>
          </a:xfrm>
          <a:prstGeom prst="ellipse">
            <a:avLst/>
          </a:prstGeom>
          <a:solidFill>
            <a:srgbClr val="7C3AED">
              <a:alpha val="8000"/>
            </a:srgbClr>
          </a:solidFill>
          <a:ln w="18288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300913" y="1995953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683" dirty="0"/>
          </a:p>
        </p:txBody>
      </p:sp>
      <p:sp>
        <p:nvSpPr>
          <p:cNvPr id="56" name="Text 52"/>
          <p:cNvSpPr/>
          <p:nvPr/>
        </p:nvSpPr>
        <p:spPr>
          <a:xfrm>
            <a:off x="6963370" y="2310278"/>
            <a:ext cx="93225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· 18 月+</a:t>
            </a:r>
            <a:endParaRPr lang="en-US" sz="516" dirty="0"/>
          </a:p>
        </p:txBody>
      </p:sp>
      <p:sp>
        <p:nvSpPr>
          <p:cNvPr id="57" name="Text 53"/>
          <p:cNvSpPr/>
          <p:nvPr/>
        </p:nvSpPr>
        <p:spPr>
          <a:xfrm>
            <a:off x="6963370" y="2429935"/>
            <a:ext cx="93225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开放 + MCN 生态</a:t>
            </a:r>
            <a:endParaRPr lang="en-US" sz="634" dirty="0"/>
          </a:p>
        </p:txBody>
      </p:sp>
      <p:sp>
        <p:nvSpPr>
          <p:cNvPr id="58" name="Text 54"/>
          <p:cNvSpPr/>
          <p:nvPr/>
        </p:nvSpPr>
        <p:spPr>
          <a:xfrm>
            <a:off x="6963370" y="2576382"/>
            <a:ext cx="932259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 API 接入第三方</a:t>
            </a:r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MCN 批量管理 + 效果分成</a:t>
            </a:r>
            <a:endParaRPr lang="en-US" sz="568" dirty="0"/>
          </a:p>
        </p:txBody>
      </p:sp>
      <p:sp>
        <p:nvSpPr>
          <p:cNvPr id="59" name="Shape 55"/>
          <p:cNvSpPr/>
          <p:nvPr/>
        </p:nvSpPr>
        <p:spPr>
          <a:xfrm>
            <a:off x="285750" y="2882112"/>
            <a:ext cx="8572500" cy="3157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0" name="Shape 56"/>
          <p:cNvSpPr/>
          <p:nvPr/>
        </p:nvSpPr>
        <p:spPr>
          <a:xfrm>
            <a:off x="285750" y="2882112"/>
            <a:ext cx="8572500" cy="7144"/>
          </a:xfrm>
          <a:prstGeom prst="rect">
            <a:avLst/>
          </a:prstGeom>
          <a:solidFill>
            <a:srgbClr val="B3F2FF"/>
          </a:solidFill>
          <a:ln/>
        </p:spPr>
      </p:sp>
      <p:sp>
        <p:nvSpPr>
          <p:cNvPr id="61" name="Text 57"/>
          <p:cNvSpPr/>
          <p:nvPr/>
        </p:nvSpPr>
        <p:spPr>
          <a:xfrm>
            <a:off x="285750" y="2953550"/>
            <a:ext cx="857250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核心逻辑：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 SaaS 订阅为现金流基础，以增值服务提升 ARPU，以 API 开放构建生态护城河。参考 Jasper（ARR $7500 万）和 Hootsuite（ARR $3 亿）的成功路径，避免过早依赖广告或分成模式。</a:t>
            </a:r>
            <a:endParaRPr lang="en-US" sz="5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85738"/>
            <a:ext cx="9144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ARCHITECTURE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0" y="325041"/>
            <a:ext cx="914400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内容全链路四层技术架构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477906" y="1021696"/>
            <a:ext cx="401501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01</a:t>
            </a:r>
            <a:endParaRPr lang="en-US" sz="485" dirty="0"/>
          </a:p>
        </p:txBody>
      </p:sp>
      <p:sp>
        <p:nvSpPr>
          <p:cNvPr id="7" name="Text 3"/>
          <p:cNvSpPr/>
          <p:nvPr/>
        </p:nvSpPr>
        <p:spPr>
          <a:xfrm>
            <a:off x="539353" y="1137782"/>
            <a:ext cx="278606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数据层</a:t>
            </a:r>
            <a:endParaRPr lang="en-US" sz="634" dirty="0"/>
          </a:p>
        </p:txBody>
      </p:sp>
      <p:sp>
        <p:nvSpPr>
          <p:cNvPr id="8" name="Shape 4"/>
          <p:cNvSpPr/>
          <p:nvPr/>
        </p:nvSpPr>
        <p:spPr>
          <a:xfrm>
            <a:off x="1143000" y="709017"/>
            <a:ext cx="1885950" cy="862161"/>
          </a:xfrm>
          <a:prstGeom prst="rect">
            <a:avLst/>
          </a:prstGeom>
          <a:solidFill>
            <a:srgbClr val="161B22"/>
          </a:solidFill>
          <a:ln w="9144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243013" y="780455"/>
            <a:ext cx="167520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热点数据源</a:t>
            </a:r>
            <a:endParaRPr lang="en-US" sz="634" dirty="0"/>
          </a:p>
        </p:txBody>
      </p:sp>
      <p:sp>
        <p:nvSpPr>
          <p:cNvPr id="10" name="Text 6"/>
          <p:cNvSpPr/>
          <p:nvPr/>
        </p:nvSpPr>
        <p:spPr>
          <a:xfrm>
            <a:off x="1243013" y="934045"/>
            <a:ext cx="1675209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微博热搜、百度热搜、知乎热榜、B站热门，公开接口合规采集</a:t>
            </a:r>
            <a:endParaRPr lang="en-US" sz="568" dirty="0"/>
          </a:p>
        </p:txBody>
      </p:sp>
      <p:sp>
        <p:nvSpPr>
          <p:cNvPr id="11" name="Shape 7"/>
          <p:cNvSpPr/>
          <p:nvPr/>
        </p:nvSpPr>
        <p:spPr>
          <a:xfrm>
            <a:off x="1243013" y="1372939"/>
            <a:ext cx="402924" cy="126802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243013" y="1372939"/>
            <a:ext cx="402924" cy="126802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合规爬取</a:t>
            </a:r>
            <a:endParaRPr lang="en-US" sz="516" dirty="0"/>
          </a:p>
        </p:txBody>
      </p:sp>
      <p:sp>
        <p:nvSpPr>
          <p:cNvPr id="13" name="Shape 9"/>
          <p:cNvSpPr/>
          <p:nvPr/>
        </p:nvSpPr>
        <p:spPr>
          <a:xfrm>
            <a:off x="3075384" y="709017"/>
            <a:ext cx="1889522" cy="862161"/>
          </a:xfrm>
          <a:prstGeom prst="rect">
            <a:avLst/>
          </a:prstGeom>
          <a:solidFill>
            <a:srgbClr val="161B22"/>
          </a:solidFill>
          <a:ln w="9144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78969" y="780455"/>
            <a:ext cx="167878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用户历史数据</a:t>
            </a:r>
            <a:endParaRPr lang="en-US" sz="634" dirty="0"/>
          </a:p>
        </p:txBody>
      </p:sp>
      <p:sp>
        <p:nvSpPr>
          <p:cNvPr id="15" name="Text 11"/>
          <p:cNvSpPr/>
          <p:nvPr/>
        </p:nvSpPr>
        <p:spPr>
          <a:xfrm>
            <a:off x="3178969" y="934045"/>
            <a:ext cx="1678781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发布记录、互动数据（点赞/评论/收藏）、内容表现时序数据</a:t>
            </a:r>
            <a:endParaRPr lang="en-US" sz="568" dirty="0"/>
          </a:p>
        </p:txBody>
      </p:sp>
      <p:sp>
        <p:nvSpPr>
          <p:cNvPr id="16" name="Shape 12"/>
          <p:cNvSpPr/>
          <p:nvPr/>
        </p:nvSpPr>
        <p:spPr>
          <a:xfrm>
            <a:off x="3178969" y="1383655"/>
            <a:ext cx="624743" cy="116086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78969" y="1383655"/>
            <a:ext cx="624743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/ TiDB</a:t>
            </a:r>
            <a:endParaRPr lang="en-US" sz="516" dirty="0"/>
          </a:p>
        </p:txBody>
      </p:sp>
      <p:sp>
        <p:nvSpPr>
          <p:cNvPr id="18" name="Shape 14"/>
          <p:cNvSpPr/>
          <p:nvPr/>
        </p:nvSpPr>
        <p:spPr>
          <a:xfrm>
            <a:off x="5014913" y="709017"/>
            <a:ext cx="1893094" cy="862161"/>
          </a:xfrm>
          <a:prstGeom prst="rect">
            <a:avLst/>
          </a:prstGeom>
          <a:solidFill>
            <a:srgbClr val="161B22"/>
          </a:solidFill>
          <a:ln w="9144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2069" y="780455"/>
            <a:ext cx="168235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平台内容数据</a:t>
            </a:r>
            <a:endParaRPr lang="en-US" sz="634" dirty="0"/>
          </a:p>
        </p:txBody>
      </p:sp>
      <p:sp>
        <p:nvSpPr>
          <p:cNvPr id="20" name="Text 16"/>
          <p:cNvSpPr/>
          <p:nvPr/>
        </p:nvSpPr>
        <p:spPr>
          <a:xfrm>
            <a:off x="5122069" y="934045"/>
            <a:ext cx="1682353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多平台账号绑定、内容日历、发布状态追踪、效果回流</a:t>
            </a:r>
            <a:endParaRPr lang="en-US" sz="568" dirty="0"/>
          </a:p>
        </p:txBody>
      </p:sp>
      <p:sp>
        <p:nvSpPr>
          <p:cNvPr id="21" name="Shape 17"/>
          <p:cNvSpPr/>
          <p:nvPr/>
        </p:nvSpPr>
        <p:spPr>
          <a:xfrm>
            <a:off x="5122069" y="1364903"/>
            <a:ext cx="375047" cy="126802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122069" y="1364903"/>
            <a:ext cx="375047" cy="126802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存储</a:t>
            </a:r>
            <a:endParaRPr lang="en-US" sz="516" dirty="0"/>
          </a:p>
        </p:txBody>
      </p:sp>
      <p:sp>
        <p:nvSpPr>
          <p:cNvPr id="23" name="Shape 19"/>
          <p:cNvSpPr/>
          <p:nvPr/>
        </p:nvSpPr>
        <p:spPr>
          <a:xfrm>
            <a:off x="6961584" y="709017"/>
            <a:ext cx="1896666" cy="854125"/>
          </a:xfrm>
          <a:prstGeom prst="rect">
            <a:avLst/>
          </a:prstGeom>
          <a:solidFill>
            <a:srgbClr val="161B22"/>
          </a:solidFill>
          <a:ln w="9144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72313" y="780455"/>
            <a:ext cx="168592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向量知识库</a:t>
            </a:r>
            <a:endParaRPr lang="en-US" sz="634" dirty="0"/>
          </a:p>
        </p:txBody>
      </p:sp>
      <p:sp>
        <p:nvSpPr>
          <p:cNvPr id="25" name="Text 21"/>
          <p:cNvSpPr/>
          <p:nvPr/>
        </p:nvSpPr>
        <p:spPr>
          <a:xfrm>
            <a:off x="7072313" y="934045"/>
            <a:ext cx="1685925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高分案例 RAG 增强，病毒性内容特征向量化存储（Phase 2）</a:t>
            </a:r>
            <a:endParaRPr lang="en-US" sz="568" dirty="0"/>
          </a:p>
        </p:txBody>
      </p:sp>
      <p:sp>
        <p:nvSpPr>
          <p:cNvPr id="26" name="Shape 22"/>
          <p:cNvSpPr/>
          <p:nvPr/>
        </p:nvSpPr>
        <p:spPr>
          <a:xfrm>
            <a:off x="7072313" y="1364903"/>
            <a:ext cx="399715" cy="116086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072313" y="1364903"/>
            <a:ext cx="399715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516" dirty="0"/>
          </a:p>
        </p:txBody>
      </p:sp>
      <p:sp>
        <p:nvSpPr>
          <p:cNvPr id="28" name="Text 24"/>
          <p:cNvSpPr/>
          <p:nvPr/>
        </p:nvSpPr>
        <p:spPr>
          <a:xfrm>
            <a:off x="3698677" y="1550640"/>
            <a:ext cx="40719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数据输入</a:t>
            </a:r>
            <a:endParaRPr lang="en-US" sz="516" dirty="0"/>
          </a:p>
        </p:txBody>
      </p:sp>
      <p:sp>
        <p:nvSpPr>
          <p:cNvPr id="29" name="Text 25"/>
          <p:cNvSpPr/>
          <p:nvPr/>
        </p:nvSpPr>
        <p:spPr>
          <a:xfrm>
            <a:off x="4391620" y="1550640"/>
            <a:ext cx="4857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上下文注入</a:t>
            </a:r>
            <a:endParaRPr lang="en-US" sz="516" dirty="0"/>
          </a:p>
        </p:txBody>
      </p:sp>
      <p:sp>
        <p:nvSpPr>
          <p:cNvPr id="30" name="Text 26"/>
          <p:cNvSpPr/>
          <p:nvPr/>
        </p:nvSpPr>
        <p:spPr>
          <a:xfrm>
            <a:off x="5163145" y="1550640"/>
            <a:ext cx="40719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历史参考</a:t>
            </a:r>
            <a:endParaRPr lang="en-US" sz="516" dirty="0"/>
          </a:p>
        </p:txBody>
      </p:sp>
      <p:sp>
        <p:nvSpPr>
          <p:cNvPr id="31" name="Text 27"/>
          <p:cNvSpPr/>
          <p:nvPr/>
        </p:nvSpPr>
        <p:spPr>
          <a:xfrm>
            <a:off x="5856089" y="1550640"/>
            <a:ext cx="44648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RAG 检索</a:t>
            </a:r>
            <a:endParaRPr lang="en-US" sz="516" dirty="0"/>
          </a:p>
        </p:txBody>
      </p:sp>
      <p:sp>
        <p:nvSpPr>
          <p:cNvPr id="32" name="Text 28"/>
          <p:cNvSpPr/>
          <p:nvPr/>
        </p:nvSpPr>
        <p:spPr>
          <a:xfrm>
            <a:off x="470762" y="1966010"/>
            <a:ext cx="41578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02</a:t>
            </a:r>
            <a:endParaRPr lang="en-US" sz="485" dirty="0"/>
          </a:p>
        </p:txBody>
      </p:sp>
      <p:sp>
        <p:nvSpPr>
          <p:cNvPr id="33" name="Text 29"/>
          <p:cNvSpPr/>
          <p:nvPr/>
        </p:nvSpPr>
        <p:spPr>
          <a:xfrm>
            <a:off x="485775" y="2082096"/>
            <a:ext cx="385763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引擎层</a:t>
            </a:r>
            <a:endParaRPr lang="en-US" sz="634" dirty="0"/>
          </a:p>
        </p:txBody>
      </p:sp>
      <p:sp>
        <p:nvSpPr>
          <p:cNvPr id="34" name="Shape 30"/>
          <p:cNvSpPr/>
          <p:nvPr/>
        </p:nvSpPr>
        <p:spPr>
          <a:xfrm>
            <a:off x="1143000" y="1649760"/>
            <a:ext cx="1885950" cy="869305"/>
          </a:xfrm>
          <a:prstGeom prst="rect">
            <a:avLst/>
          </a:prstGeom>
          <a:solidFill>
            <a:srgbClr val="161B22"/>
          </a:solidFill>
          <a:ln w="9144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243013" y="1721197"/>
            <a:ext cx="167520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 文案引擎</a:t>
            </a:r>
            <a:endParaRPr lang="en-US" sz="634" dirty="0"/>
          </a:p>
        </p:txBody>
      </p:sp>
      <p:sp>
        <p:nvSpPr>
          <p:cNvPr id="36" name="Text 32"/>
          <p:cNvSpPr/>
          <p:nvPr/>
        </p:nvSpPr>
        <p:spPr>
          <a:xfrm>
            <a:off x="1243013" y="1874788"/>
            <a:ext cx="1675209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Manus 内置 LLM（GPT-4o 级），多平台文案风格适配，结构化输出</a:t>
            </a:r>
            <a:endParaRPr lang="en-US" sz="568" dirty="0"/>
          </a:p>
        </p:txBody>
      </p:sp>
      <p:sp>
        <p:nvSpPr>
          <p:cNvPr id="37" name="Shape 33"/>
          <p:cNvSpPr/>
          <p:nvPr/>
        </p:nvSpPr>
        <p:spPr>
          <a:xfrm>
            <a:off x="1243013" y="2331541"/>
            <a:ext cx="502937" cy="116086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243013" y="2331541"/>
            <a:ext cx="502937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invokeLLM</a:t>
            </a:r>
            <a:endParaRPr lang="en-US" sz="516" dirty="0"/>
          </a:p>
        </p:txBody>
      </p:sp>
      <p:sp>
        <p:nvSpPr>
          <p:cNvPr id="39" name="Shape 35"/>
          <p:cNvSpPr/>
          <p:nvPr/>
        </p:nvSpPr>
        <p:spPr>
          <a:xfrm>
            <a:off x="3075384" y="1649760"/>
            <a:ext cx="1889522" cy="869305"/>
          </a:xfrm>
          <a:prstGeom prst="rect">
            <a:avLst/>
          </a:prstGeom>
          <a:solidFill>
            <a:srgbClr val="161B22"/>
          </a:solidFill>
          <a:ln w="9144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178969" y="1723876"/>
            <a:ext cx="167878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视频引擎</a:t>
            </a:r>
            <a:endParaRPr lang="en-US" sz="634" dirty="0"/>
          </a:p>
        </p:txBody>
      </p:sp>
      <p:sp>
        <p:nvSpPr>
          <p:cNvPr id="41" name="Text 37"/>
          <p:cNvSpPr/>
          <p:nvPr/>
        </p:nvSpPr>
        <p:spPr>
          <a:xfrm>
            <a:off x="3178969" y="1877467"/>
            <a:ext cx="1678781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火山引擎 doubao-seedance-1-0-pro / 1-5-pro，文生视频 + 图生视频（i2v）</a:t>
            </a:r>
            <a:endParaRPr lang="en-US" sz="568" dirty="0"/>
          </a:p>
        </p:txBody>
      </p:sp>
      <p:sp>
        <p:nvSpPr>
          <p:cNvPr id="42" name="Shape 38"/>
          <p:cNvSpPr/>
          <p:nvPr/>
        </p:nvSpPr>
        <p:spPr>
          <a:xfrm>
            <a:off x="3178969" y="2315468"/>
            <a:ext cx="627952" cy="126802"/>
          </a:xfrm>
          <a:prstGeom prst="rect">
            <a:avLst/>
          </a:prstGeom>
          <a:solidFill>
            <a:srgbClr val="7C3AED">
              <a:alpha val="20000"/>
            </a:srgbClr>
          </a:solidFill>
          <a:ln w="9144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178969" y="2315468"/>
            <a:ext cx="627952" cy="126802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已更新 · 国内版</a:t>
            </a:r>
            <a:endParaRPr lang="en-US" sz="516" dirty="0"/>
          </a:p>
        </p:txBody>
      </p:sp>
      <p:sp>
        <p:nvSpPr>
          <p:cNvPr id="44" name="Shape 40"/>
          <p:cNvSpPr/>
          <p:nvPr/>
        </p:nvSpPr>
        <p:spPr>
          <a:xfrm>
            <a:off x="5014913" y="1652439"/>
            <a:ext cx="1893094" cy="861268"/>
          </a:xfrm>
          <a:prstGeom prst="rect">
            <a:avLst/>
          </a:prstGeom>
          <a:solidFill>
            <a:srgbClr val="161B22"/>
          </a:solidFill>
          <a:ln w="9144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122069" y="1723876"/>
            <a:ext cx="168235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配图引擎</a:t>
            </a:r>
            <a:endParaRPr lang="en-US" sz="634" dirty="0"/>
          </a:p>
        </p:txBody>
      </p:sp>
      <p:sp>
        <p:nvSpPr>
          <p:cNvPr id="46" name="Text 42"/>
          <p:cNvSpPr/>
          <p:nvPr/>
        </p:nvSpPr>
        <p:spPr>
          <a:xfrm>
            <a:off x="5122069" y="1877467"/>
            <a:ext cx="1682353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Manus 内置图像生成，多风格配图，与文案内容语义对齐</a:t>
            </a:r>
            <a:endParaRPr lang="en-US" sz="568" dirty="0"/>
          </a:p>
        </p:txBody>
      </p:sp>
      <p:sp>
        <p:nvSpPr>
          <p:cNvPr id="47" name="Shape 43"/>
          <p:cNvSpPr/>
          <p:nvPr/>
        </p:nvSpPr>
        <p:spPr>
          <a:xfrm>
            <a:off x="5122069" y="2326184"/>
            <a:ext cx="662946" cy="116086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122069" y="2326184"/>
            <a:ext cx="662946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generateImage</a:t>
            </a:r>
            <a:endParaRPr lang="en-US" sz="516" dirty="0"/>
          </a:p>
        </p:txBody>
      </p:sp>
      <p:sp>
        <p:nvSpPr>
          <p:cNvPr id="49" name="Shape 45"/>
          <p:cNvSpPr/>
          <p:nvPr/>
        </p:nvSpPr>
        <p:spPr>
          <a:xfrm>
            <a:off x="6961584" y="1652439"/>
            <a:ext cx="1896666" cy="861268"/>
          </a:xfrm>
          <a:prstGeom prst="rect">
            <a:avLst/>
          </a:prstGeom>
          <a:solidFill>
            <a:srgbClr val="161B22"/>
          </a:solidFill>
          <a:ln w="9144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072313" y="1727448"/>
            <a:ext cx="168592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编排引擎</a:t>
            </a:r>
            <a:endParaRPr lang="en-US" sz="634" dirty="0"/>
          </a:p>
        </p:txBody>
      </p:sp>
      <p:sp>
        <p:nvSpPr>
          <p:cNvPr id="51" name="Text 47"/>
          <p:cNvSpPr/>
          <p:nvPr/>
        </p:nvSpPr>
        <p:spPr>
          <a:xfrm>
            <a:off x="7072313" y="1881039"/>
            <a:ext cx="1685925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多步骤 LLM 链式调用，热点→文案→配图→视频全自动流水线</a:t>
            </a:r>
            <a:endParaRPr lang="en-US" sz="568" dirty="0"/>
          </a:p>
        </p:txBody>
      </p:sp>
      <p:sp>
        <p:nvSpPr>
          <p:cNvPr id="52" name="Shape 48"/>
          <p:cNvSpPr/>
          <p:nvPr/>
        </p:nvSpPr>
        <p:spPr>
          <a:xfrm>
            <a:off x="7072313" y="2319040"/>
            <a:ext cx="739378" cy="116086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7072313" y="2319040"/>
            <a:ext cx="739378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tRPC Procedures</a:t>
            </a:r>
            <a:endParaRPr lang="en-US" sz="516" dirty="0"/>
          </a:p>
        </p:txBody>
      </p:sp>
      <p:sp>
        <p:nvSpPr>
          <p:cNvPr id="54" name="Text 50"/>
          <p:cNvSpPr/>
          <p:nvPr/>
        </p:nvSpPr>
        <p:spPr>
          <a:xfrm>
            <a:off x="3757613" y="2505670"/>
            <a:ext cx="40719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生成结果</a:t>
            </a:r>
            <a:endParaRPr lang="en-US" sz="516" dirty="0"/>
          </a:p>
        </p:txBody>
      </p:sp>
      <p:sp>
        <p:nvSpPr>
          <p:cNvPr id="55" name="Text 51"/>
          <p:cNvSpPr/>
          <p:nvPr/>
        </p:nvSpPr>
        <p:spPr>
          <a:xfrm>
            <a:off x="4450556" y="2505670"/>
            <a:ext cx="40719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内容对象</a:t>
            </a:r>
            <a:endParaRPr lang="en-US" sz="516" dirty="0"/>
          </a:p>
        </p:txBody>
      </p:sp>
      <p:sp>
        <p:nvSpPr>
          <p:cNvPr id="56" name="Text 52"/>
          <p:cNvSpPr/>
          <p:nvPr/>
        </p:nvSpPr>
        <p:spPr>
          <a:xfrm>
            <a:off x="5143500" y="2505670"/>
            <a:ext cx="40719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媒体资产</a:t>
            </a:r>
            <a:endParaRPr lang="en-US" sz="516" dirty="0"/>
          </a:p>
        </p:txBody>
      </p:sp>
      <p:sp>
        <p:nvSpPr>
          <p:cNvPr id="57" name="Text 53"/>
          <p:cNvSpPr/>
          <p:nvPr/>
        </p:nvSpPr>
        <p:spPr>
          <a:xfrm>
            <a:off x="5836444" y="2505670"/>
            <a:ext cx="40719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任务状态</a:t>
            </a:r>
            <a:endParaRPr lang="en-US" sz="516" dirty="0"/>
          </a:p>
        </p:txBody>
      </p:sp>
      <p:sp>
        <p:nvSpPr>
          <p:cNvPr id="58" name="Text 54"/>
          <p:cNvSpPr/>
          <p:nvPr/>
        </p:nvSpPr>
        <p:spPr>
          <a:xfrm>
            <a:off x="470762" y="2919254"/>
            <a:ext cx="41578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03</a:t>
            </a:r>
            <a:endParaRPr lang="en-US" sz="485" dirty="0"/>
          </a:p>
        </p:txBody>
      </p:sp>
      <p:sp>
        <p:nvSpPr>
          <p:cNvPr id="59" name="Text 55"/>
          <p:cNvSpPr/>
          <p:nvPr/>
        </p:nvSpPr>
        <p:spPr>
          <a:xfrm>
            <a:off x="446484" y="3035340"/>
            <a:ext cx="464344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业务逻辑层</a:t>
            </a:r>
            <a:endParaRPr lang="en-US" sz="634" dirty="0"/>
          </a:p>
        </p:txBody>
      </p:sp>
      <p:sp>
        <p:nvSpPr>
          <p:cNvPr id="60" name="Shape 56"/>
          <p:cNvSpPr/>
          <p:nvPr/>
        </p:nvSpPr>
        <p:spPr>
          <a:xfrm>
            <a:off x="1143000" y="2604790"/>
            <a:ext cx="1885950" cy="865733"/>
          </a:xfrm>
          <a:prstGeom prst="rect">
            <a:avLst/>
          </a:prstGeom>
          <a:solidFill>
            <a:srgbClr val="161B22"/>
          </a:solidFill>
          <a:ln w="9144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1243013" y="2676227"/>
            <a:ext cx="167520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内容策略引擎</a:t>
            </a:r>
            <a:endParaRPr lang="en-US" sz="634" dirty="0"/>
          </a:p>
        </p:txBody>
      </p:sp>
      <p:sp>
        <p:nvSpPr>
          <p:cNvPr id="62" name="Text 58"/>
          <p:cNvSpPr/>
          <p:nvPr/>
        </p:nvSpPr>
        <p:spPr>
          <a:xfrm>
            <a:off x="1243013" y="2829818"/>
            <a:ext cx="1675209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热点匹配、平台格式适配（9:16/16:9/1:1）、最优发布时间推荐</a:t>
            </a:r>
            <a:endParaRPr lang="en-US" sz="568" dirty="0"/>
          </a:p>
        </p:txBody>
      </p:sp>
      <p:sp>
        <p:nvSpPr>
          <p:cNvPr id="63" name="Shape 59"/>
          <p:cNvSpPr/>
          <p:nvPr/>
        </p:nvSpPr>
        <p:spPr>
          <a:xfrm>
            <a:off x="1243013" y="3283000"/>
            <a:ext cx="730114" cy="116086"/>
          </a:xfrm>
          <a:prstGeom prst="rect">
            <a:avLst/>
          </a:prstGeom>
          <a:solidFill>
            <a:srgbClr val="06B6D4">
              <a:alpha val="10000"/>
            </a:srgbClr>
          </a:solidFill>
          <a:ln w="9144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1243013" y="3283000"/>
            <a:ext cx="730114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server/routers.ts</a:t>
            </a:r>
            <a:endParaRPr lang="en-US" sz="516" dirty="0"/>
          </a:p>
        </p:txBody>
      </p:sp>
      <p:sp>
        <p:nvSpPr>
          <p:cNvPr id="65" name="Shape 61"/>
          <p:cNvSpPr/>
          <p:nvPr/>
        </p:nvSpPr>
        <p:spPr>
          <a:xfrm>
            <a:off x="3075384" y="2604790"/>
            <a:ext cx="1889522" cy="865733"/>
          </a:xfrm>
          <a:prstGeom prst="rect">
            <a:avLst/>
          </a:prstGeom>
          <a:solidFill>
            <a:srgbClr val="161B22"/>
          </a:solidFill>
          <a:ln w="9144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3178969" y="2676227"/>
            <a:ext cx="167878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发布调度系统</a:t>
            </a:r>
            <a:endParaRPr lang="en-US" sz="634" dirty="0"/>
          </a:p>
        </p:txBody>
      </p:sp>
      <p:sp>
        <p:nvSpPr>
          <p:cNvPr id="67" name="Text 63"/>
          <p:cNvSpPr/>
          <p:nvPr/>
        </p:nvSpPr>
        <p:spPr>
          <a:xfrm>
            <a:off x="3178969" y="2829818"/>
            <a:ext cx="1678781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内容日历管理、一键分发、剪贴板快捷、发布状态追踪</a:t>
            </a:r>
            <a:endParaRPr lang="en-US" sz="568" dirty="0"/>
          </a:p>
        </p:txBody>
      </p:sp>
      <p:sp>
        <p:nvSpPr>
          <p:cNvPr id="68" name="Shape 64"/>
          <p:cNvSpPr/>
          <p:nvPr/>
        </p:nvSpPr>
        <p:spPr>
          <a:xfrm>
            <a:off x="3178969" y="3283000"/>
            <a:ext cx="780817" cy="116086"/>
          </a:xfrm>
          <a:prstGeom prst="rect">
            <a:avLst/>
          </a:prstGeom>
          <a:solidFill>
            <a:srgbClr val="06B6D4">
              <a:alpha val="10000"/>
            </a:srgbClr>
          </a:solidFill>
          <a:ln w="9144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3178969" y="3283000"/>
            <a:ext cx="780817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distributionRouter</a:t>
            </a:r>
            <a:endParaRPr lang="en-US" sz="516" dirty="0"/>
          </a:p>
        </p:txBody>
      </p:sp>
      <p:sp>
        <p:nvSpPr>
          <p:cNvPr id="70" name="Shape 66"/>
          <p:cNvSpPr/>
          <p:nvPr/>
        </p:nvSpPr>
        <p:spPr>
          <a:xfrm>
            <a:off x="5014913" y="2604790"/>
            <a:ext cx="1893094" cy="865733"/>
          </a:xfrm>
          <a:prstGeom prst="rect">
            <a:avLst/>
          </a:prstGeom>
          <a:solidFill>
            <a:srgbClr val="161B22"/>
          </a:solidFill>
          <a:ln w="9144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5122069" y="2676227"/>
            <a:ext cx="168235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数据分析引擎</a:t>
            </a:r>
            <a:endParaRPr lang="en-US" sz="634" dirty="0"/>
          </a:p>
        </p:txBody>
      </p:sp>
      <p:sp>
        <p:nvSpPr>
          <p:cNvPr id="72" name="Text 68"/>
          <p:cNvSpPr/>
          <p:nvPr/>
        </p:nvSpPr>
        <p:spPr>
          <a:xfrm>
            <a:off x="5122069" y="2829818"/>
            <a:ext cx="1682353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互动率计算、内容表现对比、平台效果排行、趋势预测</a:t>
            </a:r>
            <a:endParaRPr lang="en-US" sz="568" dirty="0"/>
          </a:p>
        </p:txBody>
      </p:sp>
      <p:sp>
        <p:nvSpPr>
          <p:cNvPr id="73" name="Shape 69"/>
          <p:cNvSpPr/>
          <p:nvPr/>
        </p:nvSpPr>
        <p:spPr>
          <a:xfrm>
            <a:off x="5122069" y="3283000"/>
            <a:ext cx="685800" cy="116086"/>
          </a:xfrm>
          <a:prstGeom prst="rect">
            <a:avLst/>
          </a:prstGeom>
          <a:solidFill>
            <a:srgbClr val="06B6D4">
              <a:alpha val="10000"/>
            </a:srgbClr>
          </a:solidFill>
          <a:ln w="9144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5122069" y="3283000"/>
            <a:ext cx="685800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analyticsRouter</a:t>
            </a:r>
            <a:endParaRPr lang="en-US" sz="516" dirty="0"/>
          </a:p>
        </p:txBody>
      </p:sp>
      <p:sp>
        <p:nvSpPr>
          <p:cNvPr id="75" name="Shape 71"/>
          <p:cNvSpPr/>
          <p:nvPr/>
        </p:nvSpPr>
        <p:spPr>
          <a:xfrm>
            <a:off x="6961584" y="2604790"/>
            <a:ext cx="1896666" cy="865733"/>
          </a:xfrm>
          <a:prstGeom prst="rect">
            <a:avLst/>
          </a:prstGeom>
          <a:solidFill>
            <a:srgbClr val="161B22"/>
          </a:solidFill>
          <a:ln w="9144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7072313" y="2683371"/>
            <a:ext cx="168592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用户权限系统</a:t>
            </a:r>
            <a:endParaRPr lang="en-US" sz="634" dirty="0"/>
          </a:p>
        </p:txBody>
      </p:sp>
      <p:sp>
        <p:nvSpPr>
          <p:cNvPr id="77" name="Text 73"/>
          <p:cNvSpPr/>
          <p:nvPr/>
        </p:nvSpPr>
        <p:spPr>
          <a:xfrm>
            <a:off x="7072313" y="2836962"/>
            <a:ext cx="1685925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Manus OAuth 认证、角色权限（admin/user）、API 配额管理</a:t>
            </a:r>
            <a:endParaRPr lang="en-US" sz="568" dirty="0"/>
          </a:p>
        </p:txBody>
      </p:sp>
      <p:sp>
        <p:nvSpPr>
          <p:cNvPr id="78" name="Shape 74"/>
          <p:cNvSpPr/>
          <p:nvPr/>
        </p:nvSpPr>
        <p:spPr>
          <a:xfrm>
            <a:off x="7072313" y="3279428"/>
            <a:ext cx="854041" cy="116086"/>
          </a:xfrm>
          <a:prstGeom prst="rect">
            <a:avLst/>
          </a:prstGeom>
          <a:solidFill>
            <a:srgbClr val="06B6D4">
              <a:alpha val="10000"/>
            </a:srgbClr>
          </a:solidFill>
          <a:ln w="9144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7072313" y="3279428"/>
            <a:ext cx="854041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protectedProcedure</a:t>
            </a:r>
            <a:endParaRPr lang="en-US" sz="516" dirty="0"/>
          </a:p>
        </p:txBody>
      </p:sp>
      <p:sp>
        <p:nvSpPr>
          <p:cNvPr id="80" name="Text 76"/>
          <p:cNvSpPr/>
          <p:nvPr/>
        </p:nvSpPr>
        <p:spPr>
          <a:xfrm>
            <a:off x="3779044" y="3464272"/>
            <a:ext cx="36433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UI 数据</a:t>
            </a:r>
            <a:endParaRPr lang="en-US" sz="516" dirty="0"/>
          </a:p>
        </p:txBody>
      </p:sp>
      <p:sp>
        <p:nvSpPr>
          <p:cNvPr id="81" name="Text 77"/>
          <p:cNvSpPr/>
          <p:nvPr/>
        </p:nvSpPr>
        <p:spPr>
          <a:xfrm>
            <a:off x="4429125" y="3464272"/>
            <a:ext cx="40719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操作响应</a:t>
            </a:r>
            <a:endParaRPr lang="en-US" sz="516" dirty="0"/>
          </a:p>
        </p:txBody>
      </p:sp>
      <p:sp>
        <p:nvSpPr>
          <p:cNvPr id="82" name="Text 78"/>
          <p:cNvSpPr/>
          <p:nvPr/>
        </p:nvSpPr>
        <p:spPr>
          <a:xfrm>
            <a:off x="5122069" y="3464272"/>
            <a:ext cx="40719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状态更新</a:t>
            </a:r>
            <a:endParaRPr lang="en-US" sz="516" dirty="0"/>
          </a:p>
        </p:txBody>
      </p:sp>
      <p:sp>
        <p:nvSpPr>
          <p:cNvPr id="83" name="Text 79"/>
          <p:cNvSpPr/>
          <p:nvPr/>
        </p:nvSpPr>
        <p:spPr>
          <a:xfrm>
            <a:off x="5815013" y="3464272"/>
            <a:ext cx="40719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权限校验</a:t>
            </a:r>
            <a:endParaRPr lang="en-US" sz="516" dirty="0"/>
          </a:p>
        </p:txBody>
      </p:sp>
      <p:sp>
        <p:nvSpPr>
          <p:cNvPr id="84" name="Text 80"/>
          <p:cNvSpPr/>
          <p:nvPr/>
        </p:nvSpPr>
        <p:spPr>
          <a:xfrm>
            <a:off x="469869" y="3881428"/>
            <a:ext cx="417575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04</a:t>
            </a:r>
            <a:endParaRPr lang="en-US" sz="485" dirty="0"/>
          </a:p>
        </p:txBody>
      </p:sp>
      <p:sp>
        <p:nvSpPr>
          <p:cNvPr id="85" name="Text 81"/>
          <p:cNvSpPr/>
          <p:nvPr/>
        </p:nvSpPr>
        <p:spPr>
          <a:xfrm>
            <a:off x="446484" y="3997514"/>
            <a:ext cx="464344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22C5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用户界面层</a:t>
            </a:r>
            <a:endParaRPr lang="en-US" sz="634" dirty="0"/>
          </a:p>
        </p:txBody>
      </p:sp>
      <p:sp>
        <p:nvSpPr>
          <p:cNvPr id="86" name="Shape 82"/>
          <p:cNvSpPr/>
          <p:nvPr/>
        </p:nvSpPr>
        <p:spPr>
          <a:xfrm>
            <a:off x="1143000" y="3563392"/>
            <a:ext cx="1885950" cy="872877"/>
          </a:xfrm>
          <a:prstGeom prst="rect">
            <a:avLst/>
          </a:prstGeom>
          <a:solidFill>
            <a:srgbClr val="161B22"/>
          </a:solidFill>
          <a:ln w="9144">
            <a:solidFill>
              <a:srgbClr val="22C55E">
                <a:alpha val="15000"/>
              </a:srgbClr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1243013" y="3634829"/>
            <a:ext cx="167520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首页数据看板</a:t>
            </a:r>
            <a:endParaRPr lang="en-US" sz="634" dirty="0"/>
          </a:p>
        </p:txBody>
      </p:sp>
      <p:sp>
        <p:nvSpPr>
          <p:cNvPr id="88" name="Text 84"/>
          <p:cNvSpPr/>
          <p:nvPr/>
        </p:nvSpPr>
        <p:spPr>
          <a:xfrm>
            <a:off x="1243013" y="3788420"/>
            <a:ext cx="1675209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渐变面积图、Sparkline 趋势卡片、实时数据概览</a:t>
            </a:r>
            <a:endParaRPr lang="en-US" sz="568" dirty="0"/>
          </a:p>
        </p:txBody>
      </p:sp>
      <p:sp>
        <p:nvSpPr>
          <p:cNvPr id="89" name="Shape 85"/>
          <p:cNvSpPr/>
          <p:nvPr/>
        </p:nvSpPr>
        <p:spPr>
          <a:xfrm>
            <a:off x="1243013" y="4248745"/>
            <a:ext cx="455777" cy="116086"/>
          </a:xfrm>
          <a:prstGeom prst="rect">
            <a:avLst/>
          </a:prstGeom>
          <a:solidFill>
            <a:srgbClr val="22C55E">
              <a:alpha val="10000"/>
            </a:srgbClr>
          </a:solidFill>
          <a:ln w="9144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1243013" y="4248745"/>
            <a:ext cx="455777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Home.tsx</a:t>
            </a:r>
            <a:endParaRPr lang="en-US" sz="516" dirty="0"/>
          </a:p>
        </p:txBody>
      </p:sp>
      <p:sp>
        <p:nvSpPr>
          <p:cNvPr id="91" name="Shape 87"/>
          <p:cNvSpPr/>
          <p:nvPr/>
        </p:nvSpPr>
        <p:spPr>
          <a:xfrm>
            <a:off x="3075384" y="3563392"/>
            <a:ext cx="1889522" cy="872877"/>
          </a:xfrm>
          <a:prstGeom prst="rect">
            <a:avLst/>
          </a:prstGeom>
          <a:solidFill>
            <a:srgbClr val="161B22"/>
          </a:solidFill>
          <a:ln w="9144">
            <a:solidFill>
              <a:srgbClr val="22C55E">
                <a:alpha val="15000"/>
              </a:srgbClr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3178969" y="3645545"/>
            <a:ext cx="167878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内容生成工作台</a:t>
            </a:r>
            <a:endParaRPr lang="en-US" sz="634" dirty="0"/>
          </a:p>
        </p:txBody>
      </p:sp>
      <p:sp>
        <p:nvSpPr>
          <p:cNvPr id="93" name="Text 89"/>
          <p:cNvSpPr/>
          <p:nvPr/>
        </p:nvSpPr>
        <p:spPr>
          <a:xfrm>
            <a:off x="3178969" y="3799136"/>
            <a:ext cx="1678781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文案 + 配图 + Agent 全自动生成，多平台预览</a:t>
            </a:r>
            <a:endParaRPr lang="en-US" sz="568" dirty="0"/>
          </a:p>
        </p:txBody>
      </p:sp>
      <p:sp>
        <p:nvSpPr>
          <p:cNvPr id="94" name="Shape 90"/>
          <p:cNvSpPr/>
          <p:nvPr/>
        </p:nvSpPr>
        <p:spPr>
          <a:xfrm>
            <a:off x="3178969" y="4248745"/>
            <a:ext cx="581881" cy="116086"/>
          </a:xfrm>
          <a:prstGeom prst="rect">
            <a:avLst/>
          </a:prstGeom>
          <a:solidFill>
            <a:srgbClr val="22C55E">
              <a:alpha val="10000"/>
            </a:srgbClr>
          </a:solidFill>
          <a:ln w="9144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3178969" y="4248745"/>
            <a:ext cx="581881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Generate.tsx</a:t>
            </a:r>
            <a:endParaRPr lang="en-US" sz="516" dirty="0"/>
          </a:p>
        </p:txBody>
      </p:sp>
      <p:sp>
        <p:nvSpPr>
          <p:cNvPr id="96" name="Shape 92"/>
          <p:cNvSpPr/>
          <p:nvPr/>
        </p:nvSpPr>
        <p:spPr>
          <a:xfrm>
            <a:off x="5014913" y="3584823"/>
            <a:ext cx="1893094" cy="851446"/>
          </a:xfrm>
          <a:prstGeom prst="rect">
            <a:avLst/>
          </a:prstGeom>
          <a:solidFill>
            <a:srgbClr val="161B22"/>
          </a:solidFill>
          <a:ln w="9144">
            <a:solidFill>
              <a:srgbClr val="22C55E">
                <a:alpha val="15000"/>
              </a:srgbClr>
            </a:solidFill>
            <a:prstDash val="solid"/>
          </a:ln>
        </p:spPr>
      </p:sp>
      <p:sp>
        <p:nvSpPr>
          <p:cNvPr id="97" name="Text 93"/>
          <p:cNvSpPr/>
          <p:nvPr/>
        </p:nvSpPr>
        <p:spPr>
          <a:xfrm>
            <a:off x="5122069" y="3656261"/>
            <a:ext cx="168235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视频工作台</a:t>
            </a:r>
            <a:endParaRPr lang="en-US" sz="634" dirty="0"/>
          </a:p>
        </p:txBody>
      </p:sp>
      <p:sp>
        <p:nvSpPr>
          <p:cNvPr id="98" name="Text 94"/>
          <p:cNvSpPr/>
          <p:nvPr/>
        </p:nvSpPr>
        <p:spPr>
          <a:xfrm>
            <a:off x="5122069" y="3809851"/>
            <a:ext cx="1682353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文生/图生视频、倒计时进度、批量多比例生成</a:t>
            </a:r>
            <a:endParaRPr lang="en-US" sz="568" dirty="0"/>
          </a:p>
        </p:txBody>
      </p:sp>
      <p:sp>
        <p:nvSpPr>
          <p:cNvPr id="99" name="Shape 95"/>
          <p:cNvSpPr/>
          <p:nvPr/>
        </p:nvSpPr>
        <p:spPr>
          <a:xfrm>
            <a:off x="5122069" y="4248745"/>
            <a:ext cx="829038" cy="116086"/>
          </a:xfrm>
          <a:prstGeom prst="rect">
            <a:avLst/>
          </a:prstGeom>
          <a:solidFill>
            <a:srgbClr val="22C55E">
              <a:alpha val="10000"/>
            </a:srgbClr>
          </a:solidFill>
          <a:ln w="9144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5122069" y="4248745"/>
            <a:ext cx="829038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VideoGenerator.tsx</a:t>
            </a:r>
            <a:endParaRPr lang="en-US" sz="516" dirty="0"/>
          </a:p>
        </p:txBody>
      </p:sp>
      <p:sp>
        <p:nvSpPr>
          <p:cNvPr id="101" name="Shape 97"/>
          <p:cNvSpPr/>
          <p:nvPr/>
        </p:nvSpPr>
        <p:spPr>
          <a:xfrm>
            <a:off x="6961584" y="3584823"/>
            <a:ext cx="1896666" cy="851446"/>
          </a:xfrm>
          <a:prstGeom prst="rect">
            <a:avLst/>
          </a:prstGeom>
          <a:solidFill>
            <a:srgbClr val="161B22"/>
          </a:solidFill>
          <a:ln w="9144">
            <a:solidFill>
              <a:srgbClr val="22C55E">
                <a:alpha val="15000"/>
              </a:srgbClr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7072313" y="3656261"/>
            <a:ext cx="168592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发布 / 分析中心</a:t>
            </a:r>
            <a:endParaRPr lang="en-US" sz="634" dirty="0"/>
          </a:p>
        </p:txBody>
      </p:sp>
      <p:sp>
        <p:nvSpPr>
          <p:cNvPr id="103" name="Text 99"/>
          <p:cNvSpPr/>
          <p:nvPr/>
        </p:nvSpPr>
        <p:spPr>
          <a:xfrm>
            <a:off x="7072313" y="3809851"/>
            <a:ext cx="1685925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内容日历、一键分发、效果追踪、互动数据录入</a:t>
            </a:r>
            <a:endParaRPr lang="en-US" sz="568" dirty="0"/>
          </a:p>
        </p:txBody>
      </p:sp>
      <p:sp>
        <p:nvSpPr>
          <p:cNvPr id="104" name="Shape 100"/>
          <p:cNvSpPr/>
          <p:nvPr/>
        </p:nvSpPr>
        <p:spPr>
          <a:xfrm>
            <a:off x="7072313" y="4248745"/>
            <a:ext cx="806546" cy="116086"/>
          </a:xfrm>
          <a:prstGeom prst="rect">
            <a:avLst/>
          </a:prstGeom>
          <a:solidFill>
            <a:srgbClr val="22C55E">
              <a:alpha val="10000"/>
            </a:srgbClr>
          </a:solidFill>
          <a:ln w="9144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105" name="Text 101"/>
          <p:cNvSpPr/>
          <p:nvPr/>
        </p:nvSpPr>
        <p:spPr>
          <a:xfrm>
            <a:off x="7072313" y="4248745"/>
            <a:ext cx="806546" cy="116086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/ Analytics</a:t>
            </a:r>
            <a:endParaRPr lang="en-US" sz="516" dirty="0"/>
          </a:p>
        </p:txBody>
      </p:sp>
      <p:sp>
        <p:nvSpPr>
          <p:cNvPr id="106" name="Shape 102"/>
          <p:cNvSpPr/>
          <p:nvPr/>
        </p:nvSpPr>
        <p:spPr>
          <a:xfrm>
            <a:off x="285750" y="4507706"/>
            <a:ext cx="8572500" cy="6357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7" name="Shape 103"/>
          <p:cNvSpPr/>
          <p:nvPr/>
        </p:nvSpPr>
        <p:spPr>
          <a:xfrm>
            <a:off x="285750" y="4507706"/>
            <a:ext cx="8572500" cy="7144"/>
          </a:xfrm>
          <a:prstGeom prst="rect">
            <a:avLst/>
          </a:prstGeom>
          <a:solidFill>
            <a:srgbClr val="B3F2FF"/>
          </a:solidFill>
          <a:ln/>
        </p:spPr>
      </p:sp>
      <p:sp>
        <p:nvSpPr>
          <p:cNvPr id="108" name="Text 104"/>
          <p:cNvSpPr/>
          <p:nvPr/>
        </p:nvSpPr>
        <p:spPr>
          <a:xfrm>
            <a:off x="285750" y="4586288"/>
            <a:ext cx="6883003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技术栈：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 + TypeScript + tRPC 11 + Drizzle ORM + MySQL/TiDB + S3 存储 + Manus OAuth。 AI 能力全部通过内置 API 调用，无需用户配置密钥；视频引擎已切换至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火山引擎国内版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（ark.cn-beijing.volces.com），模型 ID 格式为 doubao-seedance-*。</a:t>
            </a:r>
            <a:endParaRPr lang="en-US" sz="621" dirty="0"/>
          </a:p>
        </p:txBody>
      </p:sp>
      <p:sp>
        <p:nvSpPr>
          <p:cNvPr id="109" name="Text 105"/>
          <p:cNvSpPr/>
          <p:nvPr/>
        </p:nvSpPr>
        <p:spPr>
          <a:xfrm>
            <a:off x="7418784" y="4586288"/>
            <a:ext cx="1291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前端：React 19 + Vite + TailwindCSS 4</a:t>
            </a:r>
            <a:endParaRPr lang="en-US" sz="516" dirty="0"/>
          </a:p>
        </p:txBody>
      </p:sp>
      <p:sp>
        <p:nvSpPr>
          <p:cNvPr id="110" name="Text 106"/>
          <p:cNvSpPr/>
          <p:nvPr/>
        </p:nvSpPr>
        <p:spPr>
          <a:xfrm>
            <a:off x="7418784" y="4705945"/>
            <a:ext cx="130909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后端：Express 4 + tRPC 11 + Superjson</a:t>
            </a:r>
            <a:endParaRPr lang="en-US" sz="516" dirty="0"/>
          </a:p>
        </p:txBody>
      </p:sp>
      <p:sp>
        <p:nvSpPr>
          <p:cNvPr id="111" name="Text 107"/>
          <p:cNvSpPr/>
          <p:nvPr/>
        </p:nvSpPr>
        <p:spPr>
          <a:xfrm>
            <a:off x="7418784" y="4825603"/>
            <a:ext cx="122515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数据库：MySQL/TiDB + Drizzle ORM</a:t>
            </a:r>
            <a:endParaRPr lang="en-US" sz="516" dirty="0"/>
          </a:p>
        </p:txBody>
      </p:sp>
      <p:sp>
        <p:nvSpPr>
          <p:cNvPr id="112" name="Text 108"/>
          <p:cNvSpPr/>
          <p:nvPr/>
        </p:nvSpPr>
        <p:spPr>
          <a:xfrm>
            <a:off x="7418784" y="4945261"/>
            <a:ext cx="143946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AI：Manus LLM + 火山引擎 Seedance + S3</a:t>
            </a:r>
            <a:endParaRPr lang="en-US" sz="51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00025"/>
            <a:ext cx="9144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AI TECHNOLOGY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0" y="353616"/>
            <a:ext cx="914400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视频生成技术选型：doubao-seedance 系列全面集成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285750" y="751880"/>
            <a:ext cx="500062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六大模型能力对比</a:t>
            </a:r>
            <a:endParaRPr lang="en-US" sz="516" dirty="0"/>
          </a:p>
        </p:txBody>
      </p:sp>
      <p:sp>
        <p:nvSpPr>
          <p:cNvPr id="7" name="Shape 3"/>
          <p:cNvSpPr/>
          <p:nvPr/>
        </p:nvSpPr>
        <p:spPr>
          <a:xfrm>
            <a:off x="285750" y="907256"/>
            <a:ext cx="5000625" cy="23038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4"/>
          <p:cNvSpPr/>
          <p:nvPr/>
        </p:nvSpPr>
        <p:spPr>
          <a:xfrm>
            <a:off x="285750" y="907256"/>
            <a:ext cx="1428750" cy="230386"/>
          </a:xfrm>
          <a:prstGeom prst="rect">
            <a:avLst/>
          </a:prstGeom>
          <a:noFill/>
          <a:ln/>
        </p:spPr>
        <p:txBody>
          <a:bodyPr wrap="square" lIns="85090" tIns="76581" rIns="85090" bIns="76581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</a:t>
            </a:r>
            <a:endParaRPr lang="en-US" sz="485" dirty="0"/>
          </a:p>
        </p:txBody>
      </p:sp>
      <p:sp>
        <p:nvSpPr>
          <p:cNvPr id="9" name="Text 5"/>
          <p:cNvSpPr/>
          <p:nvPr/>
        </p:nvSpPr>
        <p:spPr>
          <a:xfrm>
            <a:off x="1714500" y="907256"/>
            <a:ext cx="801914" cy="230386"/>
          </a:xfrm>
          <a:prstGeom prst="rect">
            <a:avLst/>
          </a:prstGeom>
          <a:noFill/>
          <a:ln/>
        </p:spPr>
        <p:txBody>
          <a:bodyPr wrap="square" lIns="85090" tIns="76581" rIns="85090" bIns="76581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提供商</a:t>
            </a:r>
            <a:endParaRPr lang="en-US" sz="485" dirty="0"/>
          </a:p>
        </p:txBody>
      </p:sp>
      <p:sp>
        <p:nvSpPr>
          <p:cNvPr id="10" name="Text 6"/>
          <p:cNvSpPr/>
          <p:nvPr/>
        </p:nvSpPr>
        <p:spPr>
          <a:xfrm>
            <a:off x="2516414" y="907256"/>
            <a:ext cx="646454" cy="230386"/>
          </a:xfrm>
          <a:prstGeom prst="rect">
            <a:avLst/>
          </a:prstGeom>
          <a:noFill/>
          <a:ln/>
        </p:spPr>
        <p:txBody>
          <a:bodyPr wrap="square" lIns="85090" tIns="76581" rIns="85090" bIns="76581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最长时长</a:t>
            </a:r>
            <a:endParaRPr lang="en-US" sz="485" dirty="0"/>
          </a:p>
        </p:txBody>
      </p:sp>
      <p:sp>
        <p:nvSpPr>
          <p:cNvPr id="11" name="Text 7"/>
          <p:cNvSpPr/>
          <p:nvPr/>
        </p:nvSpPr>
        <p:spPr>
          <a:xfrm>
            <a:off x="3162867" y="907256"/>
            <a:ext cx="756903" cy="230386"/>
          </a:xfrm>
          <a:prstGeom prst="rect">
            <a:avLst/>
          </a:prstGeom>
          <a:noFill/>
          <a:ln/>
        </p:spPr>
        <p:txBody>
          <a:bodyPr wrap="square" lIns="85090" tIns="76581" rIns="85090" bIns="76581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最高分辨率</a:t>
            </a:r>
            <a:endParaRPr lang="en-US" sz="485" dirty="0"/>
          </a:p>
        </p:txBody>
      </p:sp>
      <p:sp>
        <p:nvSpPr>
          <p:cNvPr id="12" name="Text 8"/>
          <p:cNvSpPr/>
          <p:nvPr/>
        </p:nvSpPr>
        <p:spPr>
          <a:xfrm>
            <a:off x="3919770" y="907256"/>
            <a:ext cx="646454" cy="230386"/>
          </a:xfrm>
          <a:prstGeom prst="rect">
            <a:avLst/>
          </a:prstGeom>
          <a:noFill/>
          <a:ln/>
        </p:spPr>
        <p:txBody>
          <a:bodyPr wrap="square" lIns="85090" tIns="76581" rIns="85090" bIns="76581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图生视频</a:t>
            </a:r>
            <a:endParaRPr lang="en-US" sz="485" dirty="0"/>
          </a:p>
        </p:txBody>
      </p:sp>
      <p:sp>
        <p:nvSpPr>
          <p:cNvPr id="13" name="Text 9"/>
          <p:cNvSpPr/>
          <p:nvPr/>
        </p:nvSpPr>
        <p:spPr>
          <a:xfrm>
            <a:off x="4566224" y="907256"/>
            <a:ext cx="720151" cy="230386"/>
          </a:xfrm>
          <a:prstGeom prst="rect">
            <a:avLst/>
          </a:prstGeom>
          <a:noFill/>
          <a:ln/>
        </p:spPr>
        <p:txBody>
          <a:bodyPr wrap="square" lIns="85090" tIns="76581" rIns="85090" bIns="76581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集成状态</a:t>
            </a:r>
            <a:endParaRPr lang="en-US" sz="485" dirty="0"/>
          </a:p>
        </p:txBody>
      </p:sp>
      <p:sp>
        <p:nvSpPr>
          <p:cNvPr id="14" name="Text 10"/>
          <p:cNvSpPr/>
          <p:nvPr/>
        </p:nvSpPr>
        <p:spPr>
          <a:xfrm>
            <a:off x="357188" y="1198364"/>
            <a:ext cx="1285875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Seedance 1.0 Pro</a:t>
            </a: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357188" y="1307306"/>
            <a:ext cx="1285875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doubao-seedance-1-0-pro-250528</a:t>
            </a:r>
            <a:endParaRPr lang="en-US" sz="516" dirty="0"/>
          </a:p>
        </p:txBody>
      </p:sp>
      <p:sp>
        <p:nvSpPr>
          <p:cNvPr id="16" name="Shape 12"/>
          <p:cNvSpPr/>
          <p:nvPr/>
        </p:nvSpPr>
        <p:spPr>
          <a:xfrm>
            <a:off x="1906851" y="1226046"/>
            <a:ext cx="417212" cy="141089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906851" y="1226046"/>
            <a:ext cx="417212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火山引擎</a:t>
            </a:r>
            <a:endParaRPr lang="en-US" sz="516" dirty="0"/>
          </a:p>
        </p:txBody>
      </p:sp>
      <p:sp>
        <p:nvSpPr>
          <p:cNvPr id="18" name="Text 14"/>
          <p:cNvSpPr/>
          <p:nvPr/>
        </p:nvSpPr>
        <p:spPr>
          <a:xfrm>
            <a:off x="2516414" y="1137642"/>
            <a:ext cx="646454" cy="317897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10s</a:t>
            </a:r>
            <a:endParaRPr lang="en-US" sz="568" dirty="0"/>
          </a:p>
        </p:txBody>
      </p:sp>
      <p:sp>
        <p:nvSpPr>
          <p:cNvPr id="19" name="Text 15"/>
          <p:cNvSpPr/>
          <p:nvPr/>
        </p:nvSpPr>
        <p:spPr>
          <a:xfrm>
            <a:off x="3162867" y="1137642"/>
            <a:ext cx="756903" cy="317897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1080p</a:t>
            </a:r>
            <a:endParaRPr lang="en-US" sz="568" dirty="0"/>
          </a:p>
        </p:txBody>
      </p:sp>
      <p:sp>
        <p:nvSpPr>
          <p:cNvPr id="20" name="Text 16"/>
          <p:cNvSpPr/>
          <p:nvPr/>
        </p:nvSpPr>
        <p:spPr>
          <a:xfrm>
            <a:off x="4201027" y="1235869"/>
            <a:ext cx="839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27" dirty="0"/>
          </a:p>
        </p:txBody>
      </p:sp>
      <p:sp>
        <p:nvSpPr>
          <p:cNvPr id="21" name="Shape 17"/>
          <p:cNvSpPr/>
          <p:nvPr/>
        </p:nvSpPr>
        <p:spPr>
          <a:xfrm>
            <a:off x="4746268" y="1226046"/>
            <a:ext cx="360062" cy="141089"/>
          </a:xfrm>
          <a:prstGeom prst="rect">
            <a:avLst/>
          </a:prstGeom>
          <a:solidFill>
            <a:srgbClr val="00D4FF">
              <a:alpha val="12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46268" y="1226046"/>
            <a:ext cx="360062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已集成</a:t>
            </a:r>
            <a:endParaRPr lang="en-US" sz="485" dirty="0"/>
          </a:p>
        </p:txBody>
      </p:sp>
      <p:sp>
        <p:nvSpPr>
          <p:cNvPr id="23" name="Shape 19"/>
          <p:cNvSpPr/>
          <p:nvPr/>
        </p:nvSpPr>
        <p:spPr>
          <a:xfrm>
            <a:off x="285750" y="1455539"/>
            <a:ext cx="5000625" cy="40540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285750" y="1853803"/>
            <a:ext cx="5000625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357188" y="1516261"/>
            <a:ext cx="1285875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Seedance 1.0 Pro Fast</a:t>
            </a:r>
            <a:endParaRPr lang="en-US" sz="584" dirty="0"/>
          </a:p>
        </p:txBody>
      </p:sp>
      <p:sp>
        <p:nvSpPr>
          <p:cNvPr id="26" name="Text 22"/>
          <p:cNvSpPr/>
          <p:nvPr/>
        </p:nvSpPr>
        <p:spPr>
          <a:xfrm>
            <a:off x="357188" y="1625203"/>
            <a:ext cx="12858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doubao-seedance-1-0-pro-fast-251015</a:t>
            </a:r>
            <a:endParaRPr lang="en-US" sz="516" dirty="0"/>
          </a:p>
        </p:txBody>
      </p:sp>
      <p:sp>
        <p:nvSpPr>
          <p:cNvPr id="27" name="Shape 23"/>
          <p:cNvSpPr/>
          <p:nvPr/>
        </p:nvSpPr>
        <p:spPr>
          <a:xfrm>
            <a:off x="1906851" y="1587698"/>
            <a:ext cx="417212" cy="141089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906851" y="1587698"/>
            <a:ext cx="417212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火山引擎</a:t>
            </a:r>
            <a:endParaRPr lang="en-US" sz="516" dirty="0"/>
          </a:p>
        </p:txBody>
      </p:sp>
      <p:sp>
        <p:nvSpPr>
          <p:cNvPr id="29" name="Text 25"/>
          <p:cNvSpPr/>
          <p:nvPr/>
        </p:nvSpPr>
        <p:spPr>
          <a:xfrm>
            <a:off x="2516414" y="1455539"/>
            <a:ext cx="646454" cy="4018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10s</a:t>
            </a:r>
            <a:endParaRPr lang="en-US" sz="568" dirty="0"/>
          </a:p>
        </p:txBody>
      </p:sp>
      <p:sp>
        <p:nvSpPr>
          <p:cNvPr id="30" name="Text 26"/>
          <p:cNvSpPr/>
          <p:nvPr/>
        </p:nvSpPr>
        <p:spPr>
          <a:xfrm>
            <a:off x="3162867" y="1455539"/>
            <a:ext cx="756903" cy="4018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1080p</a:t>
            </a:r>
            <a:endParaRPr lang="en-US" sz="568" dirty="0"/>
          </a:p>
        </p:txBody>
      </p:sp>
      <p:sp>
        <p:nvSpPr>
          <p:cNvPr id="31" name="Text 27"/>
          <p:cNvSpPr/>
          <p:nvPr/>
        </p:nvSpPr>
        <p:spPr>
          <a:xfrm>
            <a:off x="4201027" y="1597521"/>
            <a:ext cx="839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27" dirty="0"/>
          </a:p>
        </p:txBody>
      </p:sp>
      <p:sp>
        <p:nvSpPr>
          <p:cNvPr id="32" name="Shape 28"/>
          <p:cNvSpPr/>
          <p:nvPr/>
        </p:nvSpPr>
        <p:spPr>
          <a:xfrm>
            <a:off x="4746268" y="1587698"/>
            <a:ext cx="360062" cy="141089"/>
          </a:xfrm>
          <a:prstGeom prst="rect">
            <a:avLst/>
          </a:prstGeom>
          <a:solidFill>
            <a:srgbClr val="00D4FF">
              <a:alpha val="12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46268" y="1587698"/>
            <a:ext cx="360062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已集成</a:t>
            </a:r>
            <a:endParaRPr lang="en-US" sz="485" dirty="0"/>
          </a:p>
        </p:txBody>
      </p:sp>
      <p:sp>
        <p:nvSpPr>
          <p:cNvPr id="34" name="Text 30"/>
          <p:cNvSpPr/>
          <p:nvPr/>
        </p:nvSpPr>
        <p:spPr>
          <a:xfrm>
            <a:off x="357188" y="1914525"/>
            <a:ext cx="1285875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Seedance 1.0 Lite T2V</a:t>
            </a:r>
            <a:endParaRPr lang="en-US" sz="584" dirty="0"/>
          </a:p>
        </p:txBody>
      </p:sp>
      <p:sp>
        <p:nvSpPr>
          <p:cNvPr id="35" name="Text 31"/>
          <p:cNvSpPr/>
          <p:nvPr/>
        </p:nvSpPr>
        <p:spPr>
          <a:xfrm>
            <a:off x="357188" y="2023467"/>
            <a:ext cx="12858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doubao-seedance-1-0-lite-t2v-250428</a:t>
            </a:r>
            <a:endParaRPr lang="en-US" sz="516" dirty="0"/>
          </a:p>
        </p:txBody>
      </p:sp>
      <p:sp>
        <p:nvSpPr>
          <p:cNvPr id="36" name="Shape 32"/>
          <p:cNvSpPr/>
          <p:nvPr/>
        </p:nvSpPr>
        <p:spPr>
          <a:xfrm>
            <a:off x="1906851" y="1985963"/>
            <a:ext cx="417212" cy="141089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906851" y="1985963"/>
            <a:ext cx="417212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火山引擎</a:t>
            </a:r>
            <a:endParaRPr lang="en-US" sz="516" dirty="0"/>
          </a:p>
        </p:txBody>
      </p:sp>
      <p:sp>
        <p:nvSpPr>
          <p:cNvPr id="38" name="Text 34"/>
          <p:cNvSpPr/>
          <p:nvPr/>
        </p:nvSpPr>
        <p:spPr>
          <a:xfrm>
            <a:off x="2516414" y="1857375"/>
            <a:ext cx="646454" cy="4018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10s</a:t>
            </a:r>
            <a:endParaRPr lang="en-US" sz="568" dirty="0"/>
          </a:p>
        </p:txBody>
      </p:sp>
      <p:sp>
        <p:nvSpPr>
          <p:cNvPr id="39" name="Text 35"/>
          <p:cNvSpPr/>
          <p:nvPr/>
        </p:nvSpPr>
        <p:spPr>
          <a:xfrm>
            <a:off x="3162867" y="1857375"/>
            <a:ext cx="756903" cy="4018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720p</a:t>
            </a:r>
            <a:endParaRPr lang="en-US" sz="568" dirty="0"/>
          </a:p>
        </p:txBody>
      </p:sp>
      <p:sp>
        <p:nvSpPr>
          <p:cNvPr id="40" name="Text 36"/>
          <p:cNvSpPr/>
          <p:nvPr/>
        </p:nvSpPr>
        <p:spPr>
          <a:xfrm>
            <a:off x="4201027" y="1995785"/>
            <a:ext cx="839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727" dirty="0"/>
          </a:p>
        </p:txBody>
      </p:sp>
      <p:sp>
        <p:nvSpPr>
          <p:cNvPr id="41" name="Shape 37"/>
          <p:cNvSpPr/>
          <p:nvPr/>
        </p:nvSpPr>
        <p:spPr>
          <a:xfrm>
            <a:off x="4746268" y="1985963"/>
            <a:ext cx="360062" cy="141089"/>
          </a:xfrm>
          <a:prstGeom prst="rect">
            <a:avLst/>
          </a:prstGeom>
          <a:solidFill>
            <a:srgbClr val="00D4FF">
              <a:alpha val="12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46268" y="1985963"/>
            <a:ext cx="360062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已集成</a:t>
            </a:r>
            <a:endParaRPr lang="en-US" sz="485" dirty="0"/>
          </a:p>
        </p:txBody>
      </p:sp>
      <p:sp>
        <p:nvSpPr>
          <p:cNvPr id="43" name="Shape 39"/>
          <p:cNvSpPr/>
          <p:nvPr/>
        </p:nvSpPr>
        <p:spPr>
          <a:xfrm>
            <a:off x="285750" y="2259211"/>
            <a:ext cx="5000625" cy="40540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285750" y="2657475"/>
            <a:ext cx="5000625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1"/>
          <p:cNvSpPr/>
          <p:nvPr/>
        </p:nvSpPr>
        <p:spPr>
          <a:xfrm>
            <a:off x="357188" y="2319933"/>
            <a:ext cx="1285875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Seedance 1.0 Lite I2V</a:t>
            </a:r>
            <a:endParaRPr lang="en-US" sz="584" dirty="0"/>
          </a:p>
        </p:txBody>
      </p:sp>
      <p:sp>
        <p:nvSpPr>
          <p:cNvPr id="46" name="Text 42"/>
          <p:cNvSpPr/>
          <p:nvPr/>
        </p:nvSpPr>
        <p:spPr>
          <a:xfrm>
            <a:off x="357188" y="2428875"/>
            <a:ext cx="12858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doubao-seedance-1-0-lite-i2v-250428</a:t>
            </a:r>
            <a:endParaRPr lang="en-US" sz="516" dirty="0"/>
          </a:p>
        </p:txBody>
      </p:sp>
      <p:sp>
        <p:nvSpPr>
          <p:cNvPr id="47" name="Shape 43"/>
          <p:cNvSpPr/>
          <p:nvPr/>
        </p:nvSpPr>
        <p:spPr>
          <a:xfrm>
            <a:off x="1906851" y="2391370"/>
            <a:ext cx="417212" cy="141089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906851" y="2391370"/>
            <a:ext cx="417212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火山引擎</a:t>
            </a:r>
            <a:endParaRPr lang="en-US" sz="516" dirty="0"/>
          </a:p>
        </p:txBody>
      </p:sp>
      <p:sp>
        <p:nvSpPr>
          <p:cNvPr id="49" name="Text 45"/>
          <p:cNvSpPr/>
          <p:nvPr/>
        </p:nvSpPr>
        <p:spPr>
          <a:xfrm>
            <a:off x="2516414" y="2259211"/>
            <a:ext cx="646454" cy="4018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10s</a:t>
            </a:r>
            <a:endParaRPr lang="en-US" sz="568" dirty="0"/>
          </a:p>
        </p:txBody>
      </p:sp>
      <p:sp>
        <p:nvSpPr>
          <p:cNvPr id="50" name="Text 46"/>
          <p:cNvSpPr/>
          <p:nvPr/>
        </p:nvSpPr>
        <p:spPr>
          <a:xfrm>
            <a:off x="3162867" y="2259211"/>
            <a:ext cx="756903" cy="4018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720p</a:t>
            </a:r>
            <a:endParaRPr lang="en-US" sz="568" dirty="0"/>
          </a:p>
        </p:txBody>
      </p:sp>
      <p:sp>
        <p:nvSpPr>
          <p:cNvPr id="51" name="Text 47"/>
          <p:cNvSpPr/>
          <p:nvPr/>
        </p:nvSpPr>
        <p:spPr>
          <a:xfrm>
            <a:off x="4201027" y="2401193"/>
            <a:ext cx="839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27" dirty="0"/>
          </a:p>
        </p:txBody>
      </p:sp>
      <p:sp>
        <p:nvSpPr>
          <p:cNvPr id="52" name="Shape 48"/>
          <p:cNvSpPr/>
          <p:nvPr/>
        </p:nvSpPr>
        <p:spPr>
          <a:xfrm>
            <a:off x="4746268" y="2391370"/>
            <a:ext cx="360062" cy="141089"/>
          </a:xfrm>
          <a:prstGeom prst="rect">
            <a:avLst/>
          </a:prstGeom>
          <a:solidFill>
            <a:srgbClr val="00D4FF">
              <a:alpha val="12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746268" y="2391370"/>
            <a:ext cx="360062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已集成</a:t>
            </a:r>
            <a:endParaRPr lang="en-US" sz="485" dirty="0"/>
          </a:p>
        </p:txBody>
      </p:sp>
      <p:sp>
        <p:nvSpPr>
          <p:cNvPr id="54" name="Text 50"/>
          <p:cNvSpPr/>
          <p:nvPr/>
        </p:nvSpPr>
        <p:spPr>
          <a:xfrm>
            <a:off x="357188" y="2718197"/>
            <a:ext cx="1285875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Seedance 1.5 Pro</a:t>
            </a:r>
            <a:endParaRPr lang="en-US" sz="584" dirty="0"/>
          </a:p>
        </p:txBody>
      </p:sp>
      <p:sp>
        <p:nvSpPr>
          <p:cNvPr id="55" name="Text 51"/>
          <p:cNvSpPr/>
          <p:nvPr/>
        </p:nvSpPr>
        <p:spPr>
          <a:xfrm>
            <a:off x="357188" y="2827139"/>
            <a:ext cx="1285875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doubao-seedance-1-5-pro-251215</a:t>
            </a:r>
            <a:endParaRPr lang="en-US" sz="516" dirty="0"/>
          </a:p>
        </p:txBody>
      </p:sp>
      <p:sp>
        <p:nvSpPr>
          <p:cNvPr id="56" name="Shape 52"/>
          <p:cNvSpPr/>
          <p:nvPr/>
        </p:nvSpPr>
        <p:spPr>
          <a:xfrm>
            <a:off x="1906851" y="2745879"/>
            <a:ext cx="417212" cy="141089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1906851" y="2745879"/>
            <a:ext cx="417212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火山引擎</a:t>
            </a:r>
            <a:endParaRPr lang="en-US" sz="516" dirty="0"/>
          </a:p>
        </p:txBody>
      </p:sp>
      <p:sp>
        <p:nvSpPr>
          <p:cNvPr id="58" name="Text 54"/>
          <p:cNvSpPr/>
          <p:nvPr/>
        </p:nvSpPr>
        <p:spPr>
          <a:xfrm>
            <a:off x="2500452" y="2661047"/>
            <a:ext cx="650165" cy="314325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10s</a:t>
            </a:r>
            <a:endParaRPr lang="en-US" sz="568" dirty="0"/>
          </a:p>
        </p:txBody>
      </p:sp>
      <p:sp>
        <p:nvSpPr>
          <p:cNvPr id="59" name="Text 55"/>
          <p:cNvSpPr/>
          <p:nvPr/>
        </p:nvSpPr>
        <p:spPr>
          <a:xfrm>
            <a:off x="3150617" y="2661047"/>
            <a:ext cx="761256" cy="314325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1080p</a:t>
            </a:r>
            <a:endParaRPr lang="en-US" sz="568" dirty="0"/>
          </a:p>
        </p:txBody>
      </p:sp>
      <p:sp>
        <p:nvSpPr>
          <p:cNvPr id="60" name="Text 56"/>
          <p:cNvSpPr/>
          <p:nvPr/>
        </p:nvSpPr>
        <p:spPr>
          <a:xfrm>
            <a:off x="4194972" y="2755702"/>
            <a:ext cx="839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27" dirty="0"/>
          </a:p>
        </p:txBody>
      </p:sp>
      <p:sp>
        <p:nvSpPr>
          <p:cNvPr id="61" name="Shape 57"/>
          <p:cNvSpPr/>
          <p:nvPr/>
        </p:nvSpPr>
        <p:spPr>
          <a:xfrm>
            <a:off x="4744176" y="2745879"/>
            <a:ext cx="360062" cy="141089"/>
          </a:xfrm>
          <a:prstGeom prst="rect">
            <a:avLst/>
          </a:prstGeom>
          <a:solidFill>
            <a:srgbClr val="00D4FF">
              <a:alpha val="12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4744176" y="2745879"/>
            <a:ext cx="360062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已集成</a:t>
            </a:r>
            <a:endParaRPr lang="en-US" sz="485" dirty="0"/>
          </a:p>
        </p:txBody>
      </p:sp>
      <p:sp>
        <p:nvSpPr>
          <p:cNvPr id="63" name="Shape 59"/>
          <p:cNvSpPr/>
          <p:nvPr/>
        </p:nvSpPr>
        <p:spPr>
          <a:xfrm>
            <a:off x="285750" y="2975372"/>
            <a:ext cx="5000625" cy="32861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4" name="Shape 60"/>
          <p:cNvSpPr/>
          <p:nvPr/>
        </p:nvSpPr>
        <p:spPr>
          <a:xfrm>
            <a:off x="285750" y="3296841"/>
            <a:ext cx="5000625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1"/>
          <p:cNvSpPr/>
          <p:nvPr/>
        </p:nvSpPr>
        <p:spPr>
          <a:xfrm>
            <a:off x="357188" y="3036094"/>
            <a:ext cx="1285875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Kling / Sora</a:t>
            </a:r>
            <a:endParaRPr lang="en-US" sz="584" dirty="0"/>
          </a:p>
        </p:txBody>
      </p:sp>
      <p:sp>
        <p:nvSpPr>
          <p:cNvPr id="66" name="Text 62"/>
          <p:cNvSpPr/>
          <p:nvPr/>
        </p:nvSpPr>
        <p:spPr>
          <a:xfrm>
            <a:off x="357188" y="3145036"/>
            <a:ext cx="12858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快手 / OpenAI</a:t>
            </a:r>
            <a:endParaRPr lang="en-US" sz="516" dirty="0"/>
          </a:p>
        </p:txBody>
      </p:sp>
      <p:sp>
        <p:nvSpPr>
          <p:cNvPr id="67" name="Shape 63"/>
          <p:cNvSpPr/>
          <p:nvPr/>
        </p:nvSpPr>
        <p:spPr>
          <a:xfrm>
            <a:off x="1974577" y="3069134"/>
            <a:ext cx="265770" cy="141089"/>
          </a:xfrm>
          <a:prstGeom prst="rect">
            <a:avLst/>
          </a:prstGeom>
          <a:solidFill>
            <a:srgbClr val="8B949E">
              <a:alpha val="10000"/>
            </a:srgbClr>
          </a:solidFill>
          <a:ln w="9144">
            <a:solidFill>
              <a:srgbClr val="8B949E">
                <a:alpha val="20000"/>
              </a:srgbClr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1974577" y="3069134"/>
            <a:ext cx="265770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备选</a:t>
            </a:r>
            <a:endParaRPr lang="en-US" sz="516" dirty="0"/>
          </a:p>
        </p:txBody>
      </p:sp>
      <p:sp>
        <p:nvSpPr>
          <p:cNvPr id="69" name="Text 65"/>
          <p:cNvSpPr/>
          <p:nvPr/>
        </p:nvSpPr>
        <p:spPr>
          <a:xfrm>
            <a:off x="2500452" y="2975372"/>
            <a:ext cx="650165" cy="32504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3min+</a:t>
            </a:r>
            <a:endParaRPr lang="en-US" sz="568" dirty="0"/>
          </a:p>
        </p:txBody>
      </p:sp>
      <p:sp>
        <p:nvSpPr>
          <p:cNvPr id="70" name="Text 66"/>
          <p:cNvSpPr/>
          <p:nvPr/>
        </p:nvSpPr>
        <p:spPr>
          <a:xfrm>
            <a:off x="3150617" y="2975372"/>
            <a:ext cx="761256" cy="32504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1080p</a:t>
            </a:r>
            <a:endParaRPr lang="en-US" sz="568" dirty="0"/>
          </a:p>
        </p:txBody>
      </p:sp>
      <p:sp>
        <p:nvSpPr>
          <p:cNvPr id="71" name="Text 67"/>
          <p:cNvSpPr/>
          <p:nvPr/>
        </p:nvSpPr>
        <p:spPr>
          <a:xfrm>
            <a:off x="4194972" y="3078956"/>
            <a:ext cx="839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27" dirty="0"/>
          </a:p>
        </p:txBody>
      </p:sp>
      <p:sp>
        <p:nvSpPr>
          <p:cNvPr id="72" name="Shape 68"/>
          <p:cNvSpPr/>
          <p:nvPr/>
        </p:nvSpPr>
        <p:spPr>
          <a:xfrm>
            <a:off x="4744176" y="3069134"/>
            <a:ext cx="360062" cy="141089"/>
          </a:xfrm>
          <a:prstGeom prst="rect">
            <a:avLst/>
          </a:prstGeom>
          <a:solidFill>
            <a:srgbClr val="8B949E">
              <a:alpha val="8000"/>
            </a:srgbClr>
          </a:solidFill>
          <a:ln w="9144">
            <a:solidFill>
              <a:srgbClr val="8B949E">
                <a:alpha val="20000"/>
              </a:srgbClr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4744176" y="3069134"/>
            <a:ext cx="360062" cy="14108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规划中</a:t>
            </a:r>
            <a:endParaRPr lang="en-US" sz="485" dirty="0"/>
          </a:p>
        </p:txBody>
      </p:sp>
      <p:sp>
        <p:nvSpPr>
          <p:cNvPr id="74" name="Text 70"/>
          <p:cNvSpPr/>
          <p:nvPr/>
        </p:nvSpPr>
        <p:spPr>
          <a:xfrm>
            <a:off x="5429250" y="751880"/>
            <a:ext cx="342900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多模型路由策略</a:t>
            </a:r>
            <a:endParaRPr lang="en-US" sz="516" dirty="0"/>
          </a:p>
        </p:txBody>
      </p:sp>
      <p:sp>
        <p:nvSpPr>
          <p:cNvPr id="75" name="Shape 71"/>
          <p:cNvSpPr/>
          <p:nvPr/>
        </p:nvSpPr>
        <p:spPr>
          <a:xfrm>
            <a:off x="5429250" y="978694"/>
            <a:ext cx="3429000" cy="954667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5543550" y="1078706"/>
            <a:ext cx="5572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质量优先模式</a:t>
            </a:r>
            <a:endParaRPr lang="en-US" sz="634" dirty="0"/>
          </a:p>
        </p:txBody>
      </p:sp>
      <p:sp>
        <p:nvSpPr>
          <p:cNvPr id="77" name="Text 73"/>
          <p:cNvSpPr/>
          <p:nvPr/>
        </p:nvSpPr>
        <p:spPr>
          <a:xfrm>
            <a:off x="8213527" y="1091208"/>
            <a:ext cx="53042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 Pro / Pro 1.5</a:t>
            </a:r>
            <a:endParaRPr lang="en-US" sz="568" dirty="0"/>
          </a:p>
        </p:txBody>
      </p:sp>
      <p:sp>
        <p:nvSpPr>
          <p:cNvPr id="78" name="Text 74"/>
          <p:cNvSpPr/>
          <p:nvPr/>
        </p:nvSpPr>
        <p:spPr>
          <a:xfrm>
            <a:off x="5543550" y="1246584"/>
            <a:ext cx="320040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用于品牌宣传片、高价值内容；1080p 输出，生成时间约 60–90s，适合不赶时间的精品创作</a:t>
            </a:r>
            <a:endParaRPr lang="en-US" sz="568" dirty="0"/>
          </a:p>
        </p:txBody>
      </p:sp>
      <p:sp>
        <p:nvSpPr>
          <p:cNvPr id="79" name="Shape 75"/>
          <p:cNvSpPr/>
          <p:nvPr/>
        </p:nvSpPr>
        <p:spPr>
          <a:xfrm>
            <a:off x="5429250" y="1995283"/>
            <a:ext cx="3429000" cy="959439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5543550" y="2100039"/>
            <a:ext cx="5572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速度优先模式</a:t>
            </a:r>
            <a:endParaRPr lang="en-US" sz="634" dirty="0"/>
          </a:p>
        </p:txBody>
      </p:sp>
      <p:sp>
        <p:nvSpPr>
          <p:cNvPr id="81" name="Text 77"/>
          <p:cNvSpPr/>
          <p:nvPr/>
        </p:nvSpPr>
        <p:spPr>
          <a:xfrm>
            <a:off x="8340328" y="2112541"/>
            <a:ext cx="40362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 Pro Fast</a:t>
            </a:r>
            <a:endParaRPr lang="en-US" sz="568" dirty="0"/>
          </a:p>
        </p:txBody>
      </p:sp>
      <p:sp>
        <p:nvSpPr>
          <p:cNvPr id="82" name="Text 78"/>
          <p:cNvSpPr/>
          <p:nvPr/>
        </p:nvSpPr>
        <p:spPr>
          <a:xfrm>
            <a:off x="5543550" y="2267917"/>
            <a:ext cx="320040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追热点场景，生成速度提升约 40%；适合需要快速产出、抢占热点时间窗口的内容</a:t>
            </a:r>
            <a:endParaRPr lang="en-US" sz="568" dirty="0"/>
          </a:p>
        </p:txBody>
      </p:sp>
      <p:sp>
        <p:nvSpPr>
          <p:cNvPr id="83" name="Shape 79"/>
          <p:cNvSpPr/>
          <p:nvPr/>
        </p:nvSpPr>
        <p:spPr>
          <a:xfrm>
            <a:off x="5429250" y="3021360"/>
            <a:ext cx="3429000" cy="96418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5543550" y="3130916"/>
            <a:ext cx="5572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图生视频模式</a:t>
            </a:r>
            <a:endParaRPr lang="en-US" sz="634" dirty="0"/>
          </a:p>
        </p:txBody>
      </p:sp>
      <p:sp>
        <p:nvSpPr>
          <p:cNvPr id="85" name="Text 81"/>
          <p:cNvSpPr/>
          <p:nvPr/>
        </p:nvSpPr>
        <p:spPr>
          <a:xfrm>
            <a:off x="8059936" y="3143417"/>
            <a:ext cx="68401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 Lite I2V / Pro 1.5</a:t>
            </a:r>
            <a:endParaRPr lang="en-US" sz="568" dirty="0"/>
          </a:p>
        </p:txBody>
      </p:sp>
      <p:sp>
        <p:nvSpPr>
          <p:cNvPr id="86" name="Text 82"/>
          <p:cNvSpPr/>
          <p:nvPr/>
        </p:nvSpPr>
        <p:spPr>
          <a:xfrm>
            <a:off x="5543550" y="3298794"/>
            <a:ext cx="320040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用户上传图片作为首帧，AI 生成动态视频；提升内容与创作者风格的一致性，降低出镜门槛</a:t>
            </a:r>
            <a:endParaRPr lang="en-US" sz="568" dirty="0"/>
          </a:p>
        </p:txBody>
      </p:sp>
      <p:sp>
        <p:nvSpPr>
          <p:cNvPr id="87" name="Shape 83"/>
          <p:cNvSpPr/>
          <p:nvPr/>
        </p:nvSpPr>
        <p:spPr>
          <a:xfrm>
            <a:off x="5429250" y="4057008"/>
            <a:ext cx="3429000" cy="685019"/>
          </a:xfrm>
          <a:prstGeom prst="rect">
            <a:avLst/>
          </a:prstGeom>
          <a:solidFill>
            <a:srgbClr val="7C3AED">
              <a:alpha val="10000"/>
            </a:srgbClr>
          </a:solidFill>
          <a:ln w="9144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5543550" y="4157049"/>
            <a:ext cx="320040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当前集成信息</a:t>
            </a:r>
            <a:endParaRPr lang="en-US" sz="516" dirty="0"/>
          </a:p>
        </p:txBody>
      </p:sp>
      <p:sp>
        <p:nvSpPr>
          <p:cNvPr id="89" name="Text 85"/>
          <p:cNvSpPr/>
          <p:nvPr/>
        </p:nvSpPr>
        <p:spPr>
          <a:xfrm>
            <a:off x="5543550" y="4290994"/>
            <a:ext cx="3200400" cy="36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端点：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ark.cn-beijing.volces.com（火山引擎方舟·北京）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认证方式：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SEEDANCE_API_KEY 内置注入，用户无需配置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计费单位：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按视频时长（秒）× 分辨率系数计费</a:t>
            </a:r>
            <a:endParaRPr lang="en-US" sz="568" dirty="0"/>
          </a:p>
        </p:txBody>
      </p:sp>
      <p:sp>
        <p:nvSpPr>
          <p:cNvPr id="90" name="Shape 86"/>
          <p:cNvSpPr/>
          <p:nvPr/>
        </p:nvSpPr>
        <p:spPr>
          <a:xfrm>
            <a:off x="285750" y="4827752"/>
            <a:ext cx="8572500" cy="3157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1" name="Shape 87"/>
          <p:cNvSpPr/>
          <p:nvPr/>
        </p:nvSpPr>
        <p:spPr>
          <a:xfrm>
            <a:off x="285750" y="4827752"/>
            <a:ext cx="8572500" cy="7144"/>
          </a:xfrm>
          <a:prstGeom prst="rect">
            <a:avLst/>
          </a:prstGeom>
          <a:solidFill>
            <a:srgbClr val="B3F2FF"/>
          </a:solidFill>
          <a:ln/>
        </p:spPr>
      </p:sp>
      <p:sp>
        <p:nvSpPr>
          <p:cNvPr id="92" name="Text 88"/>
          <p:cNvSpPr/>
          <p:nvPr/>
        </p:nvSpPr>
        <p:spPr>
          <a:xfrm>
            <a:off x="285750" y="4906333"/>
            <a:ext cx="857250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选型逻辑：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优先选用火山引擎 doubao-seedance 系列，原因是其在中文内容场景下语义理解更准确，且与国内网络环境延迟更低。后续规划接入 Kling（快手）作为备选，通过多模型路由在成本、速度、质量三维度动态调度。</a:t>
            </a:r>
            <a:endParaRPr lang="en-US" sz="5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00025"/>
            <a:ext cx="9144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0" y="353616"/>
            <a:ext cx="914400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三阶段 MVP → 增长 → 规模化执行路线</a:t>
            </a:r>
            <a:endParaRPr lang="en-US" sz="1397" dirty="0"/>
          </a:p>
        </p:txBody>
      </p:sp>
      <p:sp>
        <p:nvSpPr>
          <p:cNvPr id="6" name="Shape 2"/>
          <p:cNvSpPr/>
          <p:nvPr/>
        </p:nvSpPr>
        <p:spPr>
          <a:xfrm>
            <a:off x="285750" y="751880"/>
            <a:ext cx="2781291" cy="612577"/>
          </a:xfrm>
          <a:prstGeom prst="rect">
            <a:avLst/>
          </a:prstGeom>
          <a:solidFill>
            <a:srgbClr val="00D4FF">
              <a:alpha val="8000"/>
            </a:srgbClr>
          </a:solidFill>
          <a:ln w="9144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14338" y="851892"/>
            <a:ext cx="252411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01</a:t>
            </a:r>
            <a:endParaRPr lang="en-US" sz="516" dirty="0"/>
          </a:p>
        </p:txBody>
      </p:sp>
      <p:sp>
        <p:nvSpPr>
          <p:cNvPr id="8" name="Text 4"/>
          <p:cNvSpPr/>
          <p:nvPr/>
        </p:nvSpPr>
        <p:spPr>
          <a:xfrm>
            <a:off x="414338" y="967978"/>
            <a:ext cx="25241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MVP 验证期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414338" y="1144786"/>
            <a:ext cx="252411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– 6 个月</a:t>
            </a:r>
            <a:endParaRPr lang="en-US" sz="568" dirty="0"/>
          </a:p>
        </p:txBody>
      </p:sp>
      <p:sp>
        <p:nvSpPr>
          <p:cNvPr id="10" name="Shape 6"/>
          <p:cNvSpPr/>
          <p:nvPr/>
        </p:nvSpPr>
        <p:spPr>
          <a:xfrm>
            <a:off x="285750" y="1421606"/>
            <a:ext cx="1362056" cy="435769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71475" y="1493044"/>
            <a:ext cx="11906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90" b="1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500</a:t>
            </a:r>
            <a:endParaRPr lang="en-US" sz="1090" dirty="0"/>
          </a:p>
        </p:txBody>
      </p:sp>
      <p:sp>
        <p:nvSpPr>
          <p:cNvPr id="12" name="Text 8"/>
          <p:cNvSpPr/>
          <p:nvPr/>
        </p:nvSpPr>
        <p:spPr>
          <a:xfrm>
            <a:off x="371475" y="1671638"/>
            <a:ext cx="119060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目标种子用户（付费转化率 ≥ 10%）</a:t>
            </a:r>
            <a:endParaRPr lang="en-US" sz="516" dirty="0"/>
          </a:p>
        </p:txBody>
      </p:sp>
      <p:sp>
        <p:nvSpPr>
          <p:cNvPr id="13" name="Shape 9"/>
          <p:cNvSpPr/>
          <p:nvPr/>
        </p:nvSpPr>
        <p:spPr>
          <a:xfrm>
            <a:off x="1704956" y="1421606"/>
            <a:ext cx="1362084" cy="435769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790681" y="1493044"/>
            <a:ext cx="11906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90" b="1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¥99</a:t>
            </a:r>
            <a:endParaRPr lang="en-US" sz="1090" dirty="0"/>
          </a:p>
        </p:txBody>
      </p:sp>
      <p:sp>
        <p:nvSpPr>
          <p:cNvPr id="15" name="Text 11"/>
          <p:cNvSpPr/>
          <p:nvPr/>
        </p:nvSpPr>
        <p:spPr>
          <a:xfrm>
            <a:off x="1790681" y="1671638"/>
            <a:ext cx="119063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月订阅起步定价</a:t>
            </a:r>
            <a:endParaRPr lang="en-US" sz="516" dirty="0"/>
          </a:p>
        </p:txBody>
      </p:sp>
      <p:sp>
        <p:nvSpPr>
          <p:cNvPr id="16" name="Shape 12"/>
          <p:cNvSpPr/>
          <p:nvPr/>
        </p:nvSpPr>
        <p:spPr>
          <a:xfrm>
            <a:off x="285750" y="1914525"/>
            <a:ext cx="2781291" cy="2541780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5763" y="2000250"/>
            <a:ext cx="258126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核心行动</a:t>
            </a:r>
            <a:endParaRPr lang="en-US" sz="516" dirty="0"/>
          </a:p>
        </p:txBody>
      </p:sp>
      <p:sp>
        <p:nvSpPr>
          <p:cNvPr id="18" name="Text 14"/>
          <p:cNvSpPr/>
          <p:nvPr/>
        </p:nvSpPr>
        <p:spPr>
          <a:xfrm>
            <a:off x="478631" y="2155627"/>
            <a:ext cx="2488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冷启动渠道：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内容创作者社群（微信群/即刻/小红书）定向邀测，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建立早期反馈闭环</a:t>
            </a:r>
            <a:endParaRPr lang="en-US" sz="584" dirty="0"/>
          </a:p>
        </p:txBody>
      </p:sp>
      <p:sp>
        <p:nvSpPr>
          <p:cNvPr id="19" name="Text 15"/>
          <p:cNvSpPr/>
          <p:nvPr/>
        </p:nvSpPr>
        <p:spPr>
          <a:xfrm>
            <a:off x="478631" y="2462808"/>
            <a:ext cx="2488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核心功能验证：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AI文案生成 + 多平台格式适配 + 热点看板三项核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心功能 NPS ≥ 40</a:t>
            </a:r>
            <a:endParaRPr lang="en-US" sz="584" dirty="0"/>
          </a:p>
        </p:txBody>
      </p:sp>
      <p:sp>
        <p:nvSpPr>
          <p:cNvPr id="20" name="Text 16"/>
          <p:cNvSpPr/>
          <p:nvPr/>
        </p:nvSpPr>
        <p:spPr>
          <a:xfrm>
            <a:off x="478631" y="2769989"/>
            <a:ext cx="2488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视频功能灰度：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向高活跃用户开放 AI 视频生成，收集真实使用场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景数据</a:t>
            </a:r>
            <a:endParaRPr lang="en-US" sz="584" dirty="0"/>
          </a:p>
        </p:txBody>
      </p:sp>
      <p:sp>
        <p:nvSpPr>
          <p:cNvPr id="21" name="Text 17"/>
          <p:cNvSpPr/>
          <p:nvPr/>
        </p:nvSpPr>
        <p:spPr>
          <a:xfrm>
            <a:off x="478631" y="3077170"/>
            <a:ext cx="2488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数据闭环建立：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打通发布后数据回流，验证"热点→内容→发布→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数据"完整链路</a:t>
            </a:r>
            <a:endParaRPr lang="en-US" sz="584" dirty="0"/>
          </a:p>
        </p:txBody>
      </p:sp>
      <p:sp>
        <p:nvSpPr>
          <p:cNvPr id="22" name="Shape 18"/>
          <p:cNvSpPr/>
          <p:nvPr/>
        </p:nvSpPr>
        <p:spPr>
          <a:xfrm>
            <a:off x="3181341" y="751880"/>
            <a:ext cx="2781291" cy="612577"/>
          </a:xfrm>
          <a:prstGeom prst="rect">
            <a:avLst/>
          </a:prstGeom>
          <a:solidFill>
            <a:srgbClr val="7C3AED">
              <a:alpha val="10000"/>
            </a:srgbClr>
          </a:solidFill>
          <a:ln w="9144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09928" y="851892"/>
            <a:ext cx="252411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02</a:t>
            </a:r>
            <a:endParaRPr lang="en-US" sz="516" dirty="0"/>
          </a:p>
        </p:txBody>
      </p:sp>
      <p:sp>
        <p:nvSpPr>
          <p:cNvPr id="24" name="Text 20"/>
          <p:cNvSpPr/>
          <p:nvPr/>
        </p:nvSpPr>
        <p:spPr>
          <a:xfrm>
            <a:off x="3309928" y="967978"/>
            <a:ext cx="25241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增长期</a:t>
            </a:r>
            <a:endParaRPr lang="en-US" sz="784" dirty="0"/>
          </a:p>
        </p:txBody>
      </p:sp>
      <p:sp>
        <p:nvSpPr>
          <p:cNvPr id="25" name="Text 21"/>
          <p:cNvSpPr/>
          <p:nvPr/>
        </p:nvSpPr>
        <p:spPr>
          <a:xfrm>
            <a:off x="3309928" y="1144786"/>
            <a:ext cx="252411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– 18 个月</a:t>
            </a:r>
            <a:endParaRPr lang="en-US" sz="568" dirty="0"/>
          </a:p>
        </p:txBody>
      </p:sp>
      <p:sp>
        <p:nvSpPr>
          <p:cNvPr id="26" name="Shape 22"/>
          <p:cNvSpPr/>
          <p:nvPr/>
        </p:nvSpPr>
        <p:spPr>
          <a:xfrm>
            <a:off x="3181341" y="1421606"/>
            <a:ext cx="1362056" cy="435769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67066" y="1493044"/>
            <a:ext cx="11906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90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万</a:t>
            </a:r>
            <a:endParaRPr lang="en-US" sz="1090" dirty="0"/>
          </a:p>
        </p:txBody>
      </p:sp>
      <p:sp>
        <p:nvSpPr>
          <p:cNvPr id="28" name="Text 24"/>
          <p:cNvSpPr/>
          <p:nvPr/>
        </p:nvSpPr>
        <p:spPr>
          <a:xfrm>
            <a:off x="3267066" y="1671638"/>
            <a:ext cx="119060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付费用户目标（MRR ≥ ¥100 万）</a:t>
            </a:r>
            <a:endParaRPr lang="en-US" sz="516" dirty="0"/>
          </a:p>
        </p:txBody>
      </p:sp>
      <p:sp>
        <p:nvSpPr>
          <p:cNvPr id="29" name="Shape 25"/>
          <p:cNvSpPr/>
          <p:nvPr/>
        </p:nvSpPr>
        <p:spPr>
          <a:xfrm>
            <a:off x="4600547" y="1421606"/>
            <a:ext cx="1362084" cy="435769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686272" y="1493044"/>
            <a:ext cx="11906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90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档</a:t>
            </a:r>
            <a:endParaRPr lang="en-US" sz="1090" dirty="0"/>
          </a:p>
        </p:txBody>
      </p:sp>
      <p:sp>
        <p:nvSpPr>
          <p:cNvPr id="31" name="Text 27"/>
          <p:cNvSpPr/>
          <p:nvPr/>
        </p:nvSpPr>
        <p:spPr>
          <a:xfrm>
            <a:off x="4686272" y="1671638"/>
            <a:ext cx="119063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个人 / 团队 / 企业分层订阅</a:t>
            </a:r>
            <a:endParaRPr lang="en-US" sz="516" dirty="0"/>
          </a:p>
        </p:txBody>
      </p:sp>
      <p:sp>
        <p:nvSpPr>
          <p:cNvPr id="32" name="Shape 28"/>
          <p:cNvSpPr/>
          <p:nvPr/>
        </p:nvSpPr>
        <p:spPr>
          <a:xfrm>
            <a:off x="3181341" y="1914525"/>
            <a:ext cx="2781291" cy="2541780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81353" y="2000250"/>
            <a:ext cx="258126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核心行动</a:t>
            </a:r>
            <a:endParaRPr lang="en-US" sz="516" dirty="0"/>
          </a:p>
        </p:txBody>
      </p:sp>
      <p:sp>
        <p:nvSpPr>
          <p:cNvPr id="34" name="Text 30"/>
          <p:cNvSpPr/>
          <p:nvPr/>
        </p:nvSpPr>
        <p:spPr>
          <a:xfrm>
            <a:off x="3374222" y="2155627"/>
            <a:ext cx="2488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分层定价落地：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个人 ¥99 / 团队 ¥299 / 企业 ¥999，按视频生成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量和账号数差异化</a:t>
            </a:r>
            <a:endParaRPr lang="en-US" sz="584" dirty="0"/>
          </a:p>
        </p:txBody>
      </p:sp>
      <p:sp>
        <p:nvSpPr>
          <p:cNvPr id="35" name="Text 31"/>
          <p:cNvSpPr/>
          <p:nvPr/>
        </p:nvSpPr>
        <p:spPr>
          <a:xfrm>
            <a:off x="3374222" y="2462808"/>
            <a:ext cx="2488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内容营销获客：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用笔灵自身生产高质量内容，在抖音/小红书展示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产品效果，形成"产品即广告"</a:t>
            </a:r>
            <a:endParaRPr lang="en-US" sz="584" dirty="0"/>
          </a:p>
        </p:txBody>
      </p:sp>
      <p:sp>
        <p:nvSpPr>
          <p:cNvPr id="36" name="Text 32"/>
          <p:cNvSpPr/>
          <p:nvPr/>
        </p:nvSpPr>
        <p:spPr>
          <a:xfrm>
            <a:off x="3374222" y="2769989"/>
            <a:ext cx="2488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 合作计划：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 100 位中腰部创作者合作，提供免费 Pro 账号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换取真实使用案例</a:t>
            </a:r>
            <a:endParaRPr lang="en-US" sz="584" dirty="0"/>
          </a:p>
        </p:txBody>
      </p:sp>
      <p:sp>
        <p:nvSpPr>
          <p:cNvPr id="37" name="Text 33"/>
          <p:cNvSpPr/>
          <p:nvPr/>
        </p:nvSpPr>
        <p:spPr>
          <a:xfrm>
            <a:off x="3374222" y="3077170"/>
            <a:ext cx="2488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MCN 机构切入：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推出 MCN 批量管理方案，单签约 MCN 可带来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50–200 个账号</a:t>
            </a:r>
            <a:endParaRPr lang="en-US" sz="584" dirty="0"/>
          </a:p>
        </p:txBody>
      </p:sp>
      <p:sp>
        <p:nvSpPr>
          <p:cNvPr id="38" name="Shape 34"/>
          <p:cNvSpPr/>
          <p:nvPr/>
        </p:nvSpPr>
        <p:spPr>
          <a:xfrm>
            <a:off x="6076931" y="751880"/>
            <a:ext cx="2781291" cy="612577"/>
          </a:xfrm>
          <a:prstGeom prst="rect">
            <a:avLst/>
          </a:prstGeom>
          <a:solidFill>
            <a:srgbClr val="6326B4">
              <a:alpha val="10000"/>
            </a:srgbClr>
          </a:solidFill>
          <a:ln w="9144">
            <a:solidFill>
              <a:srgbClr val="6326B4">
                <a:alpha val="30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205519" y="851892"/>
            <a:ext cx="252411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03</a:t>
            </a:r>
            <a:endParaRPr lang="en-US" sz="516" dirty="0"/>
          </a:p>
        </p:txBody>
      </p:sp>
      <p:sp>
        <p:nvSpPr>
          <p:cNvPr id="40" name="Text 36"/>
          <p:cNvSpPr/>
          <p:nvPr/>
        </p:nvSpPr>
        <p:spPr>
          <a:xfrm>
            <a:off x="6205519" y="967978"/>
            <a:ext cx="25241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规模化期</a:t>
            </a:r>
            <a:endParaRPr lang="en-US" sz="784" dirty="0"/>
          </a:p>
        </p:txBody>
      </p:sp>
      <p:sp>
        <p:nvSpPr>
          <p:cNvPr id="41" name="Text 37"/>
          <p:cNvSpPr/>
          <p:nvPr/>
        </p:nvSpPr>
        <p:spPr>
          <a:xfrm>
            <a:off x="6205519" y="1144786"/>
            <a:ext cx="252411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个月+</a:t>
            </a:r>
            <a:endParaRPr lang="en-US" sz="568" dirty="0"/>
          </a:p>
        </p:txBody>
      </p:sp>
      <p:sp>
        <p:nvSpPr>
          <p:cNvPr id="42" name="Shape 38"/>
          <p:cNvSpPr/>
          <p:nvPr/>
        </p:nvSpPr>
        <p:spPr>
          <a:xfrm>
            <a:off x="6076931" y="1421606"/>
            <a:ext cx="1362056" cy="435769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162656" y="1493044"/>
            <a:ext cx="11906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90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万</a:t>
            </a:r>
            <a:endParaRPr lang="en-US" sz="1090" dirty="0"/>
          </a:p>
        </p:txBody>
      </p:sp>
      <p:sp>
        <p:nvSpPr>
          <p:cNvPr id="44" name="Text 40"/>
          <p:cNvSpPr/>
          <p:nvPr/>
        </p:nvSpPr>
        <p:spPr>
          <a:xfrm>
            <a:off x="6162656" y="1671638"/>
            <a:ext cx="119060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注册用户目标（ARR ≥ ¥1000 万）</a:t>
            </a:r>
            <a:endParaRPr lang="en-US" sz="516" dirty="0"/>
          </a:p>
        </p:txBody>
      </p:sp>
      <p:sp>
        <p:nvSpPr>
          <p:cNvPr id="45" name="Shape 41"/>
          <p:cNvSpPr/>
          <p:nvPr/>
        </p:nvSpPr>
        <p:spPr>
          <a:xfrm>
            <a:off x="7496138" y="1421606"/>
            <a:ext cx="1362084" cy="435769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581863" y="1493044"/>
            <a:ext cx="11906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90" b="1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</a:t>
            </a:r>
            <a:endParaRPr lang="en-US" sz="1090" dirty="0"/>
          </a:p>
        </p:txBody>
      </p:sp>
      <p:sp>
        <p:nvSpPr>
          <p:cNvPr id="47" name="Text 43"/>
          <p:cNvSpPr/>
          <p:nvPr/>
        </p:nvSpPr>
        <p:spPr>
          <a:xfrm>
            <a:off x="7581863" y="1671638"/>
            <a:ext cx="119063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开放平台接入第三方生态</a:t>
            </a:r>
            <a:endParaRPr lang="en-US" sz="516" dirty="0"/>
          </a:p>
        </p:txBody>
      </p:sp>
      <p:sp>
        <p:nvSpPr>
          <p:cNvPr id="48" name="Shape 44"/>
          <p:cNvSpPr/>
          <p:nvPr/>
        </p:nvSpPr>
        <p:spPr>
          <a:xfrm>
            <a:off x="6076931" y="1914525"/>
            <a:ext cx="2781291" cy="2541780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176944" y="2000250"/>
            <a:ext cx="258126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核心行动</a:t>
            </a:r>
            <a:endParaRPr lang="en-US" sz="516" dirty="0"/>
          </a:p>
        </p:txBody>
      </p:sp>
      <p:sp>
        <p:nvSpPr>
          <p:cNvPr id="50" name="Text 46"/>
          <p:cNvSpPr/>
          <p:nvPr/>
        </p:nvSpPr>
        <p:spPr>
          <a:xfrm>
            <a:off x="6269813" y="2155627"/>
            <a:ext cx="2488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全自动化：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从热点发现到内容发布全链路 Agent 自动执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行，人工干预降至最低</a:t>
            </a:r>
            <a:endParaRPr lang="en-US" sz="584" dirty="0"/>
          </a:p>
        </p:txBody>
      </p:sp>
      <p:sp>
        <p:nvSpPr>
          <p:cNvPr id="51" name="Text 47"/>
          <p:cNvSpPr/>
          <p:nvPr/>
        </p:nvSpPr>
        <p:spPr>
          <a:xfrm>
            <a:off x="6269813" y="2462808"/>
            <a:ext cx="2488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 API 生态：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向第三方工具开放内容生成 API，构建笔灵为中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心的内容创作生态</a:t>
            </a:r>
            <a:endParaRPr lang="en-US" sz="584" dirty="0"/>
          </a:p>
        </p:txBody>
      </p:sp>
      <p:sp>
        <p:nvSpPr>
          <p:cNvPr id="52" name="Text 48"/>
          <p:cNvSpPr/>
          <p:nvPr/>
        </p:nvSpPr>
        <p:spPr>
          <a:xfrm>
            <a:off x="6269813" y="2769989"/>
            <a:ext cx="2488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海外版本拓展：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 TikTok / YouTube / Instagram 推出国际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版，复用核心技术栈</a:t>
            </a:r>
            <a:endParaRPr lang="en-US" sz="584" dirty="0"/>
          </a:p>
        </p:txBody>
      </p:sp>
      <p:sp>
        <p:nvSpPr>
          <p:cNvPr id="53" name="Text 49"/>
          <p:cNvSpPr/>
          <p:nvPr/>
        </p:nvSpPr>
        <p:spPr>
          <a:xfrm>
            <a:off x="6269813" y="3077170"/>
            <a:ext cx="24883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数据资产变现：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匿名化热点趋势数据向品牌方和广告公司提供洞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察报告服务</a:t>
            </a:r>
            <a:endParaRPr lang="en-US" sz="584" dirty="0"/>
          </a:p>
        </p:txBody>
      </p:sp>
      <p:sp>
        <p:nvSpPr>
          <p:cNvPr id="54" name="Shape 50"/>
          <p:cNvSpPr/>
          <p:nvPr/>
        </p:nvSpPr>
        <p:spPr>
          <a:xfrm>
            <a:off x="285750" y="4542030"/>
            <a:ext cx="8572500" cy="60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5" name="Shape 51"/>
          <p:cNvSpPr/>
          <p:nvPr/>
        </p:nvSpPr>
        <p:spPr>
          <a:xfrm>
            <a:off x="285750" y="4542030"/>
            <a:ext cx="8572500" cy="7144"/>
          </a:xfrm>
          <a:prstGeom prst="rect">
            <a:avLst/>
          </a:prstGeom>
          <a:solidFill>
            <a:srgbClr val="B3F2FF"/>
          </a:solidFill>
          <a:ln/>
        </p:spPr>
      </p:sp>
      <p:sp>
        <p:nvSpPr>
          <p:cNvPr id="56" name="Shape 52"/>
          <p:cNvSpPr/>
          <p:nvPr/>
        </p:nvSpPr>
        <p:spPr>
          <a:xfrm>
            <a:off x="285750" y="4620611"/>
            <a:ext cx="8572500" cy="422877"/>
          </a:xfrm>
          <a:prstGeom prst="rect">
            <a:avLst/>
          </a:prstGeom>
          <a:solidFill>
            <a:srgbClr val="7C3AED">
              <a:alpha val="6000"/>
            </a:srgbClr>
          </a:solidFill>
          <a:ln w="9144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00050" y="4720623"/>
            <a:ext cx="32004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种子用户</a:t>
            </a:r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获取策略</a:t>
            </a:r>
            <a:endParaRPr lang="en-US" sz="516" dirty="0"/>
          </a:p>
        </p:txBody>
      </p:sp>
      <p:sp>
        <p:nvSpPr>
          <p:cNvPr id="58" name="Text 54"/>
          <p:cNvSpPr/>
          <p:nvPr/>
        </p:nvSpPr>
        <p:spPr>
          <a:xfrm>
            <a:off x="805821" y="4706336"/>
            <a:ext cx="7938129" cy="265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三条并行渠道：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内容创作者社群定向邀测（即刻/微信群）获取高意愿早期用户；② 在小红书/抖音发布"AI生成内容 vs 手动创作"对比视频，产品即内容；③ 联系 10–20 家中小 MCN 机构提供免费试用，以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机构背书换口碑传播。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目标：首月 100 名付费用户，CAC ≤ ¥200。</a:t>
            </a:r>
            <a:endParaRPr lang="en-US" sz="5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85738"/>
            <a:ext cx="9144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ROADMAP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0" y="325041"/>
            <a:ext cx="914400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已实现核心功能全景与四阶段进化路线图</a:t>
            </a:r>
            <a:endParaRPr lang="en-US" sz="1397" dirty="0"/>
          </a:p>
        </p:txBody>
      </p:sp>
      <p:sp>
        <p:nvSpPr>
          <p:cNvPr id="6" name="Shape 2"/>
          <p:cNvSpPr/>
          <p:nvPr/>
        </p:nvSpPr>
        <p:spPr>
          <a:xfrm>
            <a:off x="285750" y="694730"/>
            <a:ext cx="2100263" cy="576132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85763" y="781348"/>
            <a:ext cx="5572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热点数据看板</a:t>
            </a:r>
            <a:endParaRPr lang="en-US" sz="634" dirty="0"/>
          </a:p>
        </p:txBody>
      </p:sp>
      <p:sp>
        <p:nvSpPr>
          <p:cNvPr id="8" name="Shape 4"/>
          <p:cNvSpPr/>
          <p:nvPr/>
        </p:nvSpPr>
        <p:spPr>
          <a:xfrm>
            <a:off x="1944523" y="773311"/>
            <a:ext cx="341477" cy="141089"/>
          </a:xfrm>
          <a:prstGeom prst="rect">
            <a:avLst/>
          </a:prstGeom>
          <a:solidFill>
            <a:srgbClr val="22C55E">
              <a:alpha val="10000"/>
            </a:srgbClr>
          </a:solidFill>
          <a:ln w="9144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944523" y="773311"/>
            <a:ext cx="341477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已上线</a:t>
            </a:r>
            <a:endParaRPr lang="en-US" sz="485" dirty="0"/>
          </a:p>
        </p:txBody>
      </p:sp>
      <p:sp>
        <p:nvSpPr>
          <p:cNvPr id="10" name="Text 6"/>
          <p:cNvSpPr/>
          <p:nvPr/>
        </p:nvSpPr>
        <p:spPr>
          <a:xfrm>
            <a:off x="385763" y="935831"/>
            <a:ext cx="1900238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多维度数据指标、渐变面积图、Sparkline 趋势线</a:t>
            </a:r>
            <a:endParaRPr lang="en-US" sz="568" dirty="0"/>
          </a:p>
        </p:txBody>
      </p:sp>
      <p:sp>
        <p:nvSpPr>
          <p:cNvPr id="11" name="Shape 7"/>
          <p:cNvSpPr/>
          <p:nvPr/>
        </p:nvSpPr>
        <p:spPr>
          <a:xfrm>
            <a:off x="2443163" y="694730"/>
            <a:ext cx="2100263" cy="576132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543175" y="781348"/>
            <a:ext cx="47684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文案生成</a:t>
            </a:r>
            <a:endParaRPr lang="en-US" sz="634" dirty="0"/>
          </a:p>
        </p:txBody>
      </p:sp>
      <p:sp>
        <p:nvSpPr>
          <p:cNvPr id="13" name="Shape 9"/>
          <p:cNvSpPr/>
          <p:nvPr/>
        </p:nvSpPr>
        <p:spPr>
          <a:xfrm>
            <a:off x="4101936" y="773311"/>
            <a:ext cx="341477" cy="141089"/>
          </a:xfrm>
          <a:prstGeom prst="rect">
            <a:avLst/>
          </a:prstGeom>
          <a:solidFill>
            <a:srgbClr val="22C55E">
              <a:alpha val="10000"/>
            </a:srgbClr>
          </a:solidFill>
          <a:ln w="9144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01936" y="773311"/>
            <a:ext cx="341477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已上线</a:t>
            </a:r>
            <a:endParaRPr lang="en-US" sz="485" dirty="0"/>
          </a:p>
        </p:txBody>
      </p:sp>
      <p:sp>
        <p:nvSpPr>
          <p:cNvPr id="15" name="Text 11"/>
          <p:cNvSpPr/>
          <p:nvPr/>
        </p:nvSpPr>
        <p:spPr>
          <a:xfrm>
            <a:off x="2543175" y="935831"/>
            <a:ext cx="1900238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多平台格式适配，一键生成标题/正文/标签</a:t>
            </a:r>
            <a:endParaRPr lang="en-US" sz="568" dirty="0"/>
          </a:p>
        </p:txBody>
      </p:sp>
      <p:sp>
        <p:nvSpPr>
          <p:cNvPr id="16" name="Shape 12"/>
          <p:cNvSpPr/>
          <p:nvPr/>
        </p:nvSpPr>
        <p:spPr>
          <a:xfrm>
            <a:off x="4600575" y="694730"/>
            <a:ext cx="2100263" cy="576132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00588" y="781348"/>
            <a:ext cx="47684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视频生成</a:t>
            </a:r>
            <a:endParaRPr lang="en-US" sz="634" dirty="0"/>
          </a:p>
        </p:txBody>
      </p:sp>
      <p:sp>
        <p:nvSpPr>
          <p:cNvPr id="18" name="Shape 14"/>
          <p:cNvSpPr/>
          <p:nvPr/>
        </p:nvSpPr>
        <p:spPr>
          <a:xfrm>
            <a:off x="6259348" y="773311"/>
            <a:ext cx="341477" cy="141089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59348" y="773311"/>
            <a:ext cx="341477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新功能</a:t>
            </a:r>
            <a:endParaRPr lang="en-US" sz="485" dirty="0"/>
          </a:p>
        </p:txBody>
      </p:sp>
      <p:sp>
        <p:nvSpPr>
          <p:cNvPr id="20" name="Text 16"/>
          <p:cNvSpPr/>
          <p:nvPr/>
        </p:nvSpPr>
        <p:spPr>
          <a:xfrm>
            <a:off x="4700588" y="935831"/>
            <a:ext cx="1900238" cy="227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文生视频 + 图生视频（i2v），内置火山引擎 doubao-seedance</a:t>
            </a:r>
            <a:endParaRPr lang="en-US" sz="568" dirty="0"/>
          </a:p>
        </p:txBody>
      </p:sp>
      <p:sp>
        <p:nvSpPr>
          <p:cNvPr id="21" name="Shape 17"/>
          <p:cNvSpPr/>
          <p:nvPr/>
        </p:nvSpPr>
        <p:spPr>
          <a:xfrm>
            <a:off x="6757988" y="694730"/>
            <a:ext cx="2100263" cy="547557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58000" y="781348"/>
            <a:ext cx="46434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多平台分发</a:t>
            </a:r>
            <a:endParaRPr lang="en-US" sz="634" dirty="0"/>
          </a:p>
        </p:txBody>
      </p:sp>
      <p:sp>
        <p:nvSpPr>
          <p:cNvPr id="23" name="Shape 19"/>
          <p:cNvSpPr/>
          <p:nvPr/>
        </p:nvSpPr>
        <p:spPr>
          <a:xfrm>
            <a:off x="8416761" y="773311"/>
            <a:ext cx="341477" cy="141089"/>
          </a:xfrm>
          <a:prstGeom prst="rect">
            <a:avLst/>
          </a:prstGeom>
          <a:solidFill>
            <a:srgbClr val="22C55E">
              <a:alpha val="10000"/>
            </a:srgbClr>
          </a:solidFill>
          <a:ln w="9144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416761" y="773311"/>
            <a:ext cx="341477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已上线</a:t>
            </a:r>
            <a:endParaRPr lang="en-US" sz="485" dirty="0"/>
          </a:p>
        </p:txBody>
      </p:sp>
      <p:sp>
        <p:nvSpPr>
          <p:cNvPr id="25" name="Text 21"/>
          <p:cNvSpPr/>
          <p:nvPr/>
        </p:nvSpPr>
        <p:spPr>
          <a:xfrm>
            <a:off x="6858000" y="935831"/>
            <a:ext cx="1900238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大平台辅助发布，自动匹配最佳视频比例</a:t>
            </a:r>
            <a:endParaRPr lang="en-US" sz="568" dirty="0"/>
          </a:p>
        </p:txBody>
      </p:sp>
      <p:sp>
        <p:nvSpPr>
          <p:cNvPr id="26" name="Shape 22"/>
          <p:cNvSpPr/>
          <p:nvPr/>
        </p:nvSpPr>
        <p:spPr>
          <a:xfrm>
            <a:off x="285750" y="1299437"/>
            <a:ext cx="2100263" cy="462195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85763" y="1386055"/>
            <a:ext cx="37147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内容日历</a:t>
            </a:r>
            <a:endParaRPr lang="en-US" sz="634" dirty="0"/>
          </a:p>
        </p:txBody>
      </p:sp>
      <p:sp>
        <p:nvSpPr>
          <p:cNvPr id="28" name="Shape 24"/>
          <p:cNvSpPr/>
          <p:nvPr/>
        </p:nvSpPr>
        <p:spPr>
          <a:xfrm>
            <a:off x="1944523" y="1378018"/>
            <a:ext cx="341477" cy="141089"/>
          </a:xfrm>
          <a:prstGeom prst="rect">
            <a:avLst/>
          </a:prstGeom>
          <a:solidFill>
            <a:srgbClr val="22C55E">
              <a:alpha val="10000"/>
            </a:srgbClr>
          </a:solidFill>
          <a:ln w="9144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944523" y="1378018"/>
            <a:ext cx="341477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已上线</a:t>
            </a:r>
            <a:endParaRPr lang="en-US" sz="485" dirty="0"/>
          </a:p>
        </p:txBody>
      </p:sp>
      <p:sp>
        <p:nvSpPr>
          <p:cNvPr id="30" name="Text 26"/>
          <p:cNvSpPr/>
          <p:nvPr/>
        </p:nvSpPr>
        <p:spPr>
          <a:xfrm>
            <a:off x="385763" y="1540539"/>
            <a:ext cx="1900238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可视化排期管理，发布状态追踪与提醒</a:t>
            </a:r>
            <a:endParaRPr lang="en-US" sz="568" dirty="0"/>
          </a:p>
        </p:txBody>
      </p:sp>
      <p:sp>
        <p:nvSpPr>
          <p:cNvPr id="31" name="Shape 27"/>
          <p:cNvSpPr/>
          <p:nvPr/>
        </p:nvSpPr>
        <p:spPr>
          <a:xfrm>
            <a:off x="2443163" y="1299437"/>
            <a:ext cx="2100263" cy="462195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543175" y="1386055"/>
            <a:ext cx="5572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数据反馈闭环</a:t>
            </a:r>
            <a:endParaRPr lang="en-US" sz="634" dirty="0"/>
          </a:p>
        </p:txBody>
      </p:sp>
      <p:sp>
        <p:nvSpPr>
          <p:cNvPr id="33" name="Shape 29"/>
          <p:cNvSpPr/>
          <p:nvPr/>
        </p:nvSpPr>
        <p:spPr>
          <a:xfrm>
            <a:off x="4101936" y="1378018"/>
            <a:ext cx="341477" cy="141089"/>
          </a:xfrm>
          <a:prstGeom prst="rect">
            <a:avLst/>
          </a:prstGeom>
          <a:solidFill>
            <a:srgbClr val="22C55E">
              <a:alpha val="10000"/>
            </a:srgbClr>
          </a:solidFill>
          <a:ln w="9144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101936" y="1378018"/>
            <a:ext cx="341477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已上线</a:t>
            </a:r>
            <a:endParaRPr lang="en-US" sz="485" dirty="0"/>
          </a:p>
        </p:txBody>
      </p:sp>
      <p:sp>
        <p:nvSpPr>
          <p:cNvPr id="35" name="Text 31"/>
          <p:cNvSpPr/>
          <p:nvPr/>
        </p:nvSpPr>
        <p:spPr>
          <a:xfrm>
            <a:off x="2543175" y="1540539"/>
            <a:ext cx="1900238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点赞/评论/收藏录入，内容效果分析与迭代</a:t>
            </a:r>
            <a:endParaRPr lang="en-US" sz="568" dirty="0"/>
          </a:p>
        </p:txBody>
      </p:sp>
      <p:sp>
        <p:nvSpPr>
          <p:cNvPr id="36" name="Shape 32"/>
          <p:cNvSpPr/>
          <p:nvPr/>
        </p:nvSpPr>
        <p:spPr>
          <a:xfrm>
            <a:off x="4600575" y="1299437"/>
            <a:ext cx="2100263" cy="462195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00588" y="1386055"/>
            <a:ext cx="47684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配图生成</a:t>
            </a:r>
            <a:endParaRPr lang="en-US" sz="634" dirty="0"/>
          </a:p>
        </p:txBody>
      </p:sp>
      <p:sp>
        <p:nvSpPr>
          <p:cNvPr id="38" name="Shape 34"/>
          <p:cNvSpPr/>
          <p:nvPr/>
        </p:nvSpPr>
        <p:spPr>
          <a:xfrm>
            <a:off x="6259348" y="1378018"/>
            <a:ext cx="341477" cy="141089"/>
          </a:xfrm>
          <a:prstGeom prst="rect">
            <a:avLst/>
          </a:prstGeom>
          <a:solidFill>
            <a:srgbClr val="22C55E">
              <a:alpha val="10000"/>
            </a:srgbClr>
          </a:solidFill>
          <a:ln w="9144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259348" y="1378018"/>
            <a:ext cx="341477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已上线</a:t>
            </a:r>
            <a:endParaRPr lang="en-US" sz="485" dirty="0"/>
          </a:p>
        </p:txBody>
      </p:sp>
      <p:sp>
        <p:nvSpPr>
          <p:cNvPr id="40" name="Text 36"/>
          <p:cNvSpPr/>
          <p:nvPr/>
        </p:nvSpPr>
        <p:spPr>
          <a:xfrm>
            <a:off x="4700588" y="1540539"/>
            <a:ext cx="1900238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文案联动配图，一键生成封面与配套图片</a:t>
            </a:r>
            <a:endParaRPr lang="en-US" sz="568" dirty="0"/>
          </a:p>
        </p:txBody>
      </p:sp>
      <p:sp>
        <p:nvSpPr>
          <p:cNvPr id="41" name="Shape 37"/>
          <p:cNvSpPr/>
          <p:nvPr/>
        </p:nvSpPr>
        <p:spPr>
          <a:xfrm>
            <a:off x="6757988" y="1299437"/>
            <a:ext cx="2100263" cy="462195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858000" y="1386055"/>
            <a:ext cx="5715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工作流</a:t>
            </a:r>
            <a:endParaRPr lang="en-US" sz="634" dirty="0"/>
          </a:p>
        </p:txBody>
      </p:sp>
      <p:sp>
        <p:nvSpPr>
          <p:cNvPr id="43" name="Shape 39"/>
          <p:cNvSpPr/>
          <p:nvPr/>
        </p:nvSpPr>
        <p:spPr>
          <a:xfrm>
            <a:off x="8416761" y="1378018"/>
            <a:ext cx="341477" cy="141089"/>
          </a:xfrm>
          <a:prstGeom prst="rect">
            <a:avLst/>
          </a:prstGeom>
          <a:solidFill>
            <a:srgbClr val="22C55E">
              <a:alpha val="10000"/>
            </a:srgbClr>
          </a:solidFill>
          <a:ln w="9144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416761" y="1378018"/>
            <a:ext cx="341477" cy="141089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已上线</a:t>
            </a:r>
            <a:endParaRPr lang="en-US" sz="485" dirty="0"/>
          </a:p>
        </p:txBody>
      </p:sp>
      <p:sp>
        <p:nvSpPr>
          <p:cNvPr id="45" name="Text 41"/>
          <p:cNvSpPr/>
          <p:nvPr/>
        </p:nvSpPr>
        <p:spPr>
          <a:xfrm>
            <a:off x="6858000" y="1540539"/>
            <a:ext cx="1900238" cy="11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全链路自动化：热点→文案→视频→分发一键执行</a:t>
            </a:r>
            <a:endParaRPr lang="en-US" sz="568" dirty="0"/>
          </a:p>
        </p:txBody>
      </p:sp>
      <p:sp>
        <p:nvSpPr>
          <p:cNvPr id="46" name="Text 42"/>
          <p:cNvSpPr/>
          <p:nvPr/>
        </p:nvSpPr>
        <p:spPr>
          <a:xfrm>
            <a:off x="285750" y="1850929"/>
            <a:ext cx="66294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四阶段进化路线图</a:t>
            </a:r>
            <a:endParaRPr lang="en-US" sz="516" dirty="0"/>
          </a:p>
        </p:txBody>
      </p:sp>
      <p:sp>
        <p:nvSpPr>
          <p:cNvPr id="47" name="Text 43"/>
          <p:cNvSpPr/>
          <p:nvPr/>
        </p:nvSpPr>
        <p:spPr>
          <a:xfrm>
            <a:off x="8365331" y="1847357"/>
            <a:ext cx="49291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总计 6–8 个月</a:t>
            </a:r>
            <a:endParaRPr lang="en-US" sz="568" dirty="0"/>
          </a:p>
        </p:txBody>
      </p:sp>
      <p:sp>
        <p:nvSpPr>
          <p:cNvPr id="48" name="Shape 44"/>
          <p:cNvSpPr/>
          <p:nvPr/>
        </p:nvSpPr>
        <p:spPr>
          <a:xfrm>
            <a:off x="285750" y="2038452"/>
            <a:ext cx="2089547" cy="1150813"/>
          </a:xfrm>
          <a:prstGeom prst="rect">
            <a:avLst/>
          </a:prstGeom>
          <a:solidFill>
            <a:srgbClr val="00D4FF">
              <a:alpha val="4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85763" y="2124177"/>
            <a:ext cx="188952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01 · 当前</a:t>
            </a:r>
            <a:endParaRPr lang="en-US" sz="516" dirty="0"/>
          </a:p>
        </p:txBody>
      </p:sp>
      <p:sp>
        <p:nvSpPr>
          <p:cNvPr id="50" name="Text 46"/>
          <p:cNvSpPr/>
          <p:nvPr/>
        </p:nvSpPr>
        <p:spPr>
          <a:xfrm>
            <a:off x="385763" y="2250979"/>
            <a:ext cx="18895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数据根基与基础功能</a:t>
            </a:r>
            <a:endParaRPr lang="en-US" sz="683" dirty="0"/>
          </a:p>
        </p:txBody>
      </p:sp>
      <p:sp>
        <p:nvSpPr>
          <p:cNvPr id="51" name="Text 47"/>
          <p:cNvSpPr/>
          <p:nvPr/>
        </p:nvSpPr>
        <p:spPr>
          <a:xfrm>
            <a:off x="385763" y="2400998"/>
            <a:ext cx="188952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0–6 周</a:t>
            </a:r>
            <a:endParaRPr lang="en-US" sz="568" dirty="0"/>
          </a:p>
        </p:txBody>
      </p:sp>
      <p:sp>
        <p:nvSpPr>
          <p:cNvPr id="52" name="Text 48"/>
          <p:cNvSpPr/>
          <p:nvPr/>
        </p:nvSpPr>
        <p:spPr>
          <a:xfrm>
            <a:off x="457200" y="2563518"/>
            <a:ext cx="707231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接入真实热点数据源</a:t>
            </a:r>
            <a:endParaRPr lang="en-US" sz="568" dirty="0"/>
          </a:p>
        </p:txBody>
      </p:sp>
      <p:sp>
        <p:nvSpPr>
          <p:cNvPr id="53" name="Text 49"/>
          <p:cNvSpPr/>
          <p:nvPr/>
        </p:nvSpPr>
        <p:spPr>
          <a:xfrm>
            <a:off x="457200" y="2702096"/>
            <a:ext cx="819745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文案 + 视频生成闭环</a:t>
            </a:r>
            <a:endParaRPr lang="en-US" sz="568" dirty="0"/>
          </a:p>
        </p:txBody>
      </p:sp>
      <p:sp>
        <p:nvSpPr>
          <p:cNvPr id="54" name="Text 50"/>
          <p:cNvSpPr/>
          <p:nvPr/>
        </p:nvSpPr>
        <p:spPr>
          <a:xfrm>
            <a:off x="457200" y="2840673"/>
            <a:ext cx="707231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多平台分发辅助工具</a:t>
            </a:r>
            <a:endParaRPr lang="en-US" sz="568" dirty="0"/>
          </a:p>
        </p:txBody>
      </p:sp>
      <p:sp>
        <p:nvSpPr>
          <p:cNvPr id="55" name="Text 51"/>
          <p:cNvSpPr/>
          <p:nvPr/>
        </p:nvSpPr>
        <p:spPr>
          <a:xfrm>
            <a:off x="457200" y="2979251"/>
            <a:ext cx="657225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病毒性预测模型 V1</a:t>
            </a:r>
            <a:endParaRPr lang="en-US" sz="568" dirty="0"/>
          </a:p>
        </p:txBody>
      </p:sp>
      <p:sp>
        <p:nvSpPr>
          <p:cNvPr id="56" name="Shape 52"/>
          <p:cNvSpPr/>
          <p:nvPr/>
        </p:nvSpPr>
        <p:spPr>
          <a:xfrm>
            <a:off x="2446734" y="2038452"/>
            <a:ext cx="2089547" cy="115081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2546747" y="2124177"/>
            <a:ext cx="188952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02 · 规划中</a:t>
            </a:r>
            <a:endParaRPr lang="en-US" sz="516" dirty="0"/>
          </a:p>
        </p:txBody>
      </p:sp>
      <p:sp>
        <p:nvSpPr>
          <p:cNvPr id="58" name="Text 54"/>
          <p:cNvSpPr/>
          <p:nvPr/>
        </p:nvSpPr>
        <p:spPr>
          <a:xfrm>
            <a:off x="2546747" y="2250979"/>
            <a:ext cx="18895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 增强与反馈闭环</a:t>
            </a:r>
            <a:endParaRPr lang="en-US" sz="683" dirty="0"/>
          </a:p>
        </p:txBody>
      </p:sp>
      <p:sp>
        <p:nvSpPr>
          <p:cNvPr id="59" name="Text 55"/>
          <p:cNvSpPr/>
          <p:nvPr/>
        </p:nvSpPr>
        <p:spPr>
          <a:xfrm>
            <a:off x="2546747" y="2400998"/>
            <a:ext cx="188952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5–7 周</a:t>
            </a:r>
            <a:endParaRPr lang="en-US" sz="568" dirty="0"/>
          </a:p>
        </p:txBody>
      </p:sp>
      <p:sp>
        <p:nvSpPr>
          <p:cNvPr id="60" name="Text 56"/>
          <p:cNvSpPr/>
          <p:nvPr/>
        </p:nvSpPr>
        <p:spPr>
          <a:xfrm>
            <a:off x="2618184" y="2563518"/>
            <a:ext cx="880467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向量知识库 + 高分案例库</a:t>
            </a:r>
            <a:endParaRPr lang="en-US" sz="568" dirty="0"/>
          </a:p>
        </p:txBody>
      </p:sp>
      <p:sp>
        <p:nvSpPr>
          <p:cNvPr id="61" name="Text 57"/>
          <p:cNvSpPr/>
          <p:nvPr/>
        </p:nvSpPr>
        <p:spPr>
          <a:xfrm>
            <a:off x="2618184" y="2702096"/>
            <a:ext cx="80903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增强内容生成质量</a:t>
            </a:r>
            <a:endParaRPr lang="en-US" sz="568" dirty="0"/>
          </a:p>
        </p:txBody>
      </p:sp>
      <p:sp>
        <p:nvSpPr>
          <p:cNvPr id="62" name="Text 58"/>
          <p:cNvSpPr/>
          <p:nvPr/>
        </p:nvSpPr>
        <p:spPr>
          <a:xfrm>
            <a:off x="2618184" y="2840673"/>
            <a:ext cx="62865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数据飞轮自动迭代</a:t>
            </a:r>
            <a:endParaRPr lang="en-US" sz="568" dirty="0"/>
          </a:p>
        </p:txBody>
      </p:sp>
      <p:sp>
        <p:nvSpPr>
          <p:cNvPr id="63" name="Text 59"/>
          <p:cNvSpPr/>
          <p:nvPr/>
        </p:nvSpPr>
        <p:spPr>
          <a:xfrm>
            <a:off x="2618184" y="2979251"/>
            <a:ext cx="707231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视频配额管理与预警</a:t>
            </a:r>
            <a:endParaRPr lang="en-US" sz="568" dirty="0"/>
          </a:p>
        </p:txBody>
      </p:sp>
      <p:sp>
        <p:nvSpPr>
          <p:cNvPr id="64" name="Shape 60"/>
          <p:cNvSpPr/>
          <p:nvPr/>
        </p:nvSpPr>
        <p:spPr>
          <a:xfrm>
            <a:off x="4607719" y="2038452"/>
            <a:ext cx="2089547" cy="115081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4707731" y="2124177"/>
            <a:ext cx="188952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03 · 规划中</a:t>
            </a:r>
            <a:endParaRPr lang="en-US" sz="516" dirty="0"/>
          </a:p>
        </p:txBody>
      </p:sp>
      <p:sp>
        <p:nvSpPr>
          <p:cNvPr id="66" name="Text 62"/>
          <p:cNvSpPr/>
          <p:nvPr/>
        </p:nvSpPr>
        <p:spPr>
          <a:xfrm>
            <a:off x="4707731" y="2250979"/>
            <a:ext cx="18895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多模态深度集成</a:t>
            </a:r>
            <a:endParaRPr lang="en-US" sz="683" dirty="0"/>
          </a:p>
        </p:txBody>
      </p:sp>
      <p:sp>
        <p:nvSpPr>
          <p:cNvPr id="67" name="Text 63"/>
          <p:cNvSpPr/>
          <p:nvPr/>
        </p:nvSpPr>
        <p:spPr>
          <a:xfrm>
            <a:off x="4707731" y="2400998"/>
            <a:ext cx="188952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6–8 周</a:t>
            </a:r>
            <a:endParaRPr lang="en-US" sz="568" dirty="0"/>
          </a:p>
        </p:txBody>
      </p:sp>
      <p:sp>
        <p:nvSpPr>
          <p:cNvPr id="68" name="Text 64"/>
          <p:cNvSpPr/>
          <p:nvPr/>
        </p:nvSpPr>
        <p:spPr>
          <a:xfrm>
            <a:off x="4779169" y="2563518"/>
            <a:ext cx="925116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CLIP/Whisper 多模态特征</a:t>
            </a:r>
            <a:endParaRPr lang="en-US" sz="568" dirty="0"/>
          </a:p>
        </p:txBody>
      </p:sp>
      <p:sp>
        <p:nvSpPr>
          <p:cNvPr id="69" name="Text 65"/>
          <p:cNvSpPr/>
          <p:nvPr/>
        </p:nvSpPr>
        <p:spPr>
          <a:xfrm>
            <a:off x="4779169" y="2702096"/>
            <a:ext cx="67329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病毒性预测模型 V2</a:t>
            </a:r>
            <a:endParaRPr lang="en-US" sz="568" dirty="0"/>
          </a:p>
        </p:txBody>
      </p:sp>
      <p:sp>
        <p:nvSpPr>
          <p:cNvPr id="70" name="Text 66"/>
          <p:cNvSpPr/>
          <p:nvPr/>
        </p:nvSpPr>
        <p:spPr>
          <a:xfrm>
            <a:off x="4779169" y="2840673"/>
            <a:ext cx="707231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A/B 测试自动化框架</a:t>
            </a:r>
            <a:endParaRPr lang="en-US" sz="568" dirty="0"/>
          </a:p>
        </p:txBody>
      </p:sp>
      <p:sp>
        <p:nvSpPr>
          <p:cNvPr id="71" name="Text 67"/>
          <p:cNvSpPr/>
          <p:nvPr/>
        </p:nvSpPr>
        <p:spPr>
          <a:xfrm>
            <a:off x="4779169" y="2979251"/>
            <a:ext cx="62865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发布时机智能推荐</a:t>
            </a:r>
            <a:endParaRPr lang="en-US" sz="568" dirty="0"/>
          </a:p>
        </p:txBody>
      </p:sp>
      <p:sp>
        <p:nvSpPr>
          <p:cNvPr id="72" name="Shape 68"/>
          <p:cNvSpPr/>
          <p:nvPr/>
        </p:nvSpPr>
        <p:spPr>
          <a:xfrm>
            <a:off x="6768703" y="2038452"/>
            <a:ext cx="2089547" cy="1150813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6868716" y="2124177"/>
            <a:ext cx="188952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04 · 远期</a:t>
            </a:r>
            <a:endParaRPr lang="en-US" sz="516" dirty="0"/>
          </a:p>
        </p:txBody>
      </p:sp>
      <p:sp>
        <p:nvSpPr>
          <p:cNvPr id="74" name="Text 70"/>
          <p:cNvSpPr/>
          <p:nvPr/>
        </p:nvSpPr>
        <p:spPr>
          <a:xfrm>
            <a:off x="6868716" y="2250979"/>
            <a:ext cx="18895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全自主 Agent 生态</a:t>
            </a:r>
            <a:endParaRPr lang="en-US" sz="683" dirty="0"/>
          </a:p>
        </p:txBody>
      </p:sp>
      <p:sp>
        <p:nvSpPr>
          <p:cNvPr id="75" name="Text 71"/>
          <p:cNvSpPr/>
          <p:nvPr/>
        </p:nvSpPr>
        <p:spPr>
          <a:xfrm>
            <a:off x="6868716" y="2400998"/>
            <a:ext cx="188952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5–7 周</a:t>
            </a:r>
            <a:endParaRPr lang="en-US" sz="568" dirty="0"/>
          </a:p>
        </p:txBody>
      </p:sp>
      <p:sp>
        <p:nvSpPr>
          <p:cNvPr id="76" name="Text 72"/>
          <p:cNvSpPr/>
          <p:nvPr/>
        </p:nvSpPr>
        <p:spPr>
          <a:xfrm>
            <a:off x="6940153" y="2563518"/>
            <a:ext cx="62865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全链路自主流水线</a:t>
            </a:r>
            <a:endParaRPr lang="en-US" sz="568" dirty="0"/>
          </a:p>
        </p:txBody>
      </p:sp>
      <p:sp>
        <p:nvSpPr>
          <p:cNvPr id="77" name="Text 73"/>
          <p:cNvSpPr/>
          <p:nvPr/>
        </p:nvSpPr>
        <p:spPr>
          <a:xfrm>
            <a:off x="6940153" y="2702096"/>
            <a:ext cx="707231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跨平台内容矩阵管理</a:t>
            </a:r>
            <a:endParaRPr lang="en-US" sz="568" dirty="0"/>
          </a:p>
        </p:txBody>
      </p:sp>
      <p:sp>
        <p:nvSpPr>
          <p:cNvPr id="78" name="Text 74"/>
          <p:cNvSpPr/>
          <p:nvPr/>
        </p:nvSpPr>
        <p:spPr>
          <a:xfrm>
            <a:off x="6940153" y="2840673"/>
            <a:ext cx="79117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 API + 第三方集成</a:t>
            </a:r>
            <a:endParaRPr lang="en-US" sz="568" dirty="0"/>
          </a:p>
        </p:txBody>
      </p:sp>
      <p:sp>
        <p:nvSpPr>
          <p:cNvPr id="79" name="Text 75"/>
          <p:cNvSpPr/>
          <p:nvPr/>
        </p:nvSpPr>
        <p:spPr>
          <a:xfrm>
            <a:off x="6940153" y="2979251"/>
            <a:ext cx="93225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MCN 批量管理 + 效果分成</a:t>
            </a:r>
            <a:endParaRPr lang="en-US" sz="568" dirty="0"/>
          </a:p>
        </p:txBody>
      </p:sp>
      <p:sp>
        <p:nvSpPr>
          <p:cNvPr id="80" name="Shape 76"/>
          <p:cNvSpPr/>
          <p:nvPr/>
        </p:nvSpPr>
        <p:spPr>
          <a:xfrm>
            <a:off x="285750" y="3260703"/>
            <a:ext cx="8572500" cy="4529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1" name="Shape 77"/>
          <p:cNvSpPr/>
          <p:nvPr/>
        </p:nvSpPr>
        <p:spPr>
          <a:xfrm>
            <a:off x="285750" y="3260703"/>
            <a:ext cx="8572500" cy="7144"/>
          </a:xfrm>
          <a:prstGeom prst="rect">
            <a:avLst/>
          </a:prstGeom>
          <a:solidFill>
            <a:srgbClr val="B3F2FF"/>
          </a:solidFill>
          <a:ln/>
        </p:spPr>
      </p:sp>
      <p:sp>
        <p:nvSpPr>
          <p:cNvPr id="82" name="Text 78"/>
          <p:cNvSpPr/>
          <p:nvPr/>
        </p:nvSpPr>
        <p:spPr>
          <a:xfrm>
            <a:off x="285750" y="3332141"/>
            <a:ext cx="8572500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当前里程碑：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01 核心功能已全面上线，AI视频生成（含图生视频）、Agent 全链路工作流均已可用。Phase 02 重点攻克热点数据合规获取、RAG 知识库建设与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数字人集成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（应对真人 IP 出镜结构性短板），详见下一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页策略分析。</a:t>
            </a:r>
            <a:endParaRPr lang="en-US" sz="58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71450"/>
            <a:ext cx="9144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STRATEGY · PRODUCT ROADMAP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0" y="303609"/>
            <a:ext cx="91440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视频无法替代真人 IP 出镜的五大应对策略</a:t>
            </a:r>
            <a:endParaRPr lang="en-US" sz="1295" dirty="0"/>
          </a:p>
        </p:txBody>
      </p:sp>
      <p:sp>
        <p:nvSpPr>
          <p:cNvPr id="6" name="Text 2"/>
          <p:cNvSpPr/>
          <p:nvPr/>
        </p:nvSpPr>
        <p:spPr>
          <a:xfrm>
            <a:off x="0" y="582216"/>
            <a:ext cx="91440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规避结构性短板，以差异化内容定位 + 技术补强构建完整解决方案</a:t>
            </a:r>
            <a:endParaRPr lang="en-US" sz="621" dirty="0"/>
          </a:p>
        </p:txBody>
      </p:sp>
      <p:sp>
        <p:nvSpPr>
          <p:cNvPr id="7" name="Shape 3"/>
          <p:cNvSpPr/>
          <p:nvPr/>
        </p:nvSpPr>
        <p:spPr>
          <a:xfrm>
            <a:off x="285750" y="825103"/>
            <a:ext cx="1657350" cy="1692622"/>
          </a:xfrm>
          <a:prstGeom prst="rect">
            <a:avLst/>
          </a:prstGeom>
          <a:solidFill>
            <a:srgbClr val="00D4FF">
              <a:alpha val="4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85763" y="925116"/>
            <a:ext cx="14573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90" b="1" dirty="0">
                <a:solidFill>
                  <a:srgbClr val="FFFFFF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385763" y="1139428"/>
            <a:ext cx="1457325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差异化内容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定位</a:t>
            </a:r>
            <a:endParaRPr lang="en-US" sz="634" dirty="0"/>
          </a:p>
        </p:txBody>
      </p:sp>
      <p:sp>
        <p:nvSpPr>
          <p:cNvPr id="10" name="Shape 6"/>
          <p:cNvSpPr/>
          <p:nvPr/>
        </p:nvSpPr>
        <p:spPr>
          <a:xfrm>
            <a:off x="385763" y="1423727"/>
            <a:ext cx="1457325" cy="130373"/>
          </a:xfrm>
          <a:prstGeom prst="rect">
            <a:avLst/>
          </a:prstGeom>
          <a:solidFill>
            <a:srgbClr val="22C55E">
              <a:alpha val="12000"/>
            </a:srgbClr>
          </a:solidFill>
          <a:ln w="9144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85763" y="1423727"/>
            <a:ext cx="1457325" cy="130373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立即执行</a:t>
            </a:r>
            <a:endParaRPr lang="en-US" sz="435" dirty="0"/>
          </a:p>
        </p:txBody>
      </p:sp>
      <p:sp>
        <p:nvSpPr>
          <p:cNvPr id="12" name="Text 8"/>
          <p:cNvSpPr/>
          <p:nvPr/>
        </p:nvSpPr>
        <p:spPr>
          <a:xfrm>
            <a:off x="385763" y="1582675"/>
            <a:ext cx="1457325" cy="27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不与真人出镜正面竞争，专注 AI 视频天然擅长的内容类型</a:t>
            </a:r>
            <a:endParaRPr lang="en-US" sz="568" dirty="0"/>
          </a:p>
        </p:txBody>
      </p:sp>
      <p:sp>
        <p:nvSpPr>
          <p:cNvPr id="13" name="Text 9"/>
          <p:cNvSpPr/>
          <p:nvPr/>
        </p:nvSpPr>
        <p:spPr>
          <a:xfrm>
            <a:off x="450056" y="1926245"/>
            <a:ext cx="669727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产品展示 / 开箱测评</a:t>
            </a:r>
            <a:endParaRPr lang="en-US" sz="542" dirty="0"/>
          </a:p>
        </p:txBody>
      </p:sp>
      <p:sp>
        <p:nvSpPr>
          <p:cNvPr id="14" name="Text 10"/>
          <p:cNvSpPr/>
          <p:nvPr/>
        </p:nvSpPr>
        <p:spPr>
          <a:xfrm>
            <a:off x="450056" y="2059828"/>
            <a:ext cx="669727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知识科普 / 图文解说</a:t>
            </a:r>
            <a:endParaRPr lang="en-US" sz="542" dirty="0"/>
          </a:p>
        </p:txBody>
      </p:sp>
      <p:sp>
        <p:nvSpPr>
          <p:cNvPr id="15" name="Text 11"/>
          <p:cNvSpPr/>
          <p:nvPr/>
        </p:nvSpPr>
        <p:spPr>
          <a:xfrm>
            <a:off x="450056" y="2193410"/>
            <a:ext cx="669727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风景旅行 / 美食探店</a:t>
            </a:r>
            <a:endParaRPr lang="en-US" sz="542" dirty="0"/>
          </a:p>
        </p:txBody>
      </p:sp>
      <p:sp>
        <p:nvSpPr>
          <p:cNvPr id="16" name="Text 12"/>
          <p:cNvSpPr/>
          <p:nvPr/>
        </p:nvSpPr>
        <p:spPr>
          <a:xfrm>
            <a:off x="450056" y="2326993"/>
            <a:ext cx="669727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品牌宣传 / 数据动画</a:t>
            </a:r>
            <a:endParaRPr lang="en-US" sz="542" dirty="0"/>
          </a:p>
        </p:txBody>
      </p:sp>
      <p:sp>
        <p:nvSpPr>
          <p:cNvPr id="17" name="Shape 13"/>
          <p:cNvSpPr/>
          <p:nvPr/>
        </p:nvSpPr>
        <p:spPr>
          <a:xfrm>
            <a:off x="2014538" y="825103"/>
            <a:ext cx="1657350" cy="1692622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114550" y="925116"/>
            <a:ext cx="14573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90" b="1" dirty="0">
                <a:solidFill>
                  <a:srgbClr val="FFFFFF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90" dirty="0"/>
          </a:p>
        </p:txBody>
      </p:sp>
      <p:sp>
        <p:nvSpPr>
          <p:cNvPr id="19" name="Text 15"/>
          <p:cNvSpPr/>
          <p:nvPr/>
        </p:nvSpPr>
        <p:spPr>
          <a:xfrm>
            <a:off x="2114550" y="1139428"/>
            <a:ext cx="1457325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真人素材 +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剪辑混合</a:t>
            </a:r>
            <a:endParaRPr lang="en-US" sz="634" dirty="0"/>
          </a:p>
        </p:txBody>
      </p:sp>
      <p:sp>
        <p:nvSpPr>
          <p:cNvPr id="20" name="Shape 16"/>
          <p:cNvSpPr/>
          <p:nvPr/>
        </p:nvSpPr>
        <p:spPr>
          <a:xfrm>
            <a:off x="2114550" y="1423727"/>
            <a:ext cx="1457325" cy="13037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114550" y="1423727"/>
            <a:ext cx="1457325" cy="130373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优先</a:t>
            </a:r>
            <a:endParaRPr lang="en-US" sz="435" dirty="0"/>
          </a:p>
        </p:txBody>
      </p:sp>
      <p:sp>
        <p:nvSpPr>
          <p:cNvPr id="22" name="Text 18"/>
          <p:cNvSpPr/>
          <p:nvPr/>
        </p:nvSpPr>
        <p:spPr>
          <a:xfrm>
            <a:off x="2114550" y="1582675"/>
            <a:ext cx="1457325" cy="27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降低真人出镜门槛，AI 承担脚本、剪辑、字幕、配音</a:t>
            </a:r>
            <a:endParaRPr lang="en-US" sz="568" dirty="0"/>
          </a:p>
        </p:txBody>
      </p:sp>
      <p:sp>
        <p:nvSpPr>
          <p:cNvPr id="23" name="Text 19"/>
          <p:cNvSpPr/>
          <p:nvPr/>
        </p:nvSpPr>
        <p:spPr>
          <a:xfrm>
            <a:off x="2178844" y="1926245"/>
            <a:ext cx="5429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生成口播脚本</a:t>
            </a:r>
            <a:endParaRPr lang="en-US" sz="542" dirty="0"/>
          </a:p>
        </p:txBody>
      </p:sp>
      <p:sp>
        <p:nvSpPr>
          <p:cNvPr id="24" name="Text 20"/>
          <p:cNvSpPr/>
          <p:nvPr/>
        </p:nvSpPr>
        <p:spPr>
          <a:xfrm>
            <a:off x="2178844" y="2059828"/>
            <a:ext cx="810816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用户录制 → AI 自动剪辑</a:t>
            </a:r>
            <a:endParaRPr lang="en-US" sz="542" dirty="0"/>
          </a:p>
        </p:txBody>
      </p:sp>
      <p:sp>
        <p:nvSpPr>
          <p:cNvPr id="25" name="Text 21"/>
          <p:cNvSpPr/>
          <p:nvPr/>
        </p:nvSpPr>
        <p:spPr>
          <a:xfrm>
            <a:off x="2178844" y="2193410"/>
            <a:ext cx="5429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声音克隆配音</a:t>
            </a:r>
            <a:endParaRPr lang="en-US" sz="542" dirty="0"/>
          </a:p>
        </p:txBody>
      </p:sp>
      <p:sp>
        <p:nvSpPr>
          <p:cNvPr id="26" name="Text 22"/>
          <p:cNvSpPr/>
          <p:nvPr/>
        </p:nvSpPr>
        <p:spPr>
          <a:xfrm>
            <a:off x="2178844" y="2326993"/>
            <a:ext cx="612577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补帧 / 画质增强</a:t>
            </a:r>
            <a:endParaRPr lang="en-US" sz="542" dirty="0"/>
          </a:p>
        </p:txBody>
      </p:sp>
      <p:sp>
        <p:nvSpPr>
          <p:cNvPr id="27" name="Shape 23"/>
          <p:cNvSpPr/>
          <p:nvPr/>
        </p:nvSpPr>
        <p:spPr>
          <a:xfrm>
            <a:off x="3743325" y="825103"/>
            <a:ext cx="1657350" cy="1692622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843338" y="925116"/>
            <a:ext cx="14573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90" b="1" dirty="0">
                <a:solidFill>
                  <a:srgbClr val="FFFFFF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90" dirty="0"/>
          </a:p>
        </p:txBody>
      </p:sp>
      <p:sp>
        <p:nvSpPr>
          <p:cNvPr id="29" name="Text 25"/>
          <p:cNvSpPr/>
          <p:nvPr/>
        </p:nvSpPr>
        <p:spPr>
          <a:xfrm>
            <a:off x="3843338" y="1139428"/>
            <a:ext cx="1457325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数字人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技术集成</a:t>
            </a:r>
            <a:endParaRPr lang="en-US" sz="634" dirty="0"/>
          </a:p>
        </p:txBody>
      </p:sp>
      <p:sp>
        <p:nvSpPr>
          <p:cNvPr id="30" name="Shape 26"/>
          <p:cNvSpPr/>
          <p:nvPr/>
        </p:nvSpPr>
        <p:spPr>
          <a:xfrm>
            <a:off x="3843338" y="1423727"/>
            <a:ext cx="1457325" cy="121444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843338" y="1423727"/>
            <a:ext cx="1457325" cy="121444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435" dirty="0"/>
          </a:p>
        </p:txBody>
      </p:sp>
      <p:sp>
        <p:nvSpPr>
          <p:cNvPr id="32" name="Text 28"/>
          <p:cNvSpPr/>
          <p:nvPr/>
        </p:nvSpPr>
        <p:spPr>
          <a:xfrm>
            <a:off x="3843338" y="1573746"/>
            <a:ext cx="1457325" cy="2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接入数字人 API，用户上传照片即可生成专属 AI 形象出镜</a:t>
            </a:r>
            <a:endParaRPr lang="en-US" sz="568" dirty="0"/>
          </a:p>
        </p:txBody>
      </p:sp>
      <p:sp>
        <p:nvSpPr>
          <p:cNvPr id="33" name="Text 29"/>
          <p:cNvSpPr/>
          <p:nvPr/>
        </p:nvSpPr>
        <p:spPr>
          <a:xfrm>
            <a:off x="3907631" y="1926245"/>
            <a:ext cx="792956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HeyGen / 腾讯智影 API</a:t>
            </a:r>
            <a:endParaRPr lang="en-US" sz="542" dirty="0"/>
          </a:p>
        </p:txBody>
      </p:sp>
      <p:sp>
        <p:nvSpPr>
          <p:cNvPr id="34" name="Text 30"/>
          <p:cNvSpPr/>
          <p:nvPr/>
        </p:nvSpPr>
        <p:spPr>
          <a:xfrm>
            <a:off x="3907631" y="2059828"/>
            <a:ext cx="750094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剪映数字人（字节系）</a:t>
            </a:r>
            <a:endParaRPr lang="en-US" sz="542" dirty="0"/>
          </a:p>
        </p:txBody>
      </p:sp>
      <p:sp>
        <p:nvSpPr>
          <p:cNvPr id="35" name="Text 31"/>
          <p:cNvSpPr/>
          <p:nvPr/>
        </p:nvSpPr>
        <p:spPr>
          <a:xfrm>
            <a:off x="3907631" y="2193410"/>
            <a:ext cx="60007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照片驱动口型同步</a:t>
            </a:r>
            <a:endParaRPr lang="en-US" sz="542" dirty="0"/>
          </a:p>
        </p:txBody>
      </p:sp>
      <p:sp>
        <p:nvSpPr>
          <p:cNvPr id="36" name="Text 32"/>
          <p:cNvSpPr/>
          <p:nvPr/>
        </p:nvSpPr>
        <p:spPr>
          <a:xfrm>
            <a:off x="3907631" y="2326993"/>
            <a:ext cx="525066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多语言配音支持</a:t>
            </a:r>
            <a:endParaRPr lang="en-US" sz="542" dirty="0"/>
          </a:p>
        </p:txBody>
      </p:sp>
      <p:sp>
        <p:nvSpPr>
          <p:cNvPr id="37" name="Shape 33"/>
          <p:cNvSpPr/>
          <p:nvPr/>
        </p:nvSpPr>
        <p:spPr>
          <a:xfrm>
            <a:off x="5472113" y="825103"/>
            <a:ext cx="1657350" cy="1692622"/>
          </a:xfrm>
          <a:prstGeom prst="rect">
            <a:avLst/>
          </a:prstGeom>
          <a:solidFill>
            <a:srgbClr val="161B22"/>
          </a:solidFill>
          <a:ln w="9144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572125" y="925116"/>
            <a:ext cx="14573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90" b="1" dirty="0">
                <a:solidFill>
                  <a:srgbClr val="FFFFFF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090" dirty="0"/>
          </a:p>
        </p:txBody>
      </p:sp>
      <p:sp>
        <p:nvSpPr>
          <p:cNvPr id="39" name="Text 35"/>
          <p:cNvSpPr/>
          <p:nvPr/>
        </p:nvSpPr>
        <p:spPr>
          <a:xfrm>
            <a:off x="5572125" y="1139428"/>
            <a:ext cx="1457325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虚拟 IP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形象设计</a:t>
            </a:r>
            <a:endParaRPr lang="en-US" sz="634" dirty="0"/>
          </a:p>
        </p:txBody>
      </p:sp>
      <p:sp>
        <p:nvSpPr>
          <p:cNvPr id="40" name="Shape 36"/>
          <p:cNvSpPr/>
          <p:nvPr/>
        </p:nvSpPr>
        <p:spPr>
          <a:xfrm>
            <a:off x="5572125" y="1423727"/>
            <a:ext cx="1457325" cy="121444"/>
          </a:xfrm>
          <a:prstGeom prst="rect">
            <a:avLst/>
          </a:prstGeom>
          <a:solidFill>
            <a:srgbClr val="7C3AED">
              <a:alpha val="12000"/>
            </a:srgbClr>
          </a:solidFill>
          <a:ln w="9144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572125" y="1423727"/>
            <a:ext cx="1457325" cy="121444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435" dirty="0"/>
          </a:p>
        </p:txBody>
      </p:sp>
      <p:sp>
        <p:nvSpPr>
          <p:cNvPr id="42" name="Text 38"/>
          <p:cNvSpPr/>
          <p:nvPr/>
        </p:nvSpPr>
        <p:spPr>
          <a:xfrm>
            <a:off x="5572125" y="1573746"/>
            <a:ext cx="1457325" cy="2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引导用户建立不依赖真人的 IP 形态，AI 生成专属卡通形象</a:t>
            </a:r>
            <a:endParaRPr lang="en-US" sz="568" dirty="0"/>
          </a:p>
        </p:txBody>
      </p:sp>
      <p:sp>
        <p:nvSpPr>
          <p:cNvPr id="43" name="Text 39"/>
          <p:cNvSpPr/>
          <p:nvPr/>
        </p:nvSpPr>
        <p:spPr>
          <a:xfrm>
            <a:off x="5636419" y="1926245"/>
            <a:ext cx="82867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输入 IP 定位 → 生成形象</a:t>
            </a:r>
            <a:endParaRPr lang="en-US" sz="542" dirty="0"/>
          </a:p>
        </p:txBody>
      </p:sp>
      <p:sp>
        <p:nvSpPr>
          <p:cNvPr id="44" name="Text 40"/>
          <p:cNvSpPr/>
          <p:nvPr/>
        </p:nvSpPr>
        <p:spPr>
          <a:xfrm>
            <a:off x="5636419" y="2059828"/>
            <a:ext cx="560784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统一视觉 IP 矩阵</a:t>
            </a:r>
            <a:endParaRPr lang="en-US" sz="542" dirty="0"/>
          </a:p>
        </p:txBody>
      </p:sp>
      <p:sp>
        <p:nvSpPr>
          <p:cNvPr id="45" name="Text 41"/>
          <p:cNvSpPr/>
          <p:nvPr/>
        </p:nvSpPr>
        <p:spPr>
          <a:xfrm>
            <a:off x="5636419" y="2193410"/>
            <a:ext cx="750094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参考：一禅小和尚模式</a:t>
            </a:r>
            <a:endParaRPr lang="en-US" sz="542" dirty="0"/>
          </a:p>
        </p:txBody>
      </p:sp>
      <p:sp>
        <p:nvSpPr>
          <p:cNvPr id="46" name="Text 42"/>
          <p:cNvSpPr/>
          <p:nvPr/>
        </p:nvSpPr>
        <p:spPr>
          <a:xfrm>
            <a:off x="5636419" y="2326993"/>
            <a:ext cx="750094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无颜值依赖的粉丝积累</a:t>
            </a:r>
            <a:endParaRPr lang="en-US" sz="542" dirty="0"/>
          </a:p>
        </p:txBody>
      </p:sp>
      <p:sp>
        <p:nvSpPr>
          <p:cNvPr id="47" name="Shape 43"/>
          <p:cNvSpPr/>
          <p:nvPr/>
        </p:nvSpPr>
        <p:spPr>
          <a:xfrm>
            <a:off x="7200900" y="825103"/>
            <a:ext cx="1657350" cy="1692622"/>
          </a:xfrm>
          <a:prstGeom prst="rect">
            <a:avLst/>
          </a:prstGeom>
          <a:solidFill>
            <a:srgbClr val="00D4FF">
              <a:alpha val="4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300913" y="925116"/>
            <a:ext cx="14573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90" b="1" dirty="0">
                <a:solidFill>
                  <a:srgbClr val="FFFFFF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090" dirty="0"/>
          </a:p>
        </p:txBody>
      </p:sp>
      <p:sp>
        <p:nvSpPr>
          <p:cNvPr id="49" name="Text 45"/>
          <p:cNvSpPr/>
          <p:nvPr/>
        </p:nvSpPr>
        <p:spPr>
          <a:xfrm>
            <a:off x="7300913" y="1139428"/>
            <a:ext cx="1457325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明确产品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定位边界</a:t>
            </a:r>
            <a:endParaRPr lang="en-US" sz="634" dirty="0"/>
          </a:p>
        </p:txBody>
      </p:sp>
      <p:sp>
        <p:nvSpPr>
          <p:cNvPr id="50" name="Shape 46"/>
          <p:cNvSpPr/>
          <p:nvPr/>
        </p:nvSpPr>
        <p:spPr>
          <a:xfrm>
            <a:off x="7300913" y="1423727"/>
            <a:ext cx="1457325" cy="130373"/>
          </a:xfrm>
          <a:prstGeom prst="rect">
            <a:avLst/>
          </a:prstGeom>
          <a:solidFill>
            <a:srgbClr val="22C55E">
              <a:alpha val="12000"/>
            </a:srgbClr>
          </a:solidFill>
          <a:ln w="9144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7300913" y="1423727"/>
            <a:ext cx="1457325" cy="130373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立即执行</a:t>
            </a:r>
            <a:endParaRPr lang="en-US" sz="435" dirty="0"/>
          </a:p>
        </p:txBody>
      </p:sp>
      <p:sp>
        <p:nvSpPr>
          <p:cNvPr id="52" name="Text 48"/>
          <p:cNvSpPr/>
          <p:nvPr/>
        </p:nvSpPr>
        <p:spPr>
          <a:xfrm>
            <a:off x="7300913" y="1582675"/>
            <a:ext cx="1457325" cy="243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在获客文案中主动声明适用场景，减少错误预期导致的用户流失</a:t>
            </a:r>
            <a:endParaRPr lang="en-US" sz="568" dirty="0"/>
          </a:p>
        </p:txBody>
      </p:sp>
      <p:sp>
        <p:nvSpPr>
          <p:cNvPr id="53" name="Text 49"/>
          <p:cNvSpPr/>
          <p:nvPr/>
        </p:nvSpPr>
        <p:spPr>
          <a:xfrm>
            <a:off x="7365206" y="1897670"/>
            <a:ext cx="669727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品牌账号 / 知识博主</a:t>
            </a:r>
            <a:endParaRPr lang="en-US" sz="542" dirty="0"/>
          </a:p>
        </p:txBody>
      </p:sp>
      <p:sp>
        <p:nvSpPr>
          <p:cNvPr id="54" name="Text 50"/>
          <p:cNvSpPr/>
          <p:nvPr/>
        </p:nvSpPr>
        <p:spPr>
          <a:xfrm>
            <a:off x="7365206" y="2031253"/>
            <a:ext cx="669727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产品测评 / 旅行美食</a:t>
            </a:r>
            <a:endParaRPr lang="en-US" sz="542" dirty="0"/>
          </a:p>
        </p:txBody>
      </p:sp>
      <p:sp>
        <p:nvSpPr>
          <p:cNvPr id="55" name="Text 51"/>
          <p:cNvSpPr/>
          <p:nvPr/>
        </p:nvSpPr>
        <p:spPr>
          <a:xfrm>
            <a:off x="7365206" y="2164835"/>
            <a:ext cx="969764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明确不适合：个人情感 / 才艺</a:t>
            </a:r>
            <a:endParaRPr lang="en-US" sz="542" dirty="0"/>
          </a:p>
        </p:txBody>
      </p:sp>
      <p:sp>
        <p:nvSpPr>
          <p:cNvPr id="56" name="Text 52"/>
          <p:cNvSpPr/>
          <p:nvPr/>
        </p:nvSpPr>
        <p:spPr>
          <a:xfrm>
            <a:off x="7365206" y="2298418"/>
            <a:ext cx="675084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引导混合工作流使用</a:t>
            </a:r>
            <a:endParaRPr lang="en-US" sz="542" dirty="0"/>
          </a:p>
        </p:txBody>
      </p:sp>
      <p:sp>
        <p:nvSpPr>
          <p:cNvPr id="57" name="Text 53"/>
          <p:cNvSpPr/>
          <p:nvPr/>
        </p:nvSpPr>
        <p:spPr>
          <a:xfrm>
            <a:off x="285750" y="2589163"/>
            <a:ext cx="857250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落地优先级矩阵</a:t>
            </a:r>
            <a:endParaRPr lang="en-US" sz="516" dirty="0"/>
          </a:p>
        </p:txBody>
      </p:sp>
      <p:sp>
        <p:nvSpPr>
          <p:cNvPr id="58" name="Text 54"/>
          <p:cNvSpPr/>
          <p:nvPr/>
        </p:nvSpPr>
        <p:spPr>
          <a:xfrm>
            <a:off x="285750" y="2884010"/>
            <a:ext cx="642938" cy="98227"/>
          </a:xfrm>
          <a:prstGeom prst="rect">
            <a:avLst/>
          </a:prstGeom>
          <a:noFill/>
          <a:ln/>
        </p:spPr>
        <p:txBody>
          <a:bodyPr wrap="none" lIns="0" tIns="0" rIns="119126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立即执行</a:t>
            </a:r>
            <a:endParaRPr lang="en-US" sz="516" dirty="0"/>
          </a:p>
        </p:txBody>
      </p:sp>
      <p:sp>
        <p:nvSpPr>
          <p:cNvPr id="59" name="Shape 55"/>
          <p:cNvSpPr/>
          <p:nvPr/>
        </p:nvSpPr>
        <p:spPr>
          <a:xfrm>
            <a:off x="928688" y="2758827"/>
            <a:ext cx="1982391" cy="348593"/>
          </a:xfrm>
          <a:prstGeom prst="rect">
            <a:avLst/>
          </a:prstGeom>
          <a:solidFill>
            <a:srgbClr val="22C55E">
              <a:alpha val="6000"/>
            </a:srgbClr>
          </a:solidFill>
          <a:ln w="9144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928688" y="2758827"/>
            <a:ext cx="1982391" cy="34859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差异化内容定位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产品文案 + 场景推荐模块</a:t>
            </a:r>
            <a:endParaRPr lang="en-US" sz="568" dirty="0"/>
          </a:p>
        </p:txBody>
      </p:sp>
      <p:sp>
        <p:nvSpPr>
          <p:cNvPr id="61" name="Shape 57"/>
          <p:cNvSpPr/>
          <p:nvPr/>
        </p:nvSpPr>
        <p:spPr>
          <a:xfrm>
            <a:off x="2911078" y="2758827"/>
            <a:ext cx="1982391" cy="348593"/>
          </a:xfrm>
          <a:prstGeom prst="rect">
            <a:avLst/>
          </a:prstGeom>
          <a:solidFill>
            <a:srgbClr val="22C55E">
              <a:alpha val="6000"/>
            </a:srgbClr>
          </a:solidFill>
          <a:ln w="9144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2911078" y="2758827"/>
            <a:ext cx="1982391" cy="34859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⑤ 产品边界声明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获客页面 + 引导文案</a:t>
            </a:r>
            <a:endParaRPr lang="en-US" sz="568" dirty="0"/>
          </a:p>
        </p:txBody>
      </p:sp>
      <p:sp>
        <p:nvSpPr>
          <p:cNvPr id="63" name="Text 59"/>
          <p:cNvSpPr/>
          <p:nvPr/>
        </p:nvSpPr>
        <p:spPr>
          <a:xfrm>
            <a:off x="4893469" y="2806684"/>
            <a:ext cx="1982391" cy="23859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68" dirty="0"/>
          </a:p>
        </p:txBody>
      </p:sp>
      <p:sp>
        <p:nvSpPr>
          <p:cNvPr id="64" name="Text 60"/>
          <p:cNvSpPr/>
          <p:nvPr/>
        </p:nvSpPr>
        <p:spPr>
          <a:xfrm>
            <a:off x="6875859" y="2806684"/>
            <a:ext cx="1982391" cy="23859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68" dirty="0"/>
          </a:p>
        </p:txBody>
      </p:sp>
      <p:sp>
        <p:nvSpPr>
          <p:cNvPr id="65" name="Text 61"/>
          <p:cNvSpPr/>
          <p:nvPr/>
        </p:nvSpPr>
        <p:spPr>
          <a:xfrm>
            <a:off x="285750" y="3223673"/>
            <a:ext cx="642938" cy="87511"/>
          </a:xfrm>
          <a:prstGeom prst="rect">
            <a:avLst/>
          </a:prstGeom>
          <a:noFill/>
          <a:ln/>
        </p:spPr>
        <p:txBody>
          <a:bodyPr wrap="none" lIns="0" tIns="0" rIns="119126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516" dirty="0"/>
          </a:p>
        </p:txBody>
      </p:sp>
      <p:sp>
        <p:nvSpPr>
          <p:cNvPr id="66" name="Text 62"/>
          <p:cNvSpPr/>
          <p:nvPr/>
        </p:nvSpPr>
        <p:spPr>
          <a:xfrm>
            <a:off x="928688" y="3148133"/>
            <a:ext cx="1982391" cy="23859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68" dirty="0"/>
          </a:p>
        </p:txBody>
      </p:sp>
      <p:sp>
        <p:nvSpPr>
          <p:cNvPr id="67" name="Text 63"/>
          <p:cNvSpPr/>
          <p:nvPr/>
        </p:nvSpPr>
        <p:spPr>
          <a:xfrm>
            <a:off x="2911078" y="3148133"/>
            <a:ext cx="1982391" cy="23859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68" dirty="0"/>
          </a:p>
        </p:txBody>
      </p:sp>
      <p:sp>
        <p:nvSpPr>
          <p:cNvPr id="68" name="Shape 64"/>
          <p:cNvSpPr/>
          <p:nvPr/>
        </p:nvSpPr>
        <p:spPr>
          <a:xfrm>
            <a:off x="4893469" y="3093132"/>
            <a:ext cx="1982391" cy="348593"/>
          </a:xfrm>
          <a:prstGeom prst="rect">
            <a:avLst/>
          </a:prstGeom>
          <a:solidFill>
            <a:srgbClr val="00D4FF">
              <a:alpha val="5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4893469" y="3093132"/>
            <a:ext cx="1982391" cy="34859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混合制作工作流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口播脚本 + AI 剪辑辅助</a:t>
            </a:r>
            <a:endParaRPr lang="en-US" sz="568" dirty="0"/>
          </a:p>
        </p:txBody>
      </p:sp>
      <p:sp>
        <p:nvSpPr>
          <p:cNvPr id="70" name="Shape 66"/>
          <p:cNvSpPr/>
          <p:nvPr/>
        </p:nvSpPr>
        <p:spPr>
          <a:xfrm>
            <a:off x="6875859" y="3093132"/>
            <a:ext cx="1982391" cy="348593"/>
          </a:xfrm>
          <a:prstGeom prst="rect">
            <a:avLst/>
          </a:prstGeom>
          <a:solidFill>
            <a:srgbClr val="00D4FF">
              <a:alpha val="5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875859" y="3093132"/>
            <a:ext cx="1982391" cy="34859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AI 数字人集成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HeyGen / 腾讯智影 API</a:t>
            </a:r>
            <a:endParaRPr lang="en-US" sz="568" dirty="0"/>
          </a:p>
        </p:txBody>
      </p:sp>
      <p:sp>
        <p:nvSpPr>
          <p:cNvPr id="72" name="Text 68"/>
          <p:cNvSpPr/>
          <p:nvPr/>
        </p:nvSpPr>
        <p:spPr>
          <a:xfrm>
            <a:off x="285750" y="3557978"/>
            <a:ext cx="642938" cy="87511"/>
          </a:xfrm>
          <a:prstGeom prst="rect">
            <a:avLst/>
          </a:prstGeom>
          <a:noFill/>
          <a:ln/>
        </p:spPr>
        <p:txBody>
          <a:bodyPr wrap="none" lIns="0" tIns="0" rIns="119126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516" dirty="0"/>
          </a:p>
        </p:txBody>
      </p:sp>
      <p:sp>
        <p:nvSpPr>
          <p:cNvPr id="73" name="Text 69"/>
          <p:cNvSpPr/>
          <p:nvPr/>
        </p:nvSpPr>
        <p:spPr>
          <a:xfrm>
            <a:off x="928688" y="3482439"/>
            <a:ext cx="1982391" cy="23859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68" dirty="0"/>
          </a:p>
        </p:txBody>
      </p:sp>
      <p:sp>
        <p:nvSpPr>
          <p:cNvPr id="74" name="Text 70"/>
          <p:cNvSpPr/>
          <p:nvPr/>
        </p:nvSpPr>
        <p:spPr>
          <a:xfrm>
            <a:off x="2911078" y="3482439"/>
            <a:ext cx="1982391" cy="23859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68" dirty="0"/>
          </a:p>
        </p:txBody>
      </p:sp>
      <p:sp>
        <p:nvSpPr>
          <p:cNvPr id="75" name="Text 71"/>
          <p:cNvSpPr/>
          <p:nvPr/>
        </p:nvSpPr>
        <p:spPr>
          <a:xfrm>
            <a:off x="4893469" y="3482439"/>
            <a:ext cx="1982391" cy="23859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FFFFFF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68" dirty="0"/>
          </a:p>
        </p:txBody>
      </p:sp>
      <p:sp>
        <p:nvSpPr>
          <p:cNvPr id="76" name="Shape 72"/>
          <p:cNvSpPr/>
          <p:nvPr/>
        </p:nvSpPr>
        <p:spPr>
          <a:xfrm>
            <a:off x="6875859" y="3427437"/>
            <a:ext cx="1982391" cy="348593"/>
          </a:xfrm>
          <a:prstGeom prst="rect">
            <a:avLst/>
          </a:prstGeom>
          <a:solidFill>
            <a:srgbClr val="7C3AED">
              <a:alpha val="5000"/>
            </a:srgbClr>
          </a:solidFill>
          <a:ln w="9144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6875859" y="3427437"/>
            <a:ext cx="1982391" cy="34859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AI 虚拟 IP 形象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专属卡通形象生成系统</a:t>
            </a:r>
            <a:endParaRPr lang="en-US" sz="568" dirty="0"/>
          </a:p>
        </p:txBody>
      </p:sp>
      <p:sp>
        <p:nvSpPr>
          <p:cNvPr id="78" name="Shape 74"/>
          <p:cNvSpPr/>
          <p:nvPr/>
        </p:nvSpPr>
        <p:spPr>
          <a:xfrm>
            <a:off x="285750" y="3847467"/>
            <a:ext cx="8572500" cy="3100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9" name="Shape 75"/>
          <p:cNvSpPr/>
          <p:nvPr/>
        </p:nvSpPr>
        <p:spPr>
          <a:xfrm>
            <a:off x="285750" y="3847467"/>
            <a:ext cx="857250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80" name="Text 76"/>
          <p:cNvSpPr/>
          <p:nvPr/>
        </p:nvSpPr>
        <p:spPr>
          <a:xfrm>
            <a:off x="285750" y="3918905"/>
            <a:ext cx="8572500" cy="131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55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核心判断：</a:t>
            </a:r>
            <a:pPr algn="l" indent="0" marL="0">
              <a:lnSpc>
                <a:spcPts val="1000"/>
              </a:lnSpc>
              <a:buNone/>
            </a:pPr>
            <a:r>
              <a:rPr lang="en-US" sz="59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近期聚焦「差异化定位 + 混合模式工作流」，中期接入数字人 API——而非试图用纯 AI 视频完全替代真人出镜。真人 IP 与 AI 内容是</a:t>
            </a:r>
            <a:pPr algn="l" indent="0" marL="0">
              <a:lnSpc>
                <a:spcPts val="1000"/>
              </a:lnSpc>
              <a:buNone/>
            </a:pPr>
            <a:r>
              <a:rPr lang="en-US" sz="55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互补关系</a:t>
            </a:r>
            <a:pPr algn="l" indent="0" marL="0">
              <a:lnSpc>
                <a:spcPts val="1000"/>
              </a:lnSpc>
              <a:buNone/>
            </a:pPr>
            <a:r>
              <a:rPr lang="en-US" sz="59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，笔灵的价值在于让两种模式都更高效。</a:t>
            </a:r>
            <a:endParaRPr lang="en-US" sz="59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1525" y="285750"/>
            <a:ext cx="95299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1" kern="0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COMPETITIVE MOAT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342900" y="460772"/>
            <a:ext cx="248948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0EE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笔灵的五大差异化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护城河</a:t>
            </a:r>
            <a:pPr algn="l" indent="0" marL="0">
              <a:lnSpc>
                <a:spcPts val="2200"/>
              </a:lnSpc>
              <a:buNone/>
            </a:pP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7327702" y="606493"/>
            <a:ext cx="147339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0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 · COMPETITIVE ADVANTAGE</a:t>
            </a:r>
            <a:endParaRPr lang="en-US" sz="621" dirty="0"/>
          </a:p>
        </p:txBody>
      </p:sp>
      <p:sp>
        <p:nvSpPr>
          <p:cNvPr id="7" name="Shape 3"/>
          <p:cNvSpPr/>
          <p:nvPr/>
        </p:nvSpPr>
        <p:spPr>
          <a:xfrm>
            <a:off x="342900" y="935106"/>
            <a:ext cx="1600200" cy="3690472"/>
          </a:xfrm>
          <a:prstGeom prst="rect">
            <a:avLst/>
          </a:prstGeom>
          <a:solidFill>
            <a:srgbClr val="FFFFFF">
              <a:alpha val="4000"/>
            </a:srgbClr>
          </a:solidFill>
          <a:ln w="9144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85775" y="1106556"/>
            <a:ext cx="130300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34" dirty="0"/>
          </a:p>
        </p:txBody>
      </p:sp>
      <p:sp>
        <p:nvSpPr>
          <p:cNvPr id="9" name="Text 5"/>
          <p:cNvSpPr/>
          <p:nvPr/>
        </p:nvSpPr>
        <p:spPr>
          <a:xfrm>
            <a:off x="485775" y="1295865"/>
            <a:ext cx="13030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86" dirty="0">
                <a:solidFill>
                  <a:srgbClr val="E8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🔗</a:t>
            </a:r>
            <a:endParaRPr lang="en-US" sz="1486" dirty="0"/>
          </a:p>
        </p:txBody>
      </p:sp>
      <p:sp>
        <p:nvSpPr>
          <p:cNvPr id="10" name="Text 6"/>
          <p:cNvSpPr/>
          <p:nvPr/>
        </p:nvSpPr>
        <p:spPr>
          <a:xfrm>
            <a:off x="485775" y="1567328"/>
            <a:ext cx="13030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F0EE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全链路闭环</a:t>
            </a:r>
            <a:endParaRPr lang="en-US" sz="734" dirty="0"/>
          </a:p>
        </p:txBody>
      </p:sp>
      <p:sp>
        <p:nvSpPr>
          <p:cNvPr id="11" name="Text 7"/>
          <p:cNvSpPr/>
          <p:nvPr/>
        </p:nvSpPr>
        <p:spPr>
          <a:xfrm>
            <a:off x="485775" y="1778068"/>
            <a:ext cx="1303009" cy="2454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090B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热点发现 → 文案生成 → AI视频制作 → 多平台分发 → 数据回流，业内唯一覆盖完整内容生产链路的工具，无需在多个平台间切换。</a:t>
            </a:r>
            <a:endParaRPr lang="en-US" sz="621" dirty="0"/>
          </a:p>
        </p:txBody>
      </p:sp>
      <p:sp>
        <p:nvSpPr>
          <p:cNvPr id="12" name="Shape 8"/>
          <p:cNvSpPr/>
          <p:nvPr/>
        </p:nvSpPr>
        <p:spPr>
          <a:xfrm>
            <a:off x="485775" y="4304109"/>
            <a:ext cx="916186" cy="150019"/>
          </a:xfrm>
          <a:prstGeom prst="round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85775" y="4304109"/>
            <a:ext cx="916186" cy="15001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End-to-End Pipeline</a:t>
            </a:r>
            <a:endParaRPr lang="en-US" sz="485" dirty="0"/>
          </a:p>
        </p:txBody>
      </p:sp>
      <p:sp>
        <p:nvSpPr>
          <p:cNvPr id="14" name="Shape 10"/>
          <p:cNvSpPr/>
          <p:nvPr/>
        </p:nvSpPr>
        <p:spPr>
          <a:xfrm>
            <a:off x="2045959" y="935106"/>
            <a:ext cx="1603046" cy="3690472"/>
          </a:xfrm>
          <a:prstGeom prst="rect">
            <a:avLst/>
          </a:prstGeom>
          <a:solidFill>
            <a:srgbClr val="FFFFFF">
              <a:alpha val="4000"/>
            </a:srgbClr>
          </a:solidFill>
          <a:ln w="9144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191708" y="1106556"/>
            <a:ext cx="130588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34" dirty="0"/>
          </a:p>
        </p:txBody>
      </p:sp>
      <p:sp>
        <p:nvSpPr>
          <p:cNvPr id="16" name="Text 12"/>
          <p:cNvSpPr/>
          <p:nvPr/>
        </p:nvSpPr>
        <p:spPr>
          <a:xfrm>
            <a:off x="2191708" y="1295865"/>
            <a:ext cx="130588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86" dirty="0">
                <a:solidFill>
                  <a:srgbClr val="E8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🌐</a:t>
            </a:r>
            <a:endParaRPr lang="en-US" sz="1486" dirty="0"/>
          </a:p>
        </p:txBody>
      </p:sp>
      <p:sp>
        <p:nvSpPr>
          <p:cNvPr id="17" name="Text 13"/>
          <p:cNvSpPr/>
          <p:nvPr/>
        </p:nvSpPr>
        <p:spPr>
          <a:xfrm>
            <a:off x="2191708" y="1567328"/>
            <a:ext cx="130588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F0EE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双轨 API 覆盖</a:t>
            </a:r>
            <a:endParaRPr lang="en-US" sz="734" dirty="0"/>
          </a:p>
        </p:txBody>
      </p:sp>
      <p:sp>
        <p:nvSpPr>
          <p:cNvPr id="18" name="Text 14"/>
          <p:cNvSpPr/>
          <p:nvPr/>
        </p:nvSpPr>
        <p:spPr>
          <a:xfrm>
            <a:off x="2191708" y="1778068"/>
            <a:ext cx="1305883" cy="2454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090B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国内接入火山引擎（cn-beijing），海外接入 BytePlus（ap-southeast），同一套代码覆盖全球市场，规避单一供应商风险。</a:t>
            </a:r>
            <a:endParaRPr lang="en-US" sz="621" dirty="0"/>
          </a:p>
        </p:txBody>
      </p:sp>
      <p:sp>
        <p:nvSpPr>
          <p:cNvPr id="19" name="Shape 15"/>
          <p:cNvSpPr/>
          <p:nvPr/>
        </p:nvSpPr>
        <p:spPr>
          <a:xfrm>
            <a:off x="2191708" y="4304109"/>
            <a:ext cx="951905" cy="150019"/>
          </a:xfrm>
          <a:prstGeom prst="round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2191708" y="4304109"/>
            <a:ext cx="951905" cy="15001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Global Infrastructure</a:t>
            </a:r>
            <a:endParaRPr lang="en-US" sz="485" dirty="0"/>
          </a:p>
        </p:txBody>
      </p:sp>
      <p:sp>
        <p:nvSpPr>
          <p:cNvPr id="21" name="Shape 17"/>
          <p:cNvSpPr/>
          <p:nvPr/>
        </p:nvSpPr>
        <p:spPr>
          <a:xfrm>
            <a:off x="3754766" y="935106"/>
            <a:ext cx="1605921" cy="3690472"/>
          </a:xfrm>
          <a:prstGeom prst="rect">
            <a:avLst/>
          </a:prstGeom>
          <a:solidFill>
            <a:srgbClr val="FFFFFF">
              <a:alpha val="4000"/>
            </a:srgbClr>
          </a:solidFill>
          <a:ln w="9144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03334" y="1106556"/>
            <a:ext cx="130872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34" dirty="0"/>
          </a:p>
        </p:txBody>
      </p:sp>
      <p:sp>
        <p:nvSpPr>
          <p:cNvPr id="23" name="Text 19"/>
          <p:cNvSpPr/>
          <p:nvPr/>
        </p:nvSpPr>
        <p:spPr>
          <a:xfrm>
            <a:off x="3903334" y="1295865"/>
            <a:ext cx="130872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86" dirty="0">
                <a:solidFill>
                  <a:srgbClr val="E8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🎬</a:t>
            </a:r>
            <a:endParaRPr lang="en-US" sz="1486" dirty="0"/>
          </a:p>
        </p:txBody>
      </p:sp>
      <p:sp>
        <p:nvSpPr>
          <p:cNvPr id="24" name="Text 20"/>
          <p:cNvSpPr/>
          <p:nvPr/>
        </p:nvSpPr>
        <p:spPr>
          <a:xfrm>
            <a:off x="3903334" y="1567328"/>
            <a:ext cx="130872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F0EE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视频原生内置</a:t>
            </a:r>
            <a:endParaRPr lang="en-US" sz="734" dirty="0"/>
          </a:p>
        </p:txBody>
      </p:sp>
      <p:sp>
        <p:nvSpPr>
          <p:cNvPr id="25" name="Text 21"/>
          <p:cNvSpPr/>
          <p:nvPr/>
        </p:nvSpPr>
        <p:spPr>
          <a:xfrm>
            <a:off x="3903334" y="1778068"/>
            <a:ext cx="1308729" cy="2454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090B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Seedance 视频引擎深度集成，支持文生视频与图生视频双模式，用户无需配置任何 API Key，开箱即用，5秒视频约90秒生成。</a:t>
            </a:r>
            <a:endParaRPr lang="en-US" sz="621" dirty="0"/>
          </a:p>
        </p:txBody>
      </p:sp>
      <p:sp>
        <p:nvSpPr>
          <p:cNvPr id="26" name="Shape 22"/>
          <p:cNvSpPr/>
          <p:nvPr/>
        </p:nvSpPr>
        <p:spPr>
          <a:xfrm>
            <a:off x="3903334" y="4304109"/>
            <a:ext cx="723305" cy="150019"/>
          </a:xfrm>
          <a:prstGeom prst="round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3903334" y="4304109"/>
            <a:ext cx="723305" cy="15001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Native AI Video</a:t>
            </a:r>
            <a:endParaRPr lang="en-US" sz="485" dirty="0"/>
          </a:p>
        </p:txBody>
      </p:sp>
      <p:sp>
        <p:nvSpPr>
          <p:cNvPr id="28" name="Shape 24"/>
          <p:cNvSpPr/>
          <p:nvPr/>
        </p:nvSpPr>
        <p:spPr>
          <a:xfrm>
            <a:off x="5469238" y="935106"/>
            <a:ext cx="1608767" cy="3690472"/>
          </a:xfrm>
          <a:prstGeom prst="rect">
            <a:avLst/>
          </a:prstGeom>
          <a:solidFill>
            <a:srgbClr val="FFFFFF">
              <a:alpha val="4000"/>
            </a:srgbClr>
          </a:solidFill>
          <a:ln w="9144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20736" y="1106556"/>
            <a:ext cx="131160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34" dirty="0"/>
          </a:p>
        </p:txBody>
      </p:sp>
      <p:sp>
        <p:nvSpPr>
          <p:cNvPr id="30" name="Text 26"/>
          <p:cNvSpPr/>
          <p:nvPr/>
        </p:nvSpPr>
        <p:spPr>
          <a:xfrm>
            <a:off x="5620736" y="1295865"/>
            <a:ext cx="131160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86" dirty="0">
                <a:solidFill>
                  <a:srgbClr val="E8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📊</a:t>
            </a:r>
            <a:endParaRPr lang="en-US" sz="1486" dirty="0"/>
          </a:p>
        </p:txBody>
      </p:sp>
      <p:sp>
        <p:nvSpPr>
          <p:cNvPr id="31" name="Text 27"/>
          <p:cNvSpPr/>
          <p:nvPr/>
        </p:nvSpPr>
        <p:spPr>
          <a:xfrm>
            <a:off x="5620736" y="1567328"/>
            <a:ext cx="131160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F0EE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数据飞轮效应</a:t>
            </a:r>
            <a:endParaRPr lang="en-US" sz="734" dirty="0"/>
          </a:p>
        </p:txBody>
      </p:sp>
      <p:sp>
        <p:nvSpPr>
          <p:cNvPr id="32" name="Text 28"/>
          <p:cNvSpPr/>
          <p:nvPr/>
        </p:nvSpPr>
        <p:spPr>
          <a:xfrm>
            <a:off x="5620736" y="1778068"/>
            <a:ext cx="1311604" cy="2454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090B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每次发布后的点赞、评论、收藏数据自动回流，持续训练病毒性预测模型，用户越多、数据越多、推荐越准，形成正向强化循环。</a:t>
            </a:r>
            <a:endParaRPr lang="en-US" sz="621" dirty="0"/>
          </a:p>
        </p:txBody>
      </p:sp>
      <p:sp>
        <p:nvSpPr>
          <p:cNvPr id="33" name="Shape 29"/>
          <p:cNvSpPr/>
          <p:nvPr/>
        </p:nvSpPr>
        <p:spPr>
          <a:xfrm>
            <a:off x="5620736" y="4304109"/>
            <a:ext cx="689372" cy="150019"/>
          </a:xfrm>
          <a:prstGeom prst="round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4" name="Text 30"/>
          <p:cNvSpPr/>
          <p:nvPr/>
        </p:nvSpPr>
        <p:spPr>
          <a:xfrm>
            <a:off x="5620736" y="4304109"/>
            <a:ext cx="689372" cy="15001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CD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Flywheel</a:t>
            </a:r>
            <a:endParaRPr lang="en-US" sz="485" dirty="0"/>
          </a:p>
        </p:txBody>
      </p:sp>
      <p:sp>
        <p:nvSpPr>
          <p:cNvPr id="35" name="Shape 31"/>
          <p:cNvSpPr/>
          <p:nvPr/>
        </p:nvSpPr>
        <p:spPr>
          <a:xfrm>
            <a:off x="7189515" y="935106"/>
            <a:ext cx="1611641" cy="3690472"/>
          </a:xfrm>
          <a:prstGeom prst="rect">
            <a:avLst/>
          </a:prstGeom>
          <a:solidFill>
            <a:srgbClr val="FFFFFF">
              <a:alpha val="4000"/>
            </a:srgbClr>
          </a:solidFill>
          <a:ln w="9144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343775" y="1106556"/>
            <a:ext cx="13144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534" dirty="0"/>
          </a:p>
        </p:txBody>
      </p:sp>
      <p:sp>
        <p:nvSpPr>
          <p:cNvPr id="37" name="Text 33"/>
          <p:cNvSpPr/>
          <p:nvPr/>
        </p:nvSpPr>
        <p:spPr>
          <a:xfrm>
            <a:off x="7343775" y="1295865"/>
            <a:ext cx="1314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86" dirty="0">
                <a:solidFill>
                  <a:srgbClr val="E8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🤖</a:t>
            </a:r>
            <a:endParaRPr lang="en-US" sz="1486" dirty="0"/>
          </a:p>
        </p:txBody>
      </p:sp>
      <p:sp>
        <p:nvSpPr>
          <p:cNvPr id="38" name="Text 34"/>
          <p:cNvSpPr/>
          <p:nvPr/>
        </p:nvSpPr>
        <p:spPr>
          <a:xfrm>
            <a:off x="7343775" y="1567328"/>
            <a:ext cx="13144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F0EE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全自主 Agent</a:t>
            </a:r>
            <a:endParaRPr lang="en-US" sz="734" dirty="0"/>
          </a:p>
        </p:txBody>
      </p:sp>
      <p:sp>
        <p:nvSpPr>
          <p:cNvPr id="39" name="Text 35"/>
          <p:cNvSpPr/>
          <p:nvPr/>
        </p:nvSpPr>
        <p:spPr>
          <a:xfrm>
            <a:off x="7343775" y="1778068"/>
            <a:ext cx="1314450" cy="2454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090B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从热点识别到内容生成、视频制作、多平台分发，Agent 全链路自主执行，将原本需要 3–5 小时的工作压缩至 10 分钟内完成。</a:t>
            </a:r>
            <a:endParaRPr lang="en-US" sz="621" dirty="0"/>
          </a:p>
        </p:txBody>
      </p:sp>
      <p:sp>
        <p:nvSpPr>
          <p:cNvPr id="40" name="Shape 36"/>
          <p:cNvSpPr/>
          <p:nvPr/>
        </p:nvSpPr>
        <p:spPr>
          <a:xfrm>
            <a:off x="7343775" y="4304109"/>
            <a:ext cx="871538" cy="150019"/>
          </a:xfrm>
          <a:prstGeom prst="roundRect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41" name="Text 37"/>
          <p:cNvSpPr/>
          <p:nvPr/>
        </p:nvSpPr>
        <p:spPr>
          <a:xfrm>
            <a:off x="7343775" y="4304109"/>
            <a:ext cx="871538" cy="150019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9A8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Autonomous Agent</a:t>
            </a:r>
            <a:endParaRPr lang="en-US" sz="485" dirty="0"/>
          </a:p>
        </p:txBody>
      </p:sp>
      <p:sp>
        <p:nvSpPr>
          <p:cNvPr id="42" name="Shape 38"/>
          <p:cNvSpPr/>
          <p:nvPr/>
        </p:nvSpPr>
        <p:spPr>
          <a:xfrm>
            <a:off x="0" y="4797028"/>
            <a:ext cx="9144000" cy="346472"/>
          </a:xfrm>
          <a:prstGeom prst="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0" y="4797028"/>
            <a:ext cx="9144000" cy="7144"/>
          </a:xfrm>
          <a:prstGeom prst="rect">
            <a:avLst/>
          </a:prstGeom>
          <a:solidFill>
            <a:srgbClr val="E5D8FB"/>
          </a:solidFill>
          <a:ln/>
        </p:spPr>
      </p:sp>
      <p:sp>
        <p:nvSpPr>
          <p:cNvPr id="44" name="Text 40"/>
          <p:cNvSpPr/>
          <p:nvPr/>
        </p:nvSpPr>
        <p:spPr>
          <a:xfrm>
            <a:off x="342900" y="4904184"/>
            <a:ext cx="4643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核心壁垒：</a:t>
            </a:r>
            <a:endParaRPr lang="en-US" sz="634" dirty="0"/>
          </a:p>
        </p:txBody>
      </p:sp>
      <p:sp>
        <p:nvSpPr>
          <p:cNvPr id="45" name="Text 41"/>
          <p:cNvSpPr/>
          <p:nvPr/>
        </p:nvSpPr>
        <p:spPr>
          <a:xfrm>
            <a:off x="892969" y="4909542"/>
            <a:ext cx="73062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9090B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五大护城河相互强化——数据飞轮降低边际成本，全链路闭环提升用户粘性，AI视频原生集成拉高竞品复制门槛，双轨覆盖锁定全球市场先发优势。</a:t>
            </a:r>
            <a:endParaRPr lang="en-US" sz="621" dirty="0"/>
          </a:p>
        </p:txBody>
      </p:sp>
      <p:sp>
        <p:nvSpPr>
          <p:cNvPr id="46" name="Text 42"/>
          <p:cNvSpPr/>
          <p:nvPr/>
        </p:nvSpPr>
        <p:spPr>
          <a:xfrm>
            <a:off x="8284964" y="4914900"/>
            <a:ext cx="51613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05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 · 2025</a:t>
            </a:r>
            <a:endParaRPr lang="en-US" sz="56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57263" y="314325"/>
            <a:ext cx="108149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2" kern="0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RISKS &amp; CHALLENGES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514350" y="489347"/>
            <a:ext cx="2727127" cy="279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5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实现阶段的 </a:t>
            </a:r>
            <a:pPr algn="l" indent="0" marL="0">
              <a:lnSpc>
                <a:spcPts val="2200"/>
              </a:lnSpc>
              <a:buNone/>
            </a:pPr>
            <a:r>
              <a:rPr lang="en-US" sz="1705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六大关键难点</a:t>
            </a:r>
            <a:endParaRPr lang="en-US" sz="1705" dirty="0"/>
          </a:p>
        </p:txBody>
      </p:sp>
      <p:sp>
        <p:nvSpPr>
          <p:cNvPr id="6" name="Text 2"/>
          <p:cNvSpPr/>
          <p:nvPr/>
        </p:nvSpPr>
        <p:spPr>
          <a:xfrm>
            <a:off x="514350" y="811513"/>
            <a:ext cx="272712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从数据合规到商业落地，每一环节均存在不可忽视的系统性风险</a:t>
            </a:r>
            <a:endParaRPr lang="en-US" sz="674" dirty="0"/>
          </a:p>
        </p:txBody>
      </p:sp>
      <p:sp>
        <p:nvSpPr>
          <p:cNvPr id="7" name="Text 3"/>
          <p:cNvSpPr/>
          <p:nvPr/>
        </p:nvSpPr>
        <p:spPr>
          <a:xfrm>
            <a:off x="8026701" y="832945"/>
            <a:ext cx="60294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BILING · 2026</a:t>
            </a:r>
            <a:endParaRPr lang="en-US" sz="534" dirty="0"/>
          </a:p>
        </p:txBody>
      </p:sp>
      <p:sp>
        <p:nvSpPr>
          <p:cNvPr id="8" name="Shape 4"/>
          <p:cNvSpPr/>
          <p:nvPr/>
        </p:nvSpPr>
        <p:spPr>
          <a:xfrm>
            <a:off x="514350" y="1179416"/>
            <a:ext cx="2628900" cy="12276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514350" y="1179416"/>
            <a:ext cx="2628900" cy="14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6"/>
          <p:cNvSpPr/>
          <p:nvPr/>
        </p:nvSpPr>
        <p:spPr>
          <a:xfrm>
            <a:off x="671513" y="1366047"/>
            <a:ext cx="257175" cy="257175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71513" y="136604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📡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1000125" y="1359796"/>
            <a:ext cx="844748" cy="135731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000125" y="1359796"/>
            <a:ext cx="844748" cy="13573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spc="1" kern="0" dirty="0">
                <a:solidFill>
                  <a:srgbClr val="A78B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COMPLIANCE</a:t>
            </a:r>
            <a:endParaRPr lang="en-US" sz="485" dirty="0"/>
          </a:p>
        </p:txBody>
      </p:sp>
      <p:sp>
        <p:nvSpPr>
          <p:cNvPr id="14" name="Text 10"/>
          <p:cNvSpPr/>
          <p:nvPr/>
        </p:nvSpPr>
        <p:spPr>
          <a:xfrm>
            <a:off x="1000125" y="1516959"/>
            <a:ext cx="9001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热点数据获取合规性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757238" y="1752702"/>
            <a:ext cx="180022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抖音、小红书强反爬机制，绕过即触发刑事风险</a:t>
            </a:r>
            <a:endParaRPr lang="en-US" sz="621" dirty="0"/>
          </a:p>
        </p:txBody>
      </p:sp>
      <p:sp>
        <p:nvSpPr>
          <p:cNvPr id="16" name="Text 12"/>
          <p:cNvSpPr/>
          <p:nvPr/>
        </p:nvSpPr>
        <p:spPr>
          <a:xfrm>
            <a:off x="757238" y="1932719"/>
            <a:ext cx="188416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公开热榜数据时效性差，实时性依赖官方 API 授权</a:t>
            </a:r>
            <a:endParaRPr lang="en-US" sz="621" dirty="0"/>
          </a:p>
        </p:txBody>
      </p:sp>
      <p:sp>
        <p:nvSpPr>
          <p:cNvPr id="17" name="Text 13"/>
          <p:cNvSpPr/>
          <p:nvPr/>
        </p:nvSpPr>
        <p:spPr>
          <a:xfrm>
            <a:off x="757238" y="2112736"/>
            <a:ext cx="1993106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《反不正当竞争法》2025年修订后数据权益条款趋严</a:t>
            </a:r>
            <a:endParaRPr lang="en-US" sz="621" dirty="0"/>
          </a:p>
        </p:txBody>
      </p:sp>
      <p:sp>
        <p:nvSpPr>
          <p:cNvPr id="18" name="Shape 14"/>
          <p:cNvSpPr/>
          <p:nvPr/>
        </p:nvSpPr>
        <p:spPr>
          <a:xfrm>
            <a:off x="3257550" y="1179416"/>
            <a:ext cx="2628900" cy="12276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3257550" y="1179416"/>
            <a:ext cx="2628900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6"/>
          <p:cNvSpPr/>
          <p:nvPr/>
        </p:nvSpPr>
        <p:spPr>
          <a:xfrm>
            <a:off x="3414713" y="1366047"/>
            <a:ext cx="257175" cy="257175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3414713" y="136604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🔌</a:t>
            </a:r>
            <a:endParaRPr lang="en-US" sz="942" dirty="0"/>
          </a:p>
        </p:txBody>
      </p:sp>
      <p:sp>
        <p:nvSpPr>
          <p:cNvPr id="22" name="Shape 18"/>
          <p:cNvSpPr/>
          <p:nvPr/>
        </p:nvSpPr>
        <p:spPr>
          <a:xfrm>
            <a:off x="3743325" y="1359796"/>
            <a:ext cx="807244" cy="135731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3743325" y="1359796"/>
            <a:ext cx="807244" cy="13573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spc="1" kern="0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 INTEGRATION</a:t>
            </a:r>
            <a:endParaRPr lang="en-US" sz="485" dirty="0"/>
          </a:p>
        </p:txBody>
      </p:sp>
      <p:sp>
        <p:nvSpPr>
          <p:cNvPr id="24" name="Text 20"/>
          <p:cNvSpPr/>
          <p:nvPr/>
        </p:nvSpPr>
        <p:spPr>
          <a:xfrm>
            <a:off x="3743325" y="1516959"/>
            <a:ext cx="9090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国内外 API 接入壁垒</a:t>
            </a:r>
            <a:endParaRPr lang="en-US" sz="683" dirty="0"/>
          </a:p>
        </p:txBody>
      </p:sp>
      <p:sp>
        <p:nvSpPr>
          <p:cNvPr id="25" name="Text 21"/>
          <p:cNvSpPr/>
          <p:nvPr/>
        </p:nvSpPr>
        <p:spPr>
          <a:xfrm>
            <a:off x="3500438" y="1752702"/>
            <a:ext cx="2053828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火山引擎与 BytePlus 模型 ID 体系不通用，切换成本高</a:t>
            </a:r>
            <a:endParaRPr lang="en-US" sz="621" dirty="0"/>
          </a:p>
        </p:txBody>
      </p:sp>
      <p:sp>
        <p:nvSpPr>
          <p:cNvPr id="26" name="Text 22"/>
          <p:cNvSpPr/>
          <p:nvPr/>
        </p:nvSpPr>
        <p:spPr>
          <a:xfrm>
            <a:off x="3500438" y="1932719"/>
            <a:ext cx="205740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视频生成模型需逐一在控制台手动开通，审批流程繁琐</a:t>
            </a:r>
            <a:endParaRPr lang="en-US" sz="621" dirty="0"/>
          </a:p>
        </p:txBody>
      </p:sp>
      <p:sp>
        <p:nvSpPr>
          <p:cNvPr id="27" name="Text 23"/>
          <p:cNvSpPr/>
          <p:nvPr/>
        </p:nvSpPr>
        <p:spPr>
          <a:xfrm>
            <a:off x="3500438" y="2112736"/>
            <a:ext cx="171271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内置 API 额度有限，高并发场景下成本不可控</a:t>
            </a:r>
            <a:endParaRPr lang="en-US" sz="621" dirty="0"/>
          </a:p>
        </p:txBody>
      </p:sp>
      <p:sp>
        <p:nvSpPr>
          <p:cNvPr id="28" name="Shape 24"/>
          <p:cNvSpPr/>
          <p:nvPr/>
        </p:nvSpPr>
        <p:spPr>
          <a:xfrm>
            <a:off x="6000750" y="1179416"/>
            <a:ext cx="2628900" cy="12276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6000750" y="1179416"/>
            <a:ext cx="2628900" cy="1428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0" name="Shape 26"/>
          <p:cNvSpPr/>
          <p:nvPr/>
        </p:nvSpPr>
        <p:spPr>
          <a:xfrm>
            <a:off x="6157913" y="1366047"/>
            <a:ext cx="257175" cy="257175"/>
          </a:xfrm>
          <a:prstGeom prst="rect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6157913" y="136604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🎭</a:t>
            </a:r>
            <a:endParaRPr lang="en-US" sz="942" dirty="0"/>
          </a:p>
        </p:txBody>
      </p:sp>
      <p:sp>
        <p:nvSpPr>
          <p:cNvPr id="32" name="Shape 28"/>
          <p:cNvSpPr/>
          <p:nvPr/>
        </p:nvSpPr>
        <p:spPr>
          <a:xfrm>
            <a:off x="6486525" y="1359796"/>
            <a:ext cx="1092994" cy="135731"/>
          </a:xfrm>
          <a:prstGeom prst="rect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6486525" y="1359796"/>
            <a:ext cx="1092994" cy="13573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spc="1" kern="0" dirty="0">
                <a:solidFill>
                  <a:srgbClr val="F472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 AUTHENTICITY</a:t>
            </a:r>
            <a:endParaRPr lang="en-US" sz="485" dirty="0"/>
          </a:p>
        </p:txBody>
      </p:sp>
      <p:sp>
        <p:nvSpPr>
          <p:cNvPr id="34" name="Text 30"/>
          <p:cNvSpPr/>
          <p:nvPr/>
        </p:nvSpPr>
        <p:spPr>
          <a:xfrm>
            <a:off x="6486525" y="1516959"/>
            <a:ext cx="10929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视频无法替代真人 IP</a:t>
            </a:r>
            <a:endParaRPr lang="en-US" sz="683" dirty="0"/>
          </a:p>
        </p:txBody>
      </p:sp>
      <p:sp>
        <p:nvSpPr>
          <p:cNvPr id="35" name="Text 31"/>
          <p:cNvSpPr/>
          <p:nvPr/>
        </p:nvSpPr>
        <p:spPr>
          <a:xfrm>
            <a:off x="6243638" y="1752702"/>
            <a:ext cx="192881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固定 IP 出镜建立信任感，AI 生成内容缺乏人格温度</a:t>
            </a:r>
            <a:endParaRPr lang="en-US" sz="621" dirty="0"/>
          </a:p>
        </p:txBody>
      </p:sp>
      <p:sp>
        <p:nvSpPr>
          <p:cNvPr id="36" name="Text 32"/>
          <p:cNvSpPr/>
          <p:nvPr/>
        </p:nvSpPr>
        <p:spPr>
          <a:xfrm>
            <a:off x="6243638" y="1932719"/>
            <a:ext cx="180022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平台算法对真人出镜内容给予更高自然流量权重</a:t>
            </a:r>
            <a:endParaRPr lang="en-US" sz="621" dirty="0"/>
          </a:p>
        </p:txBody>
      </p:sp>
      <p:sp>
        <p:nvSpPr>
          <p:cNvPr id="37" name="Text 33"/>
          <p:cNvSpPr/>
          <p:nvPr/>
        </p:nvSpPr>
        <p:spPr>
          <a:xfrm>
            <a:off x="6243638" y="2112736"/>
            <a:ext cx="1744861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品牌调性与 AI 生成风格的一致性难以长期维持</a:t>
            </a:r>
            <a:endParaRPr lang="en-US" sz="621" dirty="0"/>
          </a:p>
        </p:txBody>
      </p:sp>
      <p:sp>
        <p:nvSpPr>
          <p:cNvPr id="38" name="Shape 34"/>
          <p:cNvSpPr/>
          <p:nvPr/>
        </p:nvSpPr>
        <p:spPr>
          <a:xfrm>
            <a:off x="514350" y="2507066"/>
            <a:ext cx="2628900" cy="12276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514350" y="2507066"/>
            <a:ext cx="2628900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Shape 36"/>
          <p:cNvSpPr/>
          <p:nvPr/>
        </p:nvSpPr>
        <p:spPr>
          <a:xfrm>
            <a:off x="671513" y="2693696"/>
            <a:ext cx="257175" cy="257175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1" name="Text 37"/>
          <p:cNvSpPr/>
          <p:nvPr/>
        </p:nvSpPr>
        <p:spPr>
          <a:xfrm>
            <a:off x="671513" y="2693696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🛡️</a:t>
            </a:r>
            <a:endParaRPr lang="en-US" sz="942" dirty="0"/>
          </a:p>
        </p:txBody>
      </p:sp>
      <p:sp>
        <p:nvSpPr>
          <p:cNvPr id="42" name="Shape 38"/>
          <p:cNvSpPr/>
          <p:nvPr/>
        </p:nvSpPr>
        <p:spPr>
          <a:xfrm>
            <a:off x="1000125" y="2687445"/>
            <a:ext cx="742252" cy="135731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3" name="Text 39"/>
          <p:cNvSpPr/>
          <p:nvPr/>
        </p:nvSpPr>
        <p:spPr>
          <a:xfrm>
            <a:off x="1000125" y="2687445"/>
            <a:ext cx="742252" cy="13573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spc="1" kern="0" dirty="0">
                <a:solidFill>
                  <a:srgbClr val="FCD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PLATFORM RISK</a:t>
            </a:r>
            <a:endParaRPr lang="en-US" sz="485" dirty="0"/>
          </a:p>
        </p:txBody>
      </p:sp>
      <p:sp>
        <p:nvSpPr>
          <p:cNvPr id="44" name="Text 40"/>
          <p:cNvSpPr/>
          <p:nvPr/>
        </p:nvSpPr>
        <p:spPr>
          <a:xfrm>
            <a:off x="1000125" y="2844608"/>
            <a:ext cx="9001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平台封禁与账号安全</a:t>
            </a:r>
            <a:endParaRPr lang="en-US" sz="683" dirty="0"/>
          </a:p>
        </p:txBody>
      </p:sp>
      <p:sp>
        <p:nvSpPr>
          <p:cNvPr id="45" name="Text 41"/>
          <p:cNvSpPr/>
          <p:nvPr/>
        </p:nvSpPr>
        <p:spPr>
          <a:xfrm>
            <a:off x="757238" y="3080352"/>
            <a:ext cx="18859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批量定时发布行为触发平台风控，账号降权或封禁</a:t>
            </a:r>
            <a:endParaRPr lang="en-US" sz="621" dirty="0"/>
          </a:p>
        </p:txBody>
      </p:sp>
      <p:sp>
        <p:nvSpPr>
          <p:cNvPr id="46" name="Text 42"/>
          <p:cNvSpPr/>
          <p:nvPr/>
        </p:nvSpPr>
        <p:spPr>
          <a:xfrm>
            <a:off x="757238" y="3260368"/>
            <a:ext cx="19716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各平台服务协议明确禁止自动化发帖，法律追诉风险</a:t>
            </a:r>
            <a:endParaRPr lang="en-US" sz="621" dirty="0"/>
          </a:p>
        </p:txBody>
      </p:sp>
      <p:sp>
        <p:nvSpPr>
          <p:cNvPr id="47" name="Text 43"/>
          <p:cNvSpPr/>
          <p:nvPr/>
        </p:nvSpPr>
        <p:spPr>
          <a:xfrm>
            <a:off x="757238" y="3440385"/>
            <a:ext cx="195024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无官方发布 API，只能辅助手动操作，效率提升有限</a:t>
            </a:r>
            <a:endParaRPr lang="en-US" sz="621" dirty="0"/>
          </a:p>
        </p:txBody>
      </p:sp>
      <p:sp>
        <p:nvSpPr>
          <p:cNvPr id="48" name="Shape 44"/>
          <p:cNvSpPr/>
          <p:nvPr/>
        </p:nvSpPr>
        <p:spPr>
          <a:xfrm>
            <a:off x="3257550" y="2507066"/>
            <a:ext cx="2628900" cy="12276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9" name="Shape 45"/>
          <p:cNvSpPr/>
          <p:nvPr/>
        </p:nvSpPr>
        <p:spPr>
          <a:xfrm>
            <a:off x="3257550" y="2507066"/>
            <a:ext cx="2628900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Shape 46"/>
          <p:cNvSpPr/>
          <p:nvPr/>
        </p:nvSpPr>
        <p:spPr>
          <a:xfrm>
            <a:off x="3414713" y="2693696"/>
            <a:ext cx="257175" cy="257175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51" name="Text 47"/>
          <p:cNvSpPr/>
          <p:nvPr/>
        </p:nvSpPr>
        <p:spPr>
          <a:xfrm>
            <a:off x="3414713" y="2693696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♻️</a:t>
            </a:r>
            <a:endParaRPr lang="en-US" sz="942" dirty="0"/>
          </a:p>
        </p:txBody>
      </p:sp>
      <p:sp>
        <p:nvSpPr>
          <p:cNvPr id="52" name="Shape 48"/>
          <p:cNvSpPr/>
          <p:nvPr/>
        </p:nvSpPr>
        <p:spPr>
          <a:xfrm>
            <a:off x="3743325" y="2687445"/>
            <a:ext cx="850106" cy="135731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53" name="Text 49"/>
          <p:cNvSpPr/>
          <p:nvPr/>
        </p:nvSpPr>
        <p:spPr>
          <a:xfrm>
            <a:off x="3743325" y="2687445"/>
            <a:ext cx="850106" cy="13573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spc="1" kern="0" dirty="0">
                <a:solidFill>
                  <a:srgbClr val="34D3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 QUALITY</a:t>
            </a:r>
            <a:endParaRPr lang="en-US" sz="485" dirty="0"/>
          </a:p>
        </p:txBody>
      </p:sp>
      <p:sp>
        <p:nvSpPr>
          <p:cNvPr id="54" name="Text 50"/>
          <p:cNvSpPr/>
          <p:nvPr/>
        </p:nvSpPr>
        <p:spPr>
          <a:xfrm>
            <a:off x="3743325" y="2844608"/>
            <a:ext cx="8501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内容同质化风险</a:t>
            </a:r>
            <a:endParaRPr lang="en-US" sz="683" dirty="0"/>
          </a:p>
        </p:txBody>
      </p:sp>
      <p:sp>
        <p:nvSpPr>
          <p:cNvPr id="55" name="Text 51"/>
          <p:cNvSpPr/>
          <p:nvPr/>
        </p:nvSpPr>
        <p:spPr>
          <a:xfrm>
            <a:off x="3500438" y="3080352"/>
            <a:ext cx="2002036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 LLM 生成大量内容，用户辨识度低、差异化不足</a:t>
            </a:r>
            <a:endParaRPr lang="en-US" sz="621" dirty="0"/>
          </a:p>
        </p:txBody>
      </p:sp>
      <p:sp>
        <p:nvSpPr>
          <p:cNvPr id="56" name="Text 52"/>
          <p:cNvSpPr/>
          <p:nvPr/>
        </p:nvSpPr>
        <p:spPr>
          <a:xfrm>
            <a:off x="3500438" y="3260368"/>
            <a:ext cx="1659136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 AI 内容检测趋严，标注后流量大幅受限</a:t>
            </a:r>
            <a:endParaRPr lang="en-US" sz="621" dirty="0"/>
          </a:p>
        </p:txBody>
      </p:sp>
      <p:sp>
        <p:nvSpPr>
          <p:cNvPr id="57" name="Text 53"/>
          <p:cNvSpPr/>
          <p:nvPr/>
        </p:nvSpPr>
        <p:spPr>
          <a:xfrm>
            <a:off x="3500438" y="3440385"/>
            <a:ext cx="16287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爆款内容被大量复制后，热点红利窗口极短</a:t>
            </a:r>
            <a:endParaRPr lang="en-US" sz="621" dirty="0"/>
          </a:p>
        </p:txBody>
      </p:sp>
      <p:sp>
        <p:nvSpPr>
          <p:cNvPr id="58" name="Shape 54"/>
          <p:cNvSpPr/>
          <p:nvPr/>
        </p:nvSpPr>
        <p:spPr>
          <a:xfrm>
            <a:off x="6000750" y="2507066"/>
            <a:ext cx="2628900" cy="12276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9" name="Shape 55"/>
          <p:cNvSpPr/>
          <p:nvPr/>
        </p:nvSpPr>
        <p:spPr>
          <a:xfrm>
            <a:off x="6000750" y="2507066"/>
            <a:ext cx="2628900" cy="14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0" name="Shape 56"/>
          <p:cNvSpPr/>
          <p:nvPr/>
        </p:nvSpPr>
        <p:spPr>
          <a:xfrm>
            <a:off x="6157913" y="2693696"/>
            <a:ext cx="257175" cy="257175"/>
          </a:xfrm>
          <a:prstGeom prst="rect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61" name="Text 57"/>
          <p:cNvSpPr/>
          <p:nvPr/>
        </p:nvSpPr>
        <p:spPr>
          <a:xfrm>
            <a:off x="6157913" y="2693696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📈</a:t>
            </a:r>
            <a:endParaRPr lang="en-US" sz="942" dirty="0"/>
          </a:p>
        </p:txBody>
      </p:sp>
      <p:sp>
        <p:nvSpPr>
          <p:cNvPr id="62" name="Shape 58"/>
          <p:cNvSpPr/>
          <p:nvPr/>
        </p:nvSpPr>
        <p:spPr>
          <a:xfrm>
            <a:off x="6486525" y="2687445"/>
            <a:ext cx="720458" cy="135731"/>
          </a:xfrm>
          <a:prstGeom prst="rect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63" name="Text 59"/>
          <p:cNvSpPr/>
          <p:nvPr/>
        </p:nvSpPr>
        <p:spPr>
          <a:xfrm>
            <a:off x="6486525" y="2687445"/>
            <a:ext cx="720458" cy="13573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spc="1" kern="0" dirty="0">
                <a:solidFill>
                  <a:srgbClr val="A5B4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GO-TO-MARKET</a:t>
            </a:r>
            <a:endParaRPr lang="en-US" sz="485" dirty="0"/>
          </a:p>
        </p:txBody>
      </p:sp>
      <p:sp>
        <p:nvSpPr>
          <p:cNvPr id="64" name="Text 60"/>
          <p:cNvSpPr/>
          <p:nvPr/>
        </p:nvSpPr>
        <p:spPr>
          <a:xfrm>
            <a:off x="6486525" y="2844608"/>
            <a:ext cx="9001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网站推广与变现路径</a:t>
            </a:r>
            <a:endParaRPr lang="en-US" sz="683" dirty="0"/>
          </a:p>
        </p:txBody>
      </p:sp>
      <p:sp>
        <p:nvSpPr>
          <p:cNvPr id="65" name="Text 61"/>
          <p:cNvSpPr/>
          <p:nvPr/>
        </p:nvSpPr>
        <p:spPr>
          <a:xfrm>
            <a:off x="6243638" y="3080352"/>
            <a:ext cx="200918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冷启动阶段获客成本高，SEO/信息流投放 ROI 难预估</a:t>
            </a:r>
            <a:endParaRPr lang="en-US" sz="621" dirty="0"/>
          </a:p>
        </p:txBody>
      </p:sp>
      <p:sp>
        <p:nvSpPr>
          <p:cNvPr id="66" name="Text 62"/>
          <p:cNvSpPr/>
          <p:nvPr/>
        </p:nvSpPr>
        <p:spPr>
          <a:xfrm>
            <a:off x="6243638" y="3260368"/>
            <a:ext cx="1982391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工具付费意愿低，订阅转化率受竞品免费策略压制</a:t>
            </a:r>
            <a:endParaRPr lang="en-US" sz="621" dirty="0"/>
          </a:p>
        </p:txBody>
      </p:sp>
      <p:sp>
        <p:nvSpPr>
          <p:cNvPr id="67" name="Text 63"/>
          <p:cNvSpPr/>
          <p:nvPr/>
        </p:nvSpPr>
        <p:spPr>
          <a:xfrm>
            <a:off x="6243638" y="3440385"/>
            <a:ext cx="1884164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视频生成 API 成本高，免费试用策略难以持续支撑</a:t>
            </a:r>
            <a:endParaRPr lang="en-US" sz="621" dirty="0"/>
          </a:p>
        </p:txBody>
      </p:sp>
      <p:sp>
        <p:nvSpPr>
          <p:cNvPr id="68" name="Text 64"/>
          <p:cNvSpPr/>
          <p:nvPr/>
        </p:nvSpPr>
        <p:spPr>
          <a:xfrm>
            <a:off x="614363" y="3956159"/>
            <a:ext cx="267176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核心策略：合规数据接入 + 辅助人工运营 + 差异化内容策略 + 阶段性付费转化</a:t>
            </a:r>
            <a:endParaRPr lang="en-US" sz="568" dirty="0"/>
          </a:p>
        </p:txBody>
      </p:sp>
      <p:sp>
        <p:nvSpPr>
          <p:cNvPr id="69" name="Text 65"/>
          <p:cNvSpPr/>
          <p:nvPr/>
        </p:nvSpPr>
        <p:spPr>
          <a:xfrm>
            <a:off x="8392120" y="3956159"/>
            <a:ext cx="23753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/ 15</a:t>
            </a:r>
            <a:endParaRPr lang="en-US" sz="56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4350" y="371475"/>
            <a:ext cx="811530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spc="2" kern="0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ACTION PLAN · 执行路径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514350" y="476845"/>
            <a:ext cx="8115300" cy="362880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5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下一步</a:t>
            </a:r>
            <a:pPr algn="l" indent="0" marL="0">
              <a:lnSpc>
                <a:spcPts val="2300"/>
              </a:lnSpc>
              <a:buNone/>
            </a:pPr>
            <a:r>
              <a:rPr lang="en-US" sz="1705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关键决策</a:t>
            </a:r>
            <a:endParaRPr lang="en-US" sz="1705" dirty="0"/>
          </a:p>
        </p:txBody>
      </p:sp>
      <p:sp>
        <p:nvSpPr>
          <p:cNvPr id="6" name="Text 2"/>
          <p:cNvSpPr/>
          <p:nvPr/>
        </p:nvSpPr>
        <p:spPr>
          <a:xfrm>
            <a:off x="514350" y="839725"/>
            <a:ext cx="8115300" cy="167878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8888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五个优先级最高的执行节点，决定笔灵能否在 90 天内跑通核心闭环</a:t>
            </a:r>
            <a:endParaRPr lang="en-US" sz="674" dirty="0"/>
          </a:p>
        </p:txBody>
      </p:sp>
      <p:sp>
        <p:nvSpPr>
          <p:cNvPr id="7" name="Shape 3"/>
          <p:cNvSpPr/>
          <p:nvPr/>
        </p:nvSpPr>
        <p:spPr>
          <a:xfrm>
            <a:off x="514350" y="1350504"/>
            <a:ext cx="1531609" cy="17691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14350" y="1350504"/>
            <a:ext cx="1531609" cy="14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5"/>
          <p:cNvSpPr/>
          <p:nvPr/>
        </p:nvSpPr>
        <p:spPr>
          <a:xfrm>
            <a:off x="642938" y="1493379"/>
            <a:ext cx="12744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7C3AED">
                    <a:alpha val="2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808" dirty="0"/>
          </a:p>
        </p:txBody>
      </p:sp>
      <p:sp>
        <p:nvSpPr>
          <p:cNvPr id="10" name="Text 6"/>
          <p:cNvSpPr/>
          <p:nvPr/>
        </p:nvSpPr>
        <p:spPr>
          <a:xfrm>
            <a:off x="642938" y="1750554"/>
            <a:ext cx="1274434" cy="187161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0E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平台优先级</a:t>
            </a:r>
            <a:endParaRPr lang="en-US" sz="683" dirty="0"/>
          </a:p>
        </p:txBody>
      </p:sp>
      <p:sp>
        <p:nvSpPr>
          <p:cNvPr id="11" name="Shape 7"/>
          <p:cNvSpPr/>
          <p:nvPr/>
        </p:nvSpPr>
        <p:spPr>
          <a:xfrm>
            <a:off x="642938" y="1994864"/>
            <a:ext cx="498639" cy="116086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42938" y="1994864"/>
            <a:ext cx="498639" cy="116086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聚焦 → 扩展</a:t>
            </a:r>
            <a:endParaRPr lang="en-US" sz="435" dirty="0"/>
          </a:p>
        </p:txBody>
      </p:sp>
      <p:sp>
        <p:nvSpPr>
          <p:cNvPr id="13" name="Text 9"/>
          <p:cNvSpPr/>
          <p:nvPr/>
        </p:nvSpPr>
        <p:spPr>
          <a:xfrm>
            <a:off x="928688" y="2225250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14" name="Text 10"/>
          <p:cNvSpPr/>
          <p:nvPr/>
        </p:nvSpPr>
        <p:spPr>
          <a:xfrm>
            <a:off x="1014413" y="2239538"/>
            <a:ext cx="844748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聚焦小红书 + 抖音双平台</a:t>
            </a:r>
            <a:endParaRPr lang="en-US" sz="621" dirty="0"/>
          </a:p>
        </p:txBody>
      </p:sp>
      <p:sp>
        <p:nvSpPr>
          <p:cNvPr id="15" name="Text 11"/>
          <p:cNvSpPr/>
          <p:nvPr/>
        </p:nvSpPr>
        <p:spPr>
          <a:xfrm>
            <a:off x="928688" y="2528134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16" name="Text 12"/>
          <p:cNvSpPr/>
          <p:nvPr/>
        </p:nvSpPr>
        <p:spPr>
          <a:xfrm>
            <a:off x="1014413" y="2542422"/>
            <a:ext cx="746522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验证 PMF 后扩展微博、B站、视频号</a:t>
            </a:r>
            <a:endParaRPr lang="en-US" sz="621" dirty="0"/>
          </a:p>
        </p:txBody>
      </p:sp>
      <p:sp>
        <p:nvSpPr>
          <p:cNvPr id="17" name="Text 13"/>
          <p:cNvSpPr/>
          <p:nvPr/>
        </p:nvSpPr>
        <p:spPr>
          <a:xfrm>
            <a:off x="928688" y="2831018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18" name="Text 14"/>
          <p:cNvSpPr/>
          <p:nvPr/>
        </p:nvSpPr>
        <p:spPr>
          <a:xfrm>
            <a:off x="1014413" y="2845305"/>
            <a:ext cx="857250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各平台内容格式差异化适配</a:t>
            </a:r>
            <a:endParaRPr lang="en-US" sz="621" dirty="0"/>
          </a:p>
        </p:txBody>
      </p:sp>
      <p:sp>
        <p:nvSpPr>
          <p:cNvPr id="19" name="Shape 15"/>
          <p:cNvSpPr/>
          <p:nvPr/>
        </p:nvSpPr>
        <p:spPr>
          <a:xfrm>
            <a:off x="2160259" y="1350504"/>
            <a:ext cx="1531609" cy="17691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2160259" y="1350504"/>
            <a:ext cx="1531609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7"/>
          <p:cNvSpPr/>
          <p:nvPr/>
        </p:nvSpPr>
        <p:spPr>
          <a:xfrm>
            <a:off x="2288846" y="1493379"/>
            <a:ext cx="12744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06B6D4">
                    <a:alpha val="2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808" dirty="0"/>
          </a:p>
        </p:txBody>
      </p:sp>
      <p:sp>
        <p:nvSpPr>
          <p:cNvPr id="22" name="Text 18"/>
          <p:cNvSpPr/>
          <p:nvPr/>
        </p:nvSpPr>
        <p:spPr>
          <a:xfrm>
            <a:off x="2288846" y="1750554"/>
            <a:ext cx="1274434" cy="187161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0E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定价策略</a:t>
            </a:r>
            <a:endParaRPr lang="en-US" sz="683" dirty="0"/>
          </a:p>
        </p:txBody>
      </p:sp>
      <p:sp>
        <p:nvSpPr>
          <p:cNvPr id="23" name="Shape 19"/>
          <p:cNvSpPr/>
          <p:nvPr/>
        </p:nvSpPr>
        <p:spPr>
          <a:xfrm>
            <a:off x="2288846" y="1994864"/>
            <a:ext cx="477208" cy="116086"/>
          </a:xfrm>
          <a:prstGeom prst="rect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2288846" y="1994864"/>
            <a:ext cx="477208" cy="116086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免费 + 订阅</a:t>
            </a:r>
            <a:endParaRPr lang="en-US" sz="435" dirty="0"/>
          </a:p>
        </p:txBody>
      </p:sp>
      <p:sp>
        <p:nvSpPr>
          <p:cNvPr id="25" name="Text 21"/>
          <p:cNvSpPr/>
          <p:nvPr/>
        </p:nvSpPr>
        <p:spPr>
          <a:xfrm>
            <a:off x="2574596" y="2225250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26" name="Text 22"/>
          <p:cNvSpPr/>
          <p:nvPr/>
        </p:nvSpPr>
        <p:spPr>
          <a:xfrm>
            <a:off x="2660321" y="2239538"/>
            <a:ext cx="846534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免费版：每月 10 次 AI 生成额度</a:t>
            </a:r>
            <a:endParaRPr lang="en-US" sz="621" dirty="0"/>
          </a:p>
        </p:txBody>
      </p:sp>
      <p:sp>
        <p:nvSpPr>
          <p:cNvPr id="27" name="Text 23"/>
          <p:cNvSpPr/>
          <p:nvPr/>
        </p:nvSpPr>
        <p:spPr>
          <a:xfrm>
            <a:off x="2574596" y="2528134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28" name="Text 24"/>
          <p:cNvSpPr/>
          <p:nvPr/>
        </p:nvSpPr>
        <p:spPr>
          <a:xfrm>
            <a:off x="2660321" y="2542422"/>
            <a:ext cx="764381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月付 ¥99 / 年付 ¥799</a:t>
            </a:r>
            <a:endParaRPr lang="en-US" sz="621" dirty="0"/>
          </a:p>
        </p:txBody>
      </p:sp>
      <p:sp>
        <p:nvSpPr>
          <p:cNvPr id="29" name="Text 25"/>
          <p:cNvSpPr/>
          <p:nvPr/>
        </p:nvSpPr>
        <p:spPr>
          <a:xfrm>
            <a:off x="2574596" y="2831018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30" name="Text 26"/>
          <p:cNvSpPr/>
          <p:nvPr/>
        </p:nvSpPr>
        <p:spPr>
          <a:xfrm>
            <a:off x="2660321" y="2845305"/>
            <a:ext cx="857250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团队版按席位定价，含 API 接入</a:t>
            </a:r>
            <a:endParaRPr lang="en-US" sz="621" dirty="0"/>
          </a:p>
        </p:txBody>
      </p:sp>
      <p:sp>
        <p:nvSpPr>
          <p:cNvPr id="31" name="Shape 27"/>
          <p:cNvSpPr/>
          <p:nvPr/>
        </p:nvSpPr>
        <p:spPr>
          <a:xfrm>
            <a:off x="3806168" y="1350504"/>
            <a:ext cx="1531637" cy="17691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3806168" y="1350504"/>
            <a:ext cx="1531637" cy="1428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3" name="Text 29"/>
          <p:cNvSpPr/>
          <p:nvPr/>
        </p:nvSpPr>
        <p:spPr>
          <a:xfrm>
            <a:off x="3934755" y="1493379"/>
            <a:ext cx="127446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A855F7">
                    <a:alpha val="2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808" dirty="0"/>
          </a:p>
        </p:txBody>
      </p:sp>
      <p:sp>
        <p:nvSpPr>
          <p:cNvPr id="34" name="Text 30"/>
          <p:cNvSpPr/>
          <p:nvPr/>
        </p:nvSpPr>
        <p:spPr>
          <a:xfrm>
            <a:off x="3934755" y="1750554"/>
            <a:ext cx="1274462" cy="187161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0E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视频模型选型</a:t>
            </a:r>
            <a:endParaRPr lang="en-US" sz="683" dirty="0"/>
          </a:p>
        </p:txBody>
      </p:sp>
      <p:sp>
        <p:nvSpPr>
          <p:cNvPr id="35" name="Shape 31"/>
          <p:cNvSpPr/>
          <p:nvPr/>
        </p:nvSpPr>
        <p:spPr>
          <a:xfrm>
            <a:off x="3934755" y="1994864"/>
            <a:ext cx="595443" cy="116086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</p:sp>
      <p:sp>
        <p:nvSpPr>
          <p:cNvPr id="36" name="Text 32"/>
          <p:cNvSpPr/>
          <p:nvPr/>
        </p:nvSpPr>
        <p:spPr>
          <a:xfrm>
            <a:off x="3934755" y="1994864"/>
            <a:ext cx="595443" cy="116086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内置 · 火山引擎</a:t>
            </a:r>
            <a:endParaRPr lang="en-US" sz="435" dirty="0"/>
          </a:p>
        </p:txBody>
      </p:sp>
      <p:sp>
        <p:nvSpPr>
          <p:cNvPr id="37" name="Text 33"/>
          <p:cNvSpPr/>
          <p:nvPr/>
        </p:nvSpPr>
        <p:spPr>
          <a:xfrm>
            <a:off x="4220505" y="2225250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38" name="Text 34"/>
          <p:cNvSpPr/>
          <p:nvPr/>
        </p:nvSpPr>
        <p:spPr>
          <a:xfrm>
            <a:off x="4306230" y="2239538"/>
            <a:ext cx="771525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默认使用 Seedance Pro（720p）</a:t>
            </a:r>
            <a:endParaRPr lang="en-US" sz="621" dirty="0"/>
          </a:p>
        </p:txBody>
      </p:sp>
      <p:sp>
        <p:nvSpPr>
          <p:cNvPr id="39" name="Text 35"/>
          <p:cNvSpPr/>
          <p:nvPr/>
        </p:nvSpPr>
        <p:spPr>
          <a:xfrm>
            <a:off x="4220505" y="2528134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40" name="Text 36"/>
          <p:cNvSpPr/>
          <p:nvPr/>
        </p:nvSpPr>
        <p:spPr>
          <a:xfrm>
            <a:off x="4306230" y="2542422"/>
            <a:ext cx="835819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按需开通 Pro 1.5 高清版本</a:t>
            </a:r>
            <a:endParaRPr lang="en-US" sz="621" dirty="0"/>
          </a:p>
        </p:txBody>
      </p:sp>
      <p:sp>
        <p:nvSpPr>
          <p:cNvPr id="41" name="Text 37"/>
          <p:cNvSpPr/>
          <p:nvPr/>
        </p:nvSpPr>
        <p:spPr>
          <a:xfrm>
            <a:off x="4220505" y="2831018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42" name="Text 38"/>
          <p:cNvSpPr/>
          <p:nvPr/>
        </p:nvSpPr>
        <p:spPr>
          <a:xfrm>
            <a:off x="4306230" y="2845305"/>
            <a:ext cx="857250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图生视频 i2v 模式已上线</a:t>
            </a:r>
            <a:endParaRPr lang="en-US" sz="621" dirty="0"/>
          </a:p>
        </p:txBody>
      </p:sp>
      <p:sp>
        <p:nvSpPr>
          <p:cNvPr id="43" name="Shape 39"/>
          <p:cNvSpPr/>
          <p:nvPr/>
        </p:nvSpPr>
        <p:spPr>
          <a:xfrm>
            <a:off x="5452104" y="1350504"/>
            <a:ext cx="1531609" cy="17691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5452104" y="1350504"/>
            <a:ext cx="1531609" cy="142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5" name="Text 41"/>
          <p:cNvSpPr/>
          <p:nvPr/>
        </p:nvSpPr>
        <p:spPr>
          <a:xfrm>
            <a:off x="5580692" y="1493379"/>
            <a:ext cx="12744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22D3EE">
                    <a:alpha val="2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808" dirty="0"/>
          </a:p>
        </p:txBody>
      </p:sp>
      <p:sp>
        <p:nvSpPr>
          <p:cNvPr id="46" name="Text 42"/>
          <p:cNvSpPr/>
          <p:nvPr/>
        </p:nvSpPr>
        <p:spPr>
          <a:xfrm>
            <a:off x="5580692" y="1750554"/>
            <a:ext cx="1274434" cy="187161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0E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内容分发模式</a:t>
            </a:r>
            <a:endParaRPr lang="en-US" sz="683" dirty="0"/>
          </a:p>
        </p:txBody>
      </p:sp>
      <p:sp>
        <p:nvSpPr>
          <p:cNvPr id="47" name="Shape 43"/>
          <p:cNvSpPr/>
          <p:nvPr/>
        </p:nvSpPr>
        <p:spPr>
          <a:xfrm>
            <a:off x="5580692" y="1994864"/>
            <a:ext cx="569379" cy="116086"/>
          </a:xfrm>
          <a:prstGeom prst="rect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8" name="Text 44"/>
          <p:cNvSpPr/>
          <p:nvPr/>
        </p:nvSpPr>
        <p:spPr>
          <a:xfrm>
            <a:off x="5580692" y="1994864"/>
            <a:ext cx="569379" cy="116086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辅助 → 自动化</a:t>
            </a:r>
            <a:endParaRPr lang="en-US" sz="435" dirty="0"/>
          </a:p>
        </p:txBody>
      </p:sp>
      <p:sp>
        <p:nvSpPr>
          <p:cNvPr id="49" name="Text 45"/>
          <p:cNvSpPr/>
          <p:nvPr/>
        </p:nvSpPr>
        <p:spPr>
          <a:xfrm>
            <a:off x="5866442" y="2225250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50" name="Text 46"/>
          <p:cNvSpPr/>
          <p:nvPr/>
        </p:nvSpPr>
        <p:spPr>
          <a:xfrm>
            <a:off x="5952167" y="2239538"/>
            <a:ext cx="853678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当前：一键复制文案 + 跳转平台</a:t>
            </a:r>
            <a:endParaRPr lang="en-US" sz="621" dirty="0"/>
          </a:p>
        </p:txBody>
      </p:sp>
      <p:sp>
        <p:nvSpPr>
          <p:cNvPr id="51" name="Text 47"/>
          <p:cNvSpPr/>
          <p:nvPr/>
        </p:nvSpPr>
        <p:spPr>
          <a:xfrm>
            <a:off x="5866442" y="2528134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52" name="Text 48"/>
          <p:cNvSpPr/>
          <p:nvPr/>
        </p:nvSpPr>
        <p:spPr>
          <a:xfrm>
            <a:off x="5952167" y="2542422"/>
            <a:ext cx="771525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探索微信公众号官方 API 直发</a:t>
            </a:r>
            <a:endParaRPr lang="en-US" sz="621" dirty="0"/>
          </a:p>
        </p:txBody>
      </p:sp>
      <p:sp>
        <p:nvSpPr>
          <p:cNvPr id="53" name="Text 49"/>
          <p:cNvSpPr/>
          <p:nvPr/>
        </p:nvSpPr>
        <p:spPr>
          <a:xfrm>
            <a:off x="5866442" y="2831018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54" name="Text 50"/>
          <p:cNvSpPr/>
          <p:nvPr/>
        </p:nvSpPr>
        <p:spPr>
          <a:xfrm>
            <a:off x="5952167" y="2845305"/>
            <a:ext cx="887611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抖音/小红书需等待开放接口</a:t>
            </a:r>
            <a:endParaRPr lang="en-US" sz="621" dirty="0"/>
          </a:p>
        </p:txBody>
      </p:sp>
      <p:sp>
        <p:nvSpPr>
          <p:cNvPr id="55" name="Shape 51"/>
          <p:cNvSpPr/>
          <p:nvPr/>
        </p:nvSpPr>
        <p:spPr>
          <a:xfrm>
            <a:off x="7098013" y="1350504"/>
            <a:ext cx="1531609" cy="17691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6" name="Shape 52"/>
          <p:cNvSpPr/>
          <p:nvPr/>
        </p:nvSpPr>
        <p:spPr>
          <a:xfrm>
            <a:off x="7098013" y="1350504"/>
            <a:ext cx="1531609" cy="14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Text 53"/>
          <p:cNvSpPr/>
          <p:nvPr/>
        </p:nvSpPr>
        <p:spPr>
          <a:xfrm>
            <a:off x="7226601" y="1493379"/>
            <a:ext cx="12744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7C3AED">
                    <a:alpha val="2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808" dirty="0"/>
          </a:p>
        </p:txBody>
      </p:sp>
      <p:sp>
        <p:nvSpPr>
          <p:cNvPr id="58" name="Text 54"/>
          <p:cNvSpPr/>
          <p:nvPr/>
        </p:nvSpPr>
        <p:spPr>
          <a:xfrm>
            <a:off x="7226601" y="1750554"/>
            <a:ext cx="1274434" cy="187161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0E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种子用户获取</a:t>
            </a:r>
            <a:endParaRPr lang="en-US" sz="683" dirty="0"/>
          </a:p>
        </p:txBody>
      </p:sp>
      <p:sp>
        <p:nvSpPr>
          <p:cNvPr id="59" name="Shape 55"/>
          <p:cNvSpPr/>
          <p:nvPr/>
        </p:nvSpPr>
        <p:spPr>
          <a:xfrm>
            <a:off x="7226601" y="1994864"/>
            <a:ext cx="453628" cy="116086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60" name="Text 56"/>
          <p:cNvSpPr/>
          <p:nvPr/>
        </p:nvSpPr>
        <p:spPr>
          <a:xfrm>
            <a:off x="7226601" y="1994864"/>
            <a:ext cx="453628" cy="116086"/>
          </a:xfrm>
          <a:prstGeom prst="rect">
            <a:avLst/>
          </a:prstGeom>
          <a:noFill/>
          <a:ln/>
        </p:spPr>
        <p:txBody>
          <a:bodyPr wrap="square" lIns="59563" tIns="17018" rIns="59563" bIns="17018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spc="1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冷启动策略</a:t>
            </a:r>
            <a:endParaRPr lang="en-US" sz="435" dirty="0"/>
          </a:p>
        </p:txBody>
      </p:sp>
      <p:sp>
        <p:nvSpPr>
          <p:cNvPr id="61" name="Text 57"/>
          <p:cNvSpPr/>
          <p:nvPr/>
        </p:nvSpPr>
        <p:spPr>
          <a:xfrm>
            <a:off x="7512351" y="2225250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62" name="Text 58"/>
          <p:cNvSpPr/>
          <p:nvPr/>
        </p:nvSpPr>
        <p:spPr>
          <a:xfrm>
            <a:off x="7598076" y="2239538"/>
            <a:ext cx="857250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内容创作者社群定向邀请内测</a:t>
            </a:r>
            <a:endParaRPr lang="en-US" sz="621" dirty="0"/>
          </a:p>
        </p:txBody>
      </p:sp>
      <p:sp>
        <p:nvSpPr>
          <p:cNvPr id="63" name="Text 59"/>
          <p:cNvSpPr/>
          <p:nvPr/>
        </p:nvSpPr>
        <p:spPr>
          <a:xfrm>
            <a:off x="7512351" y="2528134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64" name="Text 60"/>
          <p:cNvSpPr/>
          <p:nvPr/>
        </p:nvSpPr>
        <p:spPr>
          <a:xfrm>
            <a:off x="7598076" y="2542422"/>
            <a:ext cx="901898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Hunt 发布获取海外曝光</a:t>
            </a:r>
            <a:endParaRPr lang="en-US" sz="621" dirty="0"/>
          </a:p>
        </p:txBody>
      </p:sp>
      <p:sp>
        <p:nvSpPr>
          <p:cNvPr id="65" name="Text 61"/>
          <p:cNvSpPr/>
          <p:nvPr/>
        </p:nvSpPr>
        <p:spPr>
          <a:xfrm>
            <a:off x="7512351" y="2831018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444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516" dirty="0"/>
          </a:p>
        </p:txBody>
      </p:sp>
      <p:sp>
        <p:nvSpPr>
          <p:cNvPr id="66" name="Text 62"/>
          <p:cNvSpPr/>
          <p:nvPr/>
        </p:nvSpPr>
        <p:spPr>
          <a:xfrm>
            <a:off x="7598076" y="2845305"/>
            <a:ext cx="892969" cy="24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9999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KOC 合作换量，以内容换流量</a:t>
            </a:r>
            <a:endParaRPr lang="en-US" sz="621" dirty="0"/>
          </a:p>
        </p:txBody>
      </p:sp>
      <p:sp>
        <p:nvSpPr>
          <p:cNvPr id="67" name="Shape 63"/>
          <p:cNvSpPr/>
          <p:nvPr/>
        </p:nvSpPr>
        <p:spPr>
          <a:xfrm>
            <a:off x="514350" y="3305352"/>
            <a:ext cx="8115300" cy="451842"/>
          </a:xfrm>
          <a:prstGeom prst="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68" name="Shape 64"/>
          <p:cNvSpPr/>
          <p:nvPr/>
        </p:nvSpPr>
        <p:spPr>
          <a:xfrm>
            <a:off x="514350" y="3305352"/>
            <a:ext cx="21431" cy="45184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9" name="Text 65"/>
          <p:cNvSpPr/>
          <p:nvPr/>
        </p:nvSpPr>
        <p:spPr>
          <a:xfrm>
            <a:off x="685800" y="3405364"/>
            <a:ext cx="276998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4B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目标：90 天内完成 MVP 验证，获取 500 名付费用户</a:t>
            </a:r>
            <a:endParaRPr lang="en-US" sz="634" dirty="0"/>
          </a:p>
        </p:txBody>
      </p:sp>
      <p:sp>
        <p:nvSpPr>
          <p:cNvPr id="70" name="Text 66"/>
          <p:cNvSpPr/>
          <p:nvPr/>
        </p:nvSpPr>
        <p:spPr>
          <a:xfrm>
            <a:off x="685800" y="3530380"/>
            <a:ext cx="2769989" cy="126802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核心指标：内容生成采用率 &gt; 60%，视频生成完成率 &gt; 40%，月留存率 &gt; 55%</a:t>
            </a:r>
            <a:endParaRPr lang="en-US" sz="568" dirty="0"/>
          </a:p>
        </p:txBody>
      </p:sp>
      <p:sp>
        <p:nvSpPr>
          <p:cNvPr id="71" name="Text 67"/>
          <p:cNvSpPr/>
          <p:nvPr/>
        </p:nvSpPr>
        <p:spPr>
          <a:xfrm>
            <a:off x="7752755" y="3476802"/>
            <a:ext cx="705445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BILING · 2026 →</a:t>
            </a:r>
            <a:endParaRPr lang="en-US" sz="58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2975" y="342900"/>
            <a:ext cx="90678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2" kern="0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POSITIONING</a:t>
            </a:r>
            <a:endParaRPr lang="en-US" sz="534" dirty="0"/>
          </a:p>
        </p:txBody>
      </p:sp>
      <p:sp>
        <p:nvSpPr>
          <p:cNvPr id="5" name="Text 1"/>
          <p:cNvSpPr/>
          <p:nvPr/>
        </p:nvSpPr>
        <p:spPr>
          <a:xfrm>
            <a:off x="514350" y="532209"/>
            <a:ext cx="8115300" cy="3121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12" b="1" dirty="0">
                <a:solidFill>
                  <a:srgbClr val="F0F0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笔灵是一个 </a:t>
            </a:r>
            <a:pPr algn="l" indent="0" marL="0">
              <a:lnSpc>
                <a:spcPts val="2500"/>
              </a:lnSpc>
              <a:buNone/>
            </a:pPr>
            <a:r>
              <a:rPr lang="en-US" sz="1912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原生</a:t>
            </a:r>
            <a:pPr algn="l" indent="0" marL="0">
              <a:lnSpc>
                <a:spcPts val="2500"/>
              </a:lnSpc>
              <a:buNone/>
            </a:pPr>
            <a:r>
              <a:rPr lang="en-US" sz="1912" b="1" dirty="0">
                <a:solidFill>
                  <a:srgbClr val="F0F0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</a:t>
            </a:r>
            <a:endParaRPr lang="en-US" sz="1912" dirty="0"/>
          </a:p>
        </p:txBody>
      </p:sp>
      <p:sp>
        <p:nvSpPr>
          <p:cNvPr id="6" name="Text 2"/>
          <p:cNvSpPr/>
          <p:nvPr/>
        </p:nvSpPr>
        <p:spPr>
          <a:xfrm>
            <a:off x="514350" y="844386"/>
            <a:ext cx="8115300" cy="3121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pPr algn="l" indent="0" marL="0">
              <a:lnSpc>
                <a:spcPts val="2500"/>
              </a:lnSpc>
              <a:buNone/>
            </a:pPr>
            <a:r>
              <a:rPr lang="en-US" sz="1912" b="1" dirty="0">
                <a:solidFill>
                  <a:srgbClr val="F0F0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跨平台社媒</a:t>
            </a:r>
            <a:pPr algn="l" indent="0" marL="0">
              <a:lnSpc>
                <a:spcPts val="2500"/>
              </a:lnSpc>
              <a:buNone/>
            </a:pPr>
            <a:r>
              <a:rPr lang="en-US" sz="1912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内容操作系统</a:t>
            </a:r>
            <a:pPr algn="l" indent="0" marL="0">
              <a:lnSpc>
                <a:spcPts val="2500"/>
              </a:lnSpc>
              <a:buNone/>
            </a:pPr>
            <a:endParaRPr lang="en-US" sz="1912" dirty="0"/>
          </a:p>
        </p:txBody>
      </p:sp>
      <p:sp>
        <p:nvSpPr>
          <p:cNvPr id="7" name="Text 3"/>
          <p:cNvSpPr/>
          <p:nvPr/>
        </p:nvSpPr>
        <p:spPr>
          <a:xfrm>
            <a:off x="514350" y="1227999"/>
            <a:ext cx="485775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A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不是一个「AI写作工具」，而是将热点发现、内容生成、视频制作、多平台分发、数据回流整合为一体的生产力基础设施——让每个创作者都能以团队级效率运营内容矩阵。</a:t>
            </a:r>
            <a:endParaRPr lang="en-US" sz="727" dirty="0"/>
          </a:p>
        </p:txBody>
      </p:sp>
      <p:sp>
        <p:nvSpPr>
          <p:cNvPr id="8" name="Shape 4"/>
          <p:cNvSpPr/>
          <p:nvPr/>
        </p:nvSpPr>
        <p:spPr>
          <a:xfrm>
            <a:off x="514350" y="1796597"/>
            <a:ext cx="1943100" cy="12265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514350" y="1796597"/>
            <a:ext cx="1943100" cy="14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6"/>
          <p:cNvSpPr/>
          <p:nvPr/>
        </p:nvSpPr>
        <p:spPr>
          <a:xfrm>
            <a:off x="671513" y="1953760"/>
            <a:ext cx="16287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77" dirty="0">
                <a:solidFill>
                  <a:srgbClr val="E8E8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⚡</a:t>
            </a:r>
            <a:endParaRPr lang="en-US" sz="1377" dirty="0"/>
          </a:p>
        </p:txBody>
      </p:sp>
      <p:sp>
        <p:nvSpPr>
          <p:cNvPr id="11" name="Text 7"/>
          <p:cNvSpPr/>
          <p:nvPr/>
        </p:nvSpPr>
        <p:spPr>
          <a:xfrm>
            <a:off x="671513" y="2210935"/>
            <a:ext cx="16287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0EE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原生生产力</a:t>
            </a:r>
            <a:endParaRPr lang="en-US" sz="734" dirty="0"/>
          </a:p>
        </p:txBody>
      </p:sp>
      <p:sp>
        <p:nvSpPr>
          <p:cNvPr id="12" name="Text 8"/>
          <p:cNvSpPr/>
          <p:nvPr/>
        </p:nvSpPr>
        <p:spPr>
          <a:xfrm>
            <a:off x="671513" y="2428819"/>
            <a:ext cx="1628775" cy="43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8888A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驱动的全链路内容生成，Seedance 视频引擎内置，从热点到成片全程 AI 辅助，将 3–5 小时的内容生产压缩至 10 分钟。</a:t>
            </a:r>
            <a:endParaRPr lang="en-US" sz="621" dirty="0"/>
          </a:p>
        </p:txBody>
      </p:sp>
      <p:sp>
        <p:nvSpPr>
          <p:cNvPr id="13" name="Shape 9"/>
          <p:cNvSpPr/>
          <p:nvPr/>
        </p:nvSpPr>
        <p:spPr>
          <a:xfrm>
            <a:off x="2571750" y="1796597"/>
            <a:ext cx="1943100" cy="12265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2571750" y="1796597"/>
            <a:ext cx="1943100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1"/>
          <p:cNvSpPr/>
          <p:nvPr/>
        </p:nvSpPr>
        <p:spPr>
          <a:xfrm>
            <a:off x="2728913" y="1953760"/>
            <a:ext cx="16287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77" dirty="0">
                <a:solidFill>
                  <a:srgbClr val="E8E8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🌐</a:t>
            </a:r>
            <a:endParaRPr lang="en-US" sz="1377" dirty="0"/>
          </a:p>
        </p:txBody>
      </p:sp>
      <p:sp>
        <p:nvSpPr>
          <p:cNvPr id="16" name="Text 12"/>
          <p:cNvSpPr/>
          <p:nvPr/>
        </p:nvSpPr>
        <p:spPr>
          <a:xfrm>
            <a:off x="2728913" y="2210935"/>
            <a:ext cx="16287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0EE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跨平台分发矩阵</a:t>
            </a:r>
            <a:endParaRPr lang="en-US" sz="734" dirty="0"/>
          </a:p>
        </p:txBody>
      </p:sp>
      <p:sp>
        <p:nvSpPr>
          <p:cNvPr id="17" name="Text 13"/>
          <p:cNvSpPr/>
          <p:nvPr/>
        </p:nvSpPr>
        <p:spPr>
          <a:xfrm>
            <a:off x="2728913" y="2428819"/>
            <a:ext cx="1628775" cy="43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8888A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一次创作，自动适配小红书、抖音、微博、B站等 8 大平台的内容格式与比例，辅助发布 + 数据追踪一体化管理。</a:t>
            </a:r>
            <a:endParaRPr lang="en-US" sz="621" dirty="0"/>
          </a:p>
        </p:txBody>
      </p:sp>
      <p:sp>
        <p:nvSpPr>
          <p:cNvPr id="18" name="Shape 14"/>
          <p:cNvSpPr/>
          <p:nvPr/>
        </p:nvSpPr>
        <p:spPr>
          <a:xfrm>
            <a:off x="4629150" y="1796597"/>
            <a:ext cx="1943100" cy="12265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4629150" y="1796597"/>
            <a:ext cx="1943100" cy="1428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6"/>
          <p:cNvSpPr/>
          <p:nvPr/>
        </p:nvSpPr>
        <p:spPr>
          <a:xfrm>
            <a:off x="4786313" y="1953760"/>
            <a:ext cx="16287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77" dirty="0">
                <a:solidFill>
                  <a:srgbClr val="E8E8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📊</a:t>
            </a:r>
            <a:endParaRPr lang="en-US" sz="1377" dirty="0"/>
          </a:p>
        </p:txBody>
      </p:sp>
      <p:sp>
        <p:nvSpPr>
          <p:cNvPr id="21" name="Text 17"/>
          <p:cNvSpPr/>
          <p:nvPr/>
        </p:nvSpPr>
        <p:spPr>
          <a:xfrm>
            <a:off x="4786313" y="2210935"/>
            <a:ext cx="16287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0EE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数据驱动闭环</a:t>
            </a:r>
            <a:endParaRPr lang="en-US" sz="734" dirty="0"/>
          </a:p>
        </p:txBody>
      </p:sp>
      <p:sp>
        <p:nvSpPr>
          <p:cNvPr id="22" name="Text 18"/>
          <p:cNvSpPr/>
          <p:nvPr/>
        </p:nvSpPr>
        <p:spPr>
          <a:xfrm>
            <a:off x="4786313" y="2428819"/>
            <a:ext cx="1628775" cy="43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8888A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发布后互动数据自动回流，持续训练病毒性预测模型，越用越准——构建竞品难以复制的数据飞轮壁垒。</a:t>
            </a:r>
            <a:endParaRPr lang="en-US" sz="621" dirty="0"/>
          </a:p>
        </p:txBody>
      </p:sp>
      <p:sp>
        <p:nvSpPr>
          <p:cNvPr id="23" name="Shape 19"/>
          <p:cNvSpPr/>
          <p:nvPr/>
        </p:nvSpPr>
        <p:spPr>
          <a:xfrm>
            <a:off x="6686550" y="1796597"/>
            <a:ext cx="1943100" cy="12265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6686550" y="1796597"/>
            <a:ext cx="1943100" cy="142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Text 21"/>
          <p:cNvSpPr/>
          <p:nvPr/>
        </p:nvSpPr>
        <p:spPr>
          <a:xfrm>
            <a:off x="6843713" y="1953760"/>
            <a:ext cx="16287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77" dirty="0">
                <a:solidFill>
                  <a:srgbClr val="E8E8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🤖</a:t>
            </a:r>
            <a:endParaRPr lang="en-US" sz="1377" dirty="0"/>
          </a:p>
        </p:txBody>
      </p:sp>
      <p:sp>
        <p:nvSpPr>
          <p:cNvPr id="26" name="Text 22"/>
          <p:cNvSpPr/>
          <p:nvPr/>
        </p:nvSpPr>
        <p:spPr>
          <a:xfrm>
            <a:off x="6843713" y="2210935"/>
            <a:ext cx="16287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0EE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全自主 Agent</a:t>
            </a:r>
            <a:endParaRPr lang="en-US" sz="734" dirty="0"/>
          </a:p>
        </p:txBody>
      </p:sp>
      <p:sp>
        <p:nvSpPr>
          <p:cNvPr id="27" name="Text 23"/>
          <p:cNvSpPr/>
          <p:nvPr/>
        </p:nvSpPr>
        <p:spPr>
          <a:xfrm>
            <a:off x="6843713" y="2428819"/>
            <a:ext cx="1628775" cy="43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8888A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终态目标：从热点识别到内容发布，Agent 全链路自主执行，用户只需审核与确认，真正实现「一人运营百号」。</a:t>
            </a:r>
            <a:endParaRPr lang="en-US" sz="621" dirty="0"/>
          </a:p>
        </p:txBody>
      </p:sp>
      <p:sp>
        <p:nvSpPr>
          <p:cNvPr id="28" name="Shape 24"/>
          <p:cNvSpPr/>
          <p:nvPr/>
        </p:nvSpPr>
        <p:spPr>
          <a:xfrm>
            <a:off x="514350" y="3180308"/>
            <a:ext cx="8115300" cy="564356"/>
          </a:xfrm>
          <a:prstGeom prst="rect">
            <a:avLst/>
          </a:prstGeom>
          <a:solidFill>
            <a:srgbClr val="06B6D4">
              <a:alpha val="12000"/>
            </a:srgbClr>
          </a:solidFill>
          <a:ln w="9144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85825" y="3316039"/>
            <a:ext cx="29968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4B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先发窗口期：6–12 个月</a:t>
            </a:r>
            <a:endParaRPr lang="en-US" sz="634" dirty="0"/>
          </a:p>
        </p:txBody>
      </p:sp>
      <p:sp>
        <p:nvSpPr>
          <p:cNvPr id="30" name="Text 26"/>
          <p:cNvSpPr/>
          <p:nvPr/>
        </p:nvSpPr>
        <p:spPr>
          <a:xfrm>
            <a:off x="885825" y="3455343"/>
            <a:ext cx="2996803" cy="139303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视频生成成本仍高、竞品尚未完成全链路整合，是笔灵建立用户心智的关键时间窗口</a:t>
            </a:r>
            <a:endParaRPr lang="en-US" sz="568" dirty="0"/>
          </a:p>
        </p:txBody>
      </p:sp>
      <p:sp>
        <p:nvSpPr>
          <p:cNvPr id="31" name="Text 27"/>
          <p:cNvSpPr/>
          <p:nvPr/>
        </p:nvSpPr>
        <p:spPr>
          <a:xfrm>
            <a:off x="5973961" y="3294608"/>
            <a:ext cx="285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8+</a:t>
            </a:r>
            <a:endParaRPr lang="en-US" sz="987" dirty="0"/>
          </a:p>
        </p:txBody>
      </p:sp>
      <p:sp>
        <p:nvSpPr>
          <p:cNvPr id="32" name="Text 28"/>
          <p:cNvSpPr/>
          <p:nvPr/>
        </p:nvSpPr>
        <p:spPr>
          <a:xfrm>
            <a:off x="5973961" y="3508921"/>
            <a:ext cx="2857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覆盖平台</a:t>
            </a:r>
            <a:endParaRPr lang="en-US" sz="516" dirty="0"/>
          </a:p>
        </p:txBody>
      </p:sp>
      <p:sp>
        <p:nvSpPr>
          <p:cNvPr id="33" name="Text 29"/>
          <p:cNvSpPr/>
          <p:nvPr/>
        </p:nvSpPr>
        <p:spPr>
          <a:xfrm>
            <a:off x="6552605" y="3294608"/>
            <a:ext cx="428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10min</a:t>
            </a:r>
            <a:endParaRPr lang="en-US" sz="987" dirty="0"/>
          </a:p>
        </p:txBody>
      </p:sp>
      <p:sp>
        <p:nvSpPr>
          <p:cNvPr id="34" name="Text 30"/>
          <p:cNvSpPr/>
          <p:nvPr/>
        </p:nvSpPr>
        <p:spPr>
          <a:xfrm>
            <a:off x="6552605" y="3508921"/>
            <a:ext cx="4286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内容生产周期</a:t>
            </a:r>
            <a:endParaRPr lang="en-US" sz="516" dirty="0"/>
          </a:p>
        </p:txBody>
      </p:sp>
      <p:sp>
        <p:nvSpPr>
          <p:cNvPr id="35" name="Text 31"/>
          <p:cNvSpPr/>
          <p:nvPr/>
        </p:nvSpPr>
        <p:spPr>
          <a:xfrm>
            <a:off x="7274123" y="3294608"/>
            <a:ext cx="3768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4D3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4阶段</a:t>
            </a:r>
            <a:endParaRPr lang="en-US" sz="987" dirty="0"/>
          </a:p>
        </p:txBody>
      </p:sp>
      <p:sp>
        <p:nvSpPr>
          <p:cNvPr id="36" name="Text 32"/>
          <p:cNvSpPr/>
          <p:nvPr/>
        </p:nvSpPr>
        <p:spPr>
          <a:xfrm>
            <a:off x="7274123" y="3508921"/>
            <a:ext cx="3768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进化路线</a:t>
            </a:r>
            <a:endParaRPr lang="en-US" sz="516" dirty="0"/>
          </a:p>
        </p:txBody>
      </p:sp>
      <p:sp>
        <p:nvSpPr>
          <p:cNvPr id="37" name="Text 33"/>
          <p:cNvSpPr/>
          <p:nvPr/>
        </p:nvSpPr>
        <p:spPr>
          <a:xfrm>
            <a:off x="7943850" y="3396407"/>
            <a:ext cx="4857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7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BILING · 2026</a:t>
            </a:r>
            <a:endParaRPr lang="en-US" sz="56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2026-03-03T13:49:46Z</dcterms:created>
  <dcterms:modified xsi:type="dcterms:W3CDTF">2026-03-03T13:49:46Z</dcterms:modified>
</cp:coreProperties>
</file>